
<file path=[Content_Types].xml><?xml version="1.0" encoding="utf-8"?>
<Types xmlns="http://schemas.openxmlformats.org/package/2006/content-types">
  <Default Extension="file" ContentType="image/fil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1" r:id="rId18"/>
    <p:sldId id="272" r:id="rId19"/>
    <p:sldId id="273" r:id="rId20"/>
    <p:sldId id="277" r:id="rId21"/>
    <p:sldId id="278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9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안녕하세요, 학습 프로젝트 WeatherCheck를 발표하겠습니다.
- 한 줄 피치: 기상청은 날씨를 알려주지만, 제 비서는 '내가 뭘 해야 할지'를 알려줍니다.
- ML → DL → LLM/RAG 순서로 한 테마를 점진 확장하며 풀스택으로 구현한 여정입니다.
- 총 18장, 약 15분 진행 예정입니다.
- 끝에 Q&amp;A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전체는 4개 챕터로 구성됩니다 — 시작하며, Phase 1 ML, Phase 2 DL, Phase 3 LLM/RAG.
- ML → DL → LLM 순서로 한 테마를 점진 확장한 여정을 보여드립니다.
- 마지막 챕터에 핵심 성과와 회고를 묶어 담았습니다.
- 발표 소요 시간은 약 15분입니다.
- 마지막에 질의응답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첫 번째 챕터로 넘어갑니다.
- "먼저 프로젝트 배경과 목표부터 이야기하겠습니다."라고 전환하세요.
- 기존 날씨 앱의 한계와 우리가 풀고자 한 진짜 문제를 짚어주세요.
- 4장 중 1장 — 차별화 포인트를 강조하며 시작하세요.
- 이 챕터는 총 4장(슬라이드 3–6)으로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기존 날씨 앱은 '18°C, 강수확률 70%' 같은 숫자만 던져줍니다.
- 사용자가 진짜 원하는 건 '우산 챙길까, 자전거 타도 될까' 같은 행동 지침입니다.
- 기상청 예보는 정확하지만 '그래서 뭘 해야 하나'가 빠져 있습니다.
- 일반 날씨봇은 누구에게나 같은 답을 줍니다 — 내 체감과 출근 루트를 모릅니다.
- 그래서 '공개 날씨 예측'이 아니라 '나의 출근 결정 예측'으로 문제를 다시 정의했습니다 — 이게 차별화입니다.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가장 중요한 차별화는 ① 개인 체감 학습 — 피드백 버튼으로 내 체감온도를 학습하는 루프입니다.
- ② 니치 타겟은 모두를 위한 날씨가 아니라 자전거 통근족 같은 특정 상황 전용으로 좁힌 전략입니다.
- ③ 출근지 등록하면 날씨와 출퇴근 소요시간을 한 번에 브리핑합니다.
- 세 가지를 합치면 '나만의 출근 비서'가 완성됩니다.
- 시그니처 기능은 단연 피드백 루프 — 회고에서도 핵심으로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핵심은 하나의 테마 — 날씨 — 를 ML, DL, LLM/RAG 세 단계로 점진 확장했다는 점입니다.
- Phase 1 ML 결과물(MAE 2.50°C)이 Phase 2 DL의 입력이 되고, DL 예측이 Phase 3 LLM/RAG의 입력이 됩니다.
- 각 단계는 학습 여정과 1:1로 매핑됩니다 — 학습 목표와 제품 목표가 같은 선상에 있습니다.
- Phase 2에서 DL이 ML을 역전한 게 핵심 학습 포인트입니다.
- Phase 3에서 자연어 브리핑 + 디스코드 알림으로 end-to-end 자동 발송을 완성합니다.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이제 첫 단계 ML부터 보겠습니다.
- scikit-learn 기반으로 회귀와 분류 기본기를 다졌습니다.
- LR → RF → XGB 순서로 점진 적용한 흐름을 짚어주세요.
- Phase 1의 핵심 결과(MAE 2.50°C)를 한 줄로 언급하세요.
- 다음 슬라이드에서 데이터 수집과 EDA를 자세히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처음엔 합성 데이터로 프로토타입을 만들었습니다.
- 이후 10.5년 실데이터(기상청 ASOS 서울 108)로 교체했습니다.
- 이 데이터 확장이 뒤의 DL이 ML을 역전하는 결정적 계기가 됩니다.
- 피처는 7개 — 기온/습도/기압/풍속/강수량을 기본으로 사용했습니다.
- 입력 X는 오늘 값, 정답 y는 내일 기온(회귀)과 비 여부(분류)입니다.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수치형 피처 7개 간 Pearson 상관계수 히트맵을 그려 타깃 설계와 다중공선성을 점검했습니다.
- temp_avg·max·min 세 기온 피처는 0.95 이상 거의 완벽한 양의 상관 — 일교차 패턴이 안정적이라 타깃으로 신뢰 가능.
- pressure와 temp_avg는 약 -0.7 음의 상관으로 기상 물리패턴이 데이터에 그대로 드러남을 확인.
- wind_speed는 다른 피처와 상관이 0.3 이하로 낮아 독립 정보원 — 분류 모델에서 정보 이득을 기대하며 킵.
- 상관관계 분석 결과를 토대로 회귀 타깃을 temp_max/min로, 분류 입력에 풍속을 유지하는 설계 결정을 내렸습니다.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모델은 단순한 것부터 적용했습니다 — LinearRegression → RandomForest → XGBoost.
- LinearRegression이 회귀 MAE 2.50°C로 가장 좋았습니다.
- XGBoost는 과적합 경향이 보여 이 데이터에는 부적합 판단했습니다.
- 잔차가 0 주변에 무작위 분포 → 체계적 편향이 없음을 확인했습니다.
- 다음 슬라이드에서 시계열 특성을 잡기 위해 DL로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회귀 MAE만 보면 모델을 과신하기 쉬워 분류 성능(혼동행렬)과 피처 기여도(중요도)로 교차 검증했습니다.
- 혼동행렬: LogisticRegression 강수 이진분류 Accuracy 0.71 — TN·TP 비율은 높지만 FN(비를 못 맞춤)이 주요 오차.
- 즉 강수 분류는 기온 회귀보다 어려운 문제라는 점을 정량으로 확인했습니다.
- 피처 중요도: RandomForest 기준 어제 강수량·현재 습도가 상위 — 도메인 직관과 일치.
- 풍속·기압은 중요도가 낮지만 분류에는 기여하는 바가 있어 입력에서 제외하지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ML 다음 단계로, 날씨 데이터의 시계열 특성을 잡기 위해 DL을 도입했습니다.
- ML은 행 단위 학습이라 순서를 잘 보지 못합니다.
- LSTM은 7일 시퀀스를 입력받아 흐름을 기억합니다.
- Keras로 단층 LSTM부터 시작해 멀티헤드 출력까지 확장합니다.
- 다음 슬라이드에서 설계 배경과 학습 구조를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날씨는 순서가 중요한 시계열 데이터입니다 — 어제·그제 흐름이 내일에 영향.
- ML은 행 단위로 학습해서 순서를 잘 잡지 못합니다.
- LSTM은 7일 시퀀스를 입력받아 흐름을 기억합니다.
- 단층 LSTM(32) + 멀티헤드로 회귀(최고/최저기온)와 분류(비 여부)를 동시에 학습합니다.
- 손실 곡선 그래프에서 과적합 없이 깔끔하게 수렴한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같은 10.5년 데이터로 ML(LR)과 LSTM을 정량 비교했습니다.
- 회귀 MAE — LSTM 2.41°C vs ML 2.50°C, LSTM이 근소하게 역전했습니다.
- 분류 Accuracy — 거의 동률(0.706 vs 0.714)로 DL 우위는 아니었습니다.
- 핵심 학습 포인트: 데이터가 2.5년일 때는 DL이 ML을 못 이겼지만 10.5년이 되자 역전했습니다.
- "DL은 데이터 충분해야 진가 발휘" — 이 한 줄을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시계열 예측 결과 차트입니다 — 파란 선이 예측, 회색 점이 실측입니다.
- 과거 7일 시퀀스로 향후 며칠의 기온 흐름을 한 번에 예측합니다.
- 예측선이 실측선의 흐름을 잘 따라가는 것을 확인하세요.
- 학습된 모델은 .keras 파일로 저장해 Phase 3에서 재사용합니다.
- contract.md 스키마로 Track B(LLM/RAG)에 source=lstm으로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마지막 단계인 Phase 3로 넘어갑니다 — LLM과 RAG를 결합해 출근 비서를 완성합니다.
 - 지금까지 만든 DL 예측 결과를 사람이 읽기 쉬운 자연어로 번역하는 것이 핵심입니다.
 - 매일 아침 디스코드로 폰에 자동 발송되는 구조를 만들어 사용자 경험을 완성합니다.
 - 로컬 sLLM으로 운용해 비용·지연·프라이버시 이점까지 챙긴 점을 강조하겠습니다.
 - 전환점: 외부 API → 로컬 Ollama EXAONE 3.5 7.8B (과제 취지에 부합).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- 5단계 파이프라인: DL 예측 → 교통 API → RAG 검색 → 로컬 sLLM → 디스코드 알림.
 - 임베딩 전환: Chroma ONNX 79MB 다운로드 timeout 문제로 TF-IDF로 교체 — 문서 수가 적어 즉시 처리 가능.
 - sLLM 전환 배경: 선생님 과제 취지(외부 API 대신 직접 운용 학습) + 비용·프라이버시 이점.
 - temperature=0 고정으로 의도 분류 비결정적 문제 해결, 분류 완전 일치.
 - RTX 4060 8GB에서 8~12초 응답, keep_alive=30m 설정으로 상시 로드해 첫 응답 지연 방지.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디스코드 봇은 자연어 의도 분류(15+ 인텐트)로 한 채널에서 모든 기능을 처리 — 복수 명령어 불필요.
 - 니치 타겟(자전거 통근족)은 별도 지식 폴더 1:1 직접 읽기로 오검색 방지, 전용 섹션 분리 생성.
 - 체감 피드백 루프(🥶/👍/🥵)가 핵심 시그니처 PRD 기능 — 누적 평균으로 체감온도 보정치 계산해 자동 반영.
 - 출근지 등록 한 번이면 날씨+소요시간 같이 발송, 자전거 니치일 땐 자동 생략해 UX 일관성 유지.
 - 자연어 시각 설정(매일 8시에 알려줘) + @멘션 푸시 + 도움말 자동 핀으로 사용성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셋째 장 — 디스코드 봇 메인 앱과 피드백/교통 보조 모듈의 실용적 설계.
- 디스코드 봇은 sLLM 11라벨 분류(키워드 X), 3분 전 프리페치 캐싱으로 LLM 지연 숨기기, 버튼으로 LLM 호출 절약, defer 패턴이 핵심.
- 피드백은 라벨 평균(+2.5/0/-2.5°C)으로 회귀 대신 단순화 — 표본 적을 땐 회귀보다 평균이 신뢰성 높다는 의도적 판단.
- save_last_weather로 발송 시점 날씨 저장 — 없으면 record_feedback False 반환해 모순 상태 방지.
- traffic은 geocode 통일 재사용, 환경변수 없으면 즉시 KeyError, 경로 없으면 None+error 명시적 반환.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- 4개 디버깅 사가 모델·시스템 신뢰성을 만들었다 — 데이터 확장(2.5→10.5년), 임베딩 TF-IDF 교체, sLLM temperature=0, User-Agent 헤더.
- 가장 좋아하는 스토리 2~3개만 시간 가면서 풀기 — 데이터 확장과 temperature=0이 임팩트 컸음.
- 핵심 성과 4개: 회귀 MAE 2.41°C(LSTM 최고), 15+ 인텐트(로컬 sLLM 분류), end-to-end 검증(전 파이프라인 자동 발송), 4/4 차별화(교통·출근지·니치·피드백).
- 차별화 4/4는 PRD에 적어둔 시그니처 기능이 전부 구현 완료됐다는 의미 — 학습 프로젝트지만 스펙 완성도 강조.
- end-to-end는 ML→DL→RAG→sLLM→디스코드가 한 줄로 자동 발송된다는 것 — 각 단계가 서로를 부르는 연쇄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발표를 들어주신 선생님과 청중에게 감사 인사 전달.
- 핵심 회고 3가지 — 학습 여정의 연결성(ML→DL→LLM이 한 테마로 자연스럽게 이어짐), 데이터 확장의 결정적 역할(2.5→10.5년이 LSTM 우위 견인), 로컬 sLLM 운용의 실전 이점(비용·지연·프라이버시) 체감.
- 다음 스텝 3가지 안내 — 캘린더 연동, 니치 확장(배달 라이더), 옷차림 캐릭터 추천.
- github.com/50seok/WeatherCheck에서 코드 전체 공개, 발표일 2026-07-07.
- Q&amp;A 시간 가질 예정 — 자유롭게 질문 환영, 끝까지 들어줘서 감사.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file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389549"/>
            <a:ext cx="1375350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13296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PROJECT SHOWCASE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68556" y="412552"/>
            <a:ext cx="5777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780803"/>
            <a:ext cx="6229121" cy="791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771"/>
              </a:lnSpc>
              <a:buNone/>
            </a:pPr>
            <a:r>
              <a:rPr lang="ko-KR" altLang="en-US" sz="6075" b="1" kern="0" spc="-273" dirty="0">
                <a:solidFill>
                  <a:srgbClr val="0F172A"/>
                </a:solidFill>
                <a:latin typeface="Calibri" pitchFamily="34" charset="0"/>
                <a:cs typeface="Calibri" pitchFamily="34"/>
              </a:rPr>
              <a:t>채비</a:t>
            </a:r>
            <a:endParaRPr lang="en-US" sz="6075" dirty="0"/>
          </a:p>
        </p:txBody>
      </p:sp>
      <p:sp>
        <p:nvSpPr>
          <p:cNvPr id="6" name="Text 4"/>
          <p:cNvSpPr/>
          <p:nvPr/>
        </p:nvSpPr>
        <p:spPr>
          <a:xfrm>
            <a:off x="514350" y="2699445"/>
            <a:ext cx="5740146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로 만드는 개인형 출근 비서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514350" y="3078063"/>
            <a:ext cx="4629150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기상청은 날씨를 알려주지만, 내 비서는 내가 뭘 해야 할지를 알려준다.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115050" y="985838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2213" y="1114425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72213" y="1260872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657417" y="1396603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6272213" y="1675209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기본기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115050" y="2039541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2213" y="2168128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0E7490">
                    <a:alpha val="75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2213" y="2314575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657417" y="2450306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6272213" y="2728913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시계열 딥러닝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115050" y="3093244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2213" y="3221831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72213" y="3368278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657417" y="3504009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LLM/RAG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6272213" y="3782616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출근 비서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143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발표자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4350" y="4561284"/>
            <a:ext cx="16075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프로젝트 (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22288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제출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8850" y="4561284"/>
            <a:ext cx="17172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2026-07-07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7210276" y="4625578"/>
            <a:ext cx="15329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github.com/50seok/WeatherCheck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목차 </a:t>
            </a:r>
            <a:r>
              <a:rPr lang="en-US" sz="2475" b="1" kern="0" spc="-49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(Agenda)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64431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40821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7140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71600" y="1554659"/>
            <a:ext cx="6732091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시작하며 · 프로젝트 개요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1371600" y="1806029"/>
            <a:ext cx="692443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배경·문제 정의 / 목표·차별화 전략 / 전체 아키텍처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7960281" y="1673415"/>
            <a:ext cx="692229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83141" y="1683916"/>
            <a:ext cx="6465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4350" y="213464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29783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371600" y="2281089"/>
            <a:ext cx="6682398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날씨 예측 모델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371600" y="2532459"/>
            <a:ext cx="687332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수집·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/ 상관관계 / 모델 </a:t>
            </a:r>
            <a:r>
              <a:rPr lang="en-US" sz="95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 비교 / 분류 평가·피처 중요도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7912953" y="2399845"/>
            <a:ext cx="739557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35813" y="2410346"/>
            <a:ext cx="6938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4350" y="286107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" y="302426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71600" y="3007519"/>
            <a:ext cx="6632704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시계열 딥러닝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371600" y="3258889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도입·학습 구조 /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정확도 / 시계열 예측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7865626" y="312627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88486" y="313677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4350" y="358750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" y="431393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" y="375069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371600" y="3733949"/>
            <a:ext cx="6822210" cy="22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출근 비서 + 코드 구조 + 회고</a:t>
            </a:r>
            <a:endParaRPr lang="en-US" sz="1463" dirty="0"/>
          </a:p>
        </p:txBody>
      </p:sp>
      <p:sp>
        <p:nvSpPr>
          <p:cNvPr id="27" name="Text 25"/>
          <p:cNvSpPr/>
          <p:nvPr/>
        </p:nvSpPr>
        <p:spPr>
          <a:xfrm>
            <a:off x="1371600" y="3985320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파이프라인 / 디스코드 봇 / 코드 리뷰 </a:t>
            </a:r>
            <a:r>
              <a:rPr lang="en-US" sz="95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 / 트러블슈팅 / 성과·회고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7865626" y="385270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88486" y="386320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16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4350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5800" y="4593431"/>
            <a:ext cx="794385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발표 약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 · 마지막에 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Q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&amp;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를 받습니다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67365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SECTION DIVIDER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265194" y="41790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❏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436644" y="400050"/>
            <a:ext cx="131230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WeatherCheck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 중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12375" dirty="0"/>
          </a:p>
        </p:txBody>
      </p:sp>
      <p:sp>
        <p:nvSpPr>
          <p:cNvPr id="6" name="Text 4"/>
          <p:cNvSpPr/>
          <p:nvPr/>
        </p:nvSpPr>
        <p:spPr>
          <a:xfrm>
            <a:off x="514350" y="3226743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18359" y="1648867"/>
            <a:ext cx="0" cy="156716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7681" y="1648867"/>
            <a:ext cx="4321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BACKGROUND &amp;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7681" y="1884611"/>
            <a:ext cx="4321969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4725" b="1" kern="0" spc="-165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시작하며</a:t>
            </a:r>
            <a:endParaRPr lang="en-US" sz="4725" dirty="0"/>
          </a:p>
        </p:txBody>
      </p:sp>
      <p:sp>
        <p:nvSpPr>
          <p:cNvPr id="10" name="Text 8"/>
          <p:cNvSpPr/>
          <p:nvPr/>
        </p:nvSpPr>
        <p:spPr>
          <a:xfrm>
            <a:off x="4307681" y="2684711"/>
            <a:ext cx="4321969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왜 이 프로젝트를 시작했는지,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무엇을 차별화했는지.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4350" y="4489847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775" y="4607719"/>
            <a:ext cx="83046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 &amp; 문제 정의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4593431"/>
            <a:ext cx="781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5020" y="4607719"/>
            <a:ext cx="93761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목표 &amp; 차별화 전략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1467594" y="4593431"/>
            <a:ext cx="867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23989" y="4607719"/>
            <a:ext cx="77638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아키텍처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506563" y="4593431"/>
            <a:ext cx="660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31361" y="4609505"/>
            <a:ext cx="59828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–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WHY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 &amp; 문제 정의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3180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☰</a:t>
            </a:r>
            <a:endParaRPr lang="en-US" sz="1266" dirty="0"/>
          </a:p>
        </p:txBody>
      </p:sp>
      <p:sp>
        <p:nvSpPr>
          <p:cNvPr id="5" name="Text 3"/>
          <p:cNvSpPr/>
          <p:nvPr/>
        </p:nvSpPr>
        <p:spPr>
          <a:xfrm>
            <a:off x="728663" y="1264444"/>
            <a:ext cx="44005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기존 솔루션 한계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17922" y="1589484"/>
            <a:ext cx="4607719" cy="1582341"/>
          </a:xfrm>
          <a:prstGeom prst="roundRect">
            <a:avLst>
              <a:gd name="adj" fmla="val 7223"/>
            </a:avLst>
          </a:prstGeom>
          <a:noFill/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93056"/>
            <a:ext cx="4600575" cy="328613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494" y="1918097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944" y="1678781"/>
            <a:ext cx="227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이름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2112094" y="1678781"/>
            <a:ext cx="28385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한계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21494" y="233600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2055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▯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892969" y="2035969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앱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112094" y="2035969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오늘 날씨만 얘기해준다 , 해석은 내 몫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521494" y="275391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944" y="24735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☁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892969" y="2453878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 예보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112094" y="2453878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정확하지만 '그래서 뭘 해야 하나' 없음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92944" y="28914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892969" y="2871788"/>
            <a:ext cx="121912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일반 날씨봇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2112094" y="2871788"/>
            <a:ext cx="298045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누구에게나 똑같음 (내 체감/루트 무시)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14350" y="3289697"/>
            <a:ext cx="4614863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 세 접근 모두 '정보 전달'에 머물고, '결정 지원'은 빠져 있다.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414963" y="2198489"/>
            <a:ext cx="3214688" cy="101441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14963" y="2202061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6078" y="2198489"/>
            <a:ext cx="0" cy="10144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4963" y="3209330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0" y="2198489"/>
            <a:ext cx="0" cy="1014413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0700" y="233422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◆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815013" y="2337792"/>
            <a:ext cx="265033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11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결론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5600700" y="2605683"/>
            <a:ext cx="28646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공개 날씨 예측이 아니라, </a:t>
            </a:r>
            <a:r>
              <a:rPr lang="en-US" sz="1238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나의 출근 브리핑</a:t>
            </a: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풀어야 의미 있고 차별화된다.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418534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22119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FROM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2119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공개 날씨 예측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7068741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72325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72325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나의 출근 브리핑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GOAL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목표 &amp; 차별화 전략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91490" y="1251642"/>
            <a:ext cx="1645920" cy="289922"/>
          </a:xfrm>
          <a:prstGeom prst="roundRect">
            <a:avLst>
              <a:gd name="adj" fmla="val 328208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1556" y="1335881"/>
            <a:ext cx="992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맞춤 행동 지침 자동 발송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614363" y="1321594"/>
            <a:ext cx="1400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핵심 목표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177415" y="1251642"/>
            <a:ext cx="1638776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7481" y="1335881"/>
            <a:ext cx="985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풀스택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2300288" y="1321594"/>
            <a:ext cx="1393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목표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3856196" y="1251642"/>
            <a:ext cx="1131570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9106" y="1335881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나만의 데이터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3979069" y="1321594"/>
            <a:ext cx="8858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1728788"/>
            <a:ext cx="14097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 전략 </a:t>
            </a:r>
            <a:r>
              <a:rPr lang="en-US" sz="12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85913" y="1843088"/>
            <a:ext cx="644734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18983" y="1787723"/>
            <a:ext cx="701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 PILLARS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2107406"/>
            <a:ext cx="2609813" cy="2636044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4350" y="21109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0591" y="2107406"/>
            <a:ext cx="0" cy="26360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350" y="47398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638" y="2107406"/>
            <a:ext cx="0" cy="2636044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088" y="2243138"/>
            <a:ext cx="171045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① 개인 체감 학습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322857" y="2262997"/>
            <a:ext cx="65985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45717" y="2273498"/>
            <a:ext cx="61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SIGNATURE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088" y="2593181"/>
            <a:ext cx="2259769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피드백 버튼으로 나의 체감온도 학습 → 옷차림 조언에 반영. 프로젝트 시그니처 기능.</a:t>
            </a:r>
            <a:endParaRPr lang="en-US" sz="956" dirty="0"/>
          </a:p>
        </p:txBody>
      </p:sp>
      <p:sp>
        <p:nvSpPr>
          <p:cNvPr id="25" name="Shape 23"/>
          <p:cNvSpPr/>
          <p:nvPr/>
        </p:nvSpPr>
        <p:spPr>
          <a:xfrm>
            <a:off x="700088" y="4371975"/>
            <a:ext cx="22597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088" y="44916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1538" y="4489847"/>
            <a:ext cx="20883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FEEDBACK LOOP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0610" y="2110978"/>
            <a:ext cx="2602669" cy="2628900"/>
          </a:xfrm>
          <a:prstGeom prst="roundRect">
            <a:avLst>
              <a:gd name="adj" fmla="val 51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1344" y="2257425"/>
            <a:ext cx="22812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② </a:t>
            </a:r>
            <a:r>
              <a:rPr lang="en-US" sz="1238" b="1" kern="0" spc="-12" dirty="0" err="1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타겟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3431344" y="2607469"/>
            <a:ext cx="228120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모두의 날씨 → 특정 상황 전용 비서. </a:t>
            </a:r>
            <a:r>
              <a:rPr lang="en-US" sz="956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차: 자전거 통근족.</a:t>
            </a:r>
            <a:endParaRPr lang="en-US" sz="956" dirty="0"/>
          </a:p>
        </p:txBody>
      </p:sp>
      <p:sp>
        <p:nvSpPr>
          <p:cNvPr id="31" name="Shape 29"/>
          <p:cNvSpPr/>
          <p:nvPr/>
        </p:nvSpPr>
        <p:spPr>
          <a:xfrm>
            <a:off x="3431344" y="4357688"/>
            <a:ext cx="2281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1344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⊕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3602794" y="4475559"/>
            <a:ext cx="2109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NICHE TARGET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23297" y="2110978"/>
            <a:ext cx="2602781" cy="2628900"/>
          </a:xfrm>
          <a:prstGeom prst="roundRect">
            <a:avLst>
              <a:gd name="adj" fmla="val 51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4032" y="2257425"/>
            <a:ext cx="2281312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③ 내 루틴 결합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6184032" y="2607469"/>
            <a:ext cx="2281312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출근지 등록 → 날씨 + 출퇴근 소요시간을 같이 브리핑.</a:t>
            </a:r>
            <a:endParaRPr lang="en-US" sz="956" dirty="0"/>
          </a:p>
        </p:txBody>
      </p:sp>
      <p:sp>
        <p:nvSpPr>
          <p:cNvPr id="37" name="Shape 35"/>
          <p:cNvSpPr/>
          <p:nvPr/>
        </p:nvSpPr>
        <p:spPr>
          <a:xfrm>
            <a:off x="6184032" y="4357688"/>
            <a:ext cx="228131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4032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355482" y="4475559"/>
            <a:ext cx="21098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ROUTINE FUSION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1153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46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아키텍처 — </a:t>
            </a:r>
            <a:r>
              <a:rPr lang="en-US" sz="2475" b="1" kern="0" spc="-49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하나의 테마로 쌓아올린 </a:t>
            </a:r>
            <a:r>
              <a:rPr lang="en-US" sz="2475" b="1" kern="0" spc="-49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3-Phase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830921"/>
            <a:ext cx="2533576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354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2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19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47366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ML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678656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예측 모델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678656" y="2509577"/>
            <a:ext cx="2204963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과거 날씨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CSV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내일 기온/비 예측 모델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(LR→RF→XGB)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. scikit-learn.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678656" y="2920343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656" y="3009640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8656" y="3156086"/>
            <a:ext cx="22049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MAE 2.50°C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047926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3305101" y="1816633"/>
            <a:ext cx="2533687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5101" y="1830921"/>
            <a:ext cx="2533687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5216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05101" y="3602571"/>
            <a:ext cx="25336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867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894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9407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8116" y="1959508"/>
            <a:ext cx="163636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DL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3469407" y="2227399"/>
            <a:ext cx="220507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딥러닝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3469407" y="2509577"/>
            <a:ext cx="2205075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같은 데이터,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정교화. </a:t>
            </a:r>
            <a:r>
              <a:rPr lang="en-US" sz="78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8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며칠치 예보.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.</a:t>
            </a:r>
            <a:endParaRPr lang="en-US" sz="956" dirty="0"/>
          </a:p>
        </p:txBody>
      </p:sp>
      <p:sp>
        <p:nvSpPr>
          <p:cNvPr id="28" name="Shape 26"/>
          <p:cNvSpPr/>
          <p:nvPr/>
        </p:nvSpPr>
        <p:spPr>
          <a:xfrm>
            <a:off x="3469407" y="2920343"/>
            <a:ext cx="22050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407" y="3009640"/>
            <a:ext cx="22050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69407" y="3156086"/>
            <a:ext cx="1480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MAE 2.41°C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4699884" y="3268743"/>
            <a:ext cx="271196" cy="164021"/>
          </a:xfrm>
          <a:prstGeom prst="roundRect">
            <a:avLst>
              <a:gd name="adj" fmla="val 580137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10857" y="3277530"/>
            <a:ext cx="249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역전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38788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969" dirty="0"/>
          </a:p>
        </p:txBody>
      </p:sp>
      <p:sp>
        <p:nvSpPr>
          <p:cNvPr id="34" name="Text 32"/>
          <p:cNvSpPr/>
          <p:nvPr/>
        </p:nvSpPr>
        <p:spPr>
          <a:xfrm>
            <a:off x="6095963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95963" y="1830921"/>
            <a:ext cx="2533576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5967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5963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535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9807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60269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8979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LLM/RAG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6260269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 비서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6260269" y="2509577"/>
            <a:ext cx="22049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 + 교통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로컬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자연어 브리핑 → 디스코드 알림. </a:t>
            </a:r>
            <a:r>
              <a:rPr lang="en-US" sz="8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EXAONE 3.5</a:t>
            </a:r>
            <a:endParaRPr lang="en-US" sz="956" dirty="0"/>
          </a:p>
        </p:txBody>
      </p:sp>
      <p:sp>
        <p:nvSpPr>
          <p:cNvPr id="44" name="Shape 42"/>
          <p:cNvSpPr/>
          <p:nvPr/>
        </p:nvSpPr>
        <p:spPr>
          <a:xfrm>
            <a:off x="6260269" y="3027499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0269" y="3116796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0269" y="3263243"/>
            <a:ext cx="22049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10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END-TO-END</a:t>
            </a:r>
            <a:r>
              <a:rPr lang="en-US" sz="1013" kern="0" spc="-1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자동 발송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514350" y="444341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5880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728663" y="4561284"/>
            <a:ext cx="79009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 단계 결과물이 다음 단계의 입력 재료로 사용됨 — 점진적 확장 전략.</a:t>
            </a:r>
            <a:endParaRPr lang="en-US" sz="9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02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07 /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33046" y="3214688"/>
            <a:ext cx="2810954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ML</a:t>
            </a:r>
            <a:endParaRPr lang="en-US" sz="20250" dirty="0"/>
          </a:p>
        </p:txBody>
      </p:sp>
      <p:sp>
        <p:nvSpPr>
          <p:cNvPr id="6" name="Text 4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12375" dirty="0"/>
          </a:p>
        </p:txBody>
      </p:sp>
      <p:sp>
        <p:nvSpPr>
          <p:cNvPr id="7" name="Text 5"/>
          <p:cNvSpPr/>
          <p:nvPr/>
        </p:nvSpPr>
        <p:spPr>
          <a:xfrm>
            <a:off x="571500" y="3448645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4650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8994" y="1629556"/>
            <a:ext cx="5765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MACHINE LEARNING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78994" y="1911734"/>
            <a:ext cx="571285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— ML: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예측 모델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378994" y="2991780"/>
            <a:ext cx="5608987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회귀/분류 기본기 다지기.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3356134" y="3482011"/>
            <a:ext cx="84872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3306" y="3528231"/>
            <a:ext cx="51725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REGRESSION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50431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4244861" y="3482011"/>
            <a:ext cx="1025642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2033" y="3528231"/>
            <a:ext cx="69417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39158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▣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5310507" y="3482011"/>
            <a:ext cx="912123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7680" y="3528231"/>
            <a:ext cx="58065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04805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⚗</a:t>
            </a:r>
            <a:endParaRPr lang="en-US" sz="984" dirty="0"/>
          </a:p>
        </p:txBody>
      </p:sp>
      <p:sp>
        <p:nvSpPr>
          <p:cNvPr id="21" name="Shape 1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604147"/>
            <a:ext cx="6072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Phase 1 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0825" y="4604147"/>
            <a:ext cx="21385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 → RandomForest → XGBoost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08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31306" cy="2968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수집 &amp; </a:t>
            </a:r>
            <a:r>
              <a:rPr lang="en-US" sz="2025" b="1" kern="0" spc="-20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5797"/>
            <a:ext cx="288550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844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실데이터를 모으고, </a:t>
            </a:r>
            <a:r>
              <a:rPr lang="en-US" sz="844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844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입력·정답 스키마를 설계한 과정.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303949" y="1171008"/>
            <a:ext cx="134856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1121" y="1217228"/>
            <a:ext cx="10170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REAL-WORLD KMA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98246" y="12190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99406"/>
            <a:ext cx="1943100" cy="1164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79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105509" y="1676214"/>
            <a:ext cx="201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DAYS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43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3,836</a:t>
            </a:r>
            <a:r>
              <a:rPr lang="en-US" sz="1013" kern="0" spc="-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6643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실데이터 (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년)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25753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217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⚙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9610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FEATURES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217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1013" kern="0" spc="-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</a:t>
            </a:r>
            <a:endParaRPr lang="en-US" sz="1913" dirty="0"/>
          </a:p>
        </p:txBody>
      </p:sp>
      <p:sp>
        <p:nvSpPr>
          <p:cNvPr id="20" name="Text 17"/>
          <p:cNvSpPr/>
          <p:nvPr/>
        </p:nvSpPr>
        <p:spPr>
          <a:xfrm>
            <a:off x="27217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피처 — 기온·습도·기압·풍속·강수량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46327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91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◎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068950" y="1676214"/>
            <a:ext cx="3532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STATION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791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서울(</a:t>
            </a:r>
            <a:r>
              <a:rPr lang="en-US" sz="1913" kern="0" spc="-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108</a:t>
            </a:r>
            <a:r>
              <a:rPr lang="en-US" sz="1913" kern="0" spc="-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1913" dirty="0"/>
          </a:p>
        </p:txBody>
      </p:sp>
      <p:sp>
        <p:nvSpPr>
          <p:cNvPr id="25" name="Text 22"/>
          <p:cNvSpPr/>
          <p:nvPr/>
        </p:nvSpPr>
        <p:spPr>
          <a:xfrm>
            <a:off x="47791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 </a:t>
            </a:r>
            <a:r>
              <a:rPr lang="en-US" sz="731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ASOS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일자료</a:t>
            </a:r>
            <a:endParaRPr lang="en-US" sz="731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1499406"/>
            <a:ext cx="1943100" cy="11642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901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8365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↗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80758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SCALE-UP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836569" y="1835162"/>
            <a:ext cx="1643063" cy="535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</a:t>
            </a:r>
            <a:r>
              <a:rPr lang="en-US" sz="1913" kern="0" spc="-38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→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endParaRPr lang="en-US" sz="1913" dirty="0"/>
          </a:p>
        </p:txBody>
      </p:sp>
      <p:sp>
        <p:nvSpPr>
          <p:cNvPr id="31" name="Text 27"/>
          <p:cNvSpPr/>
          <p:nvPr/>
        </p:nvSpPr>
        <p:spPr>
          <a:xfrm>
            <a:off x="68365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확장 — </a:t>
            </a:r>
            <a:r>
              <a:rPr lang="en-US" sz="731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역전의 결정적 계기</a:t>
            </a:r>
            <a:endParaRPr lang="en-US" sz="731" dirty="0"/>
          </a:p>
        </p:txBody>
      </p:sp>
      <p:sp>
        <p:nvSpPr>
          <p:cNvPr id="32" name="Text 28"/>
          <p:cNvSpPr/>
          <p:nvPr/>
        </p:nvSpPr>
        <p:spPr>
          <a:xfrm>
            <a:off x="517922" y="2810061"/>
            <a:ext cx="3993356" cy="1651211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50106" y="2956508"/>
            <a:ext cx="11850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파이프라인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64369" y="3188680"/>
            <a:ext cx="3700463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4369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478756" y="3299408"/>
            <a:ext cx="80836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71525" y="3277977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기상자료개방포털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data.kma.go.kr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수동 다운로드</a:t>
            </a:r>
            <a:endParaRPr lang="en-US" sz="759" dirty="0"/>
          </a:p>
        </p:txBody>
      </p:sp>
      <p:sp>
        <p:nvSpPr>
          <p:cNvPr id="38" name="Text 34"/>
          <p:cNvSpPr/>
          <p:nvPr/>
        </p:nvSpPr>
        <p:spPr>
          <a:xfrm>
            <a:off x="664369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71525" y="3515506"/>
            <a:ext cx="756679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71525" y="3494075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import_kma.py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EUC-KR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CSV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를 스키마 변환</a:t>
            </a:r>
            <a:endParaRPr lang="en-US" sz="759" dirty="0"/>
          </a:p>
        </p:txBody>
      </p:sp>
      <p:sp>
        <p:nvSpPr>
          <p:cNvPr id="41" name="Text 37"/>
          <p:cNvSpPr/>
          <p:nvPr/>
        </p:nvSpPr>
        <p:spPr>
          <a:xfrm>
            <a:off x="664369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71525" y="3710174"/>
            <a:ext cx="359330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합성 데이터 → 실데이터로 교체 (폴백 유지)</a:t>
            </a:r>
            <a:endParaRPr lang="en-US" sz="759" dirty="0"/>
          </a:p>
        </p:txBody>
      </p:sp>
      <p:sp>
        <p:nvSpPr>
          <p:cNvPr id="43" name="Text 39"/>
          <p:cNvSpPr/>
          <p:nvPr/>
        </p:nvSpPr>
        <p:spPr>
          <a:xfrm>
            <a:off x="4629150" y="2806489"/>
            <a:ext cx="4000500" cy="1658355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0"/>
          <p:cNvSpPr/>
          <p:nvPr/>
        </p:nvSpPr>
        <p:spPr>
          <a:xfrm>
            <a:off x="4629150" y="281006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26078" y="2806489"/>
            <a:ext cx="0" cy="16583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9150" y="44612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39866" y="2806489"/>
            <a:ext cx="0" cy="16583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79194" y="2956508"/>
            <a:ext cx="9398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입력·정답 설계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93456" y="3188680"/>
            <a:ext cx="3686175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93456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900613" y="3277977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X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오늘 기온·습도·기압·어제 강수량</a:t>
            </a:r>
            <a:endParaRPr lang="en-US" sz="759" dirty="0"/>
          </a:p>
        </p:txBody>
      </p:sp>
      <p:sp>
        <p:nvSpPr>
          <p:cNvPr id="52" name="Text 48"/>
          <p:cNvSpPr/>
          <p:nvPr/>
        </p:nvSpPr>
        <p:spPr>
          <a:xfrm>
            <a:off x="4793456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900613" y="3494075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정답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y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내일 기온 (회귀) · 비 여부 (분류)</a:t>
            </a:r>
            <a:endParaRPr lang="en-US" sz="759" dirty="0"/>
          </a:p>
        </p:txBody>
      </p:sp>
      <p:sp>
        <p:nvSpPr>
          <p:cNvPr id="54" name="Text 50"/>
          <p:cNvSpPr/>
          <p:nvPr/>
        </p:nvSpPr>
        <p:spPr>
          <a:xfrm>
            <a:off x="4793456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900613" y="3731605"/>
            <a:ext cx="911498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900613" y="3710174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train_test_split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시계열 순서 보존</a:t>
            </a:r>
            <a:endParaRPr lang="en-US" sz="759" dirty="0"/>
          </a:p>
        </p:txBody>
      </p:sp>
      <p:sp>
        <p:nvSpPr>
          <p:cNvPr id="57" name="Shape 53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14350" y="4614863"/>
            <a:ext cx="70151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Source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기상청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ASOS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서울(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108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·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2014-01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~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2024-06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7543800" y="4614863"/>
            <a:ext cx="10858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→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=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4x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규모 확장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09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95437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피처 상관관계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59530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수치형 </a:t>
            </a:r>
            <a:r>
              <a:rPr lang="en-US" sz="81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피처 간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Pearson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상관관계 히트맵 — 타깃 설계와 다중공선성 점검.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350048" y="1149242"/>
            <a:ext cx="130246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21" y="1195462"/>
            <a:ext cx="97099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SEABORN · COOLWARM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44346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651796" cy="1196578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2574" y="1449065"/>
            <a:ext cx="0" cy="119657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642071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1196578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956" y="1556221"/>
            <a:ext cx="750806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주요 인사이트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0081" y="17776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0091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62944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7238" y="1727671"/>
            <a:ext cx="3287464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temp_max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temp_min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거의 완벽한 양의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(≥0.95)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일교차 패턴 안정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650081" y="2099146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2966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7238" y="2049140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pressure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음의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(~ -0.7)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기온↑ 기압↓ 물리패턴 확인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50081" y="2281312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38" y="2245593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2966" y="2245593"/>
            <a:ext cx="382525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238" y="2231306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humidity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precip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양의 상관 — 비 오는 날 습도↑ 검증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650081" y="24634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7238" y="2427759"/>
            <a:ext cx="58043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7238" y="2413471"/>
            <a:ext cx="328746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wind_speed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타 피처와 낮은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(≤0.3)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독립 정보원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17922" y="2734940"/>
            <a:ext cx="3644652" cy="493923"/>
          </a:xfrm>
          <a:prstGeom prst="roundRect">
            <a:avLst>
              <a:gd name="adj" fmla="val 192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8669" y="2838524"/>
            <a:ext cx="532745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4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설계 결정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5794" y="2995687"/>
            <a:ext cx="3408908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temp_max/min</a:t>
            </a: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타깃은 일교차 일관성 확보, 풍속은 분류 모델에서 정보 이득 기대.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1889" y="1513359"/>
            <a:ext cx="3694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FEATURES · 7 × 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11058" y="1513359"/>
            <a:ext cx="454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Pearson r</a:t>
            </a:r>
            <a:endParaRPr lang="en-US" sz="800" dirty="0"/>
          </a:p>
        </p:txBody>
      </p:sp>
      <p:pic>
        <p:nvPicPr>
          <p:cNvPr id="38" name="Image 0" descr="/tmp/h2p-fit-1783241760553-tpc3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649090"/>
            <a:ext cx="4192042" cy="25717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373314" y="4277990"/>
            <a:ext cx="4192042" cy="12256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수치형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피처 상관관계 히트맵 (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seaborn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coolwarm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중심값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614863"/>
            <a:ext cx="6515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EDA · pandas + seaborn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43738" y="4614863"/>
            <a:ext cx="15859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다중공선성 점검 → 타깃 &amp; 입력 피처 설계로 직결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8521065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모델 </a:t>
            </a:r>
            <a:r>
              <a:rPr lang="en-US" sz="1913" b="1" kern="0" spc="-1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 비교 &amp; 잔차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81153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쉬운 모델부터 점진 적용 —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RandomForest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XGBoost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514350" y="1449065"/>
            <a:ext cx="264396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RESULT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회귀 </a:t>
            </a: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(°</a:t>
            </a: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172606" y="1449065"/>
            <a:ext cx="1164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 models · 3,836 days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624087"/>
          <a:ext cx="3637508" cy="1093948"/>
        </p:xfrm>
        <a:graphic>
          <a:graphicData uri="http://schemas.openxmlformats.org/drawingml/2006/table">
            <a:tbl>
              <a:tblPr/>
              <a:tblGrid>
                <a:gridCol w="150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모델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회귀 MAE(°C)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비고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LinearRegression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♛최고 (회귀)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RandomForest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2.6x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중간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XGBoost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2.7x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과적합 경향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14350" y="2836180"/>
            <a:ext cx="3651796" cy="641821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8"/>
          <p:cNvSpPr/>
          <p:nvPr/>
        </p:nvSpPr>
        <p:spPr>
          <a:xfrm>
            <a:off x="514350" y="2839752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2574" y="2836180"/>
            <a:ext cx="0" cy="64182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350" y="3474430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066" y="2836180"/>
            <a:ext cx="0" cy="64182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2943337"/>
            <a:ext cx="90645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잔차 분석 인사이트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0081" y="3086212"/>
            <a:ext cx="3394621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잔차 분석으로 모델별 편향 패턴 확인 — 큰 편차 없이 무작위 분포 → 모델이 체계적 오차 없이 학습됨.</a:t>
            </a:r>
            <a:endParaRPr lang="en-US" sz="759" dirty="0"/>
          </a:p>
        </p:txBody>
      </p:sp>
      <p:sp>
        <p:nvSpPr>
          <p:cNvPr id="17" name="Text 14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https://chat.z.ai/api/v1/sandbox/version/file?path=download%2Fslides%2Fresiduals.png&amp;chatId=a7a51632-abb0-4583-b76c-7ba8788c1b4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513359"/>
            <a:ext cx="4192042" cy="1524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73314" y="3094806"/>
            <a:ext cx="4192042" cy="1343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잔차 분포 — 예측 오차가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주변에 무작위 분포함을 확인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350" y="4614863"/>
            <a:ext cx="6193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Modeling · scikit-learn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722269" y="4614863"/>
            <a:ext cx="1907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최종 선택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(회귀) ·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°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11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2559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800" b="1" kern="0" spc="-1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평가 심화 — 분류 성능 &amp; 피처 중요도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43" y="948882"/>
            <a:ext cx="1174767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4915" y="995102"/>
            <a:ext cx="8432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CROSS-VALIDATION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72040" y="9968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517922" y="1223702"/>
            <a:ext cx="8108156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3094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92956" y="1291568"/>
            <a:ext cx="77295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만 보지 않고 분류 성능(혼동행렬)과 피처 기여도(중요도)로 모델 신뢰성 교차 검증.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179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381" y="1708584"/>
            <a:ext cx="231435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CONFUSION MATRIX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3093021" y="1691618"/>
            <a:ext cx="1404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LogisticRegression · Binary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0791" y="1879141"/>
            <a:ext cx="3807619" cy="220027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/tmp/h2p-fit-1783241762390-6wr6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925575"/>
            <a:ext cx="3714750" cy="210740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7219" y="4154425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혼동행렬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LogisticRegression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강수 이진분류 (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Accuracy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7219" y="4340833"/>
            <a:ext cx="3814763" cy="433983"/>
          </a:xfrm>
          <a:prstGeom prst="roundRect">
            <a:avLst>
              <a:gd name="adj" fmla="val 175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7219" y="434440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8409" y="4340833"/>
            <a:ext cx="0" cy="43398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7219" y="477124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934" y="4340833"/>
            <a:ext cx="0" cy="43398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7219" y="4340833"/>
            <a:ext cx="3814763" cy="433983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>
            <a:normAutofit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TN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TP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비율 높음, </a:t>
            </a:r>
            <a:r>
              <a:rPr lang="en-US" sz="703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FN</a:t>
            </a:r>
            <a:r>
              <a:rPr lang="en-US" sz="70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(비를 못 맞춤)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주요 오차 — 강수 분류는 회귀보다 어려움 확인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6327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9181" y="1708584"/>
            <a:ext cx="26996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FEATURE IMPORTANCE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14" dirty="0"/>
          </a:p>
        </p:txBody>
      </p:sp>
      <p:sp>
        <p:nvSpPr>
          <p:cNvPr id="28" name="Text 25"/>
          <p:cNvSpPr/>
          <p:nvPr/>
        </p:nvSpPr>
        <p:spPr>
          <a:xfrm>
            <a:off x="7268673" y="1691618"/>
            <a:ext cx="94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RandomForest · Gini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25591" y="1879141"/>
            <a:ext cx="3807619" cy="1443596"/>
          </a:xfrm>
          <a:prstGeom prst="roundRect">
            <a:avLst>
              <a:gd name="adj" fmla="val 52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/tmp/h2p-fit-1783241762432-4cce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925575"/>
            <a:ext cx="3714750" cy="135072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22019" y="3397746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피처 중요도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RandomForest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기준, 타깃 예측 기여도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722019" y="3584153"/>
            <a:ext cx="3814763" cy="295573"/>
          </a:xfrm>
          <a:prstGeom prst="roundRect">
            <a:avLst>
              <a:gd name="adj" fmla="val 257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722019" y="358772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33209" y="3584153"/>
            <a:ext cx="0" cy="2955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22019" y="387615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32734" y="3584153"/>
            <a:ext cx="0" cy="29557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22019" y="3584153"/>
            <a:ext cx="3814763" cy="31921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>
            <a:normAutofit fontScale="92500"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어제 강수량·현재 습도가 상위 — 직관과 일치. 풍속·기압은 낮지만 분류엔 기여</a:t>
            </a:r>
            <a:endParaRPr lang="en-US" sz="703" dirty="0"/>
          </a:p>
        </p:txBody>
      </p:sp>
      <p:sp>
        <p:nvSpPr>
          <p:cNvPr id="38" name="Shape 34"/>
          <p:cNvSpPr/>
          <p:nvPr/>
        </p:nvSpPr>
        <p:spPr>
          <a:xfrm>
            <a:off x="514350" y="495698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4350" y="5017703"/>
            <a:ext cx="6150769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 1 · Evaluation · scikit-learn metrics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679406" y="5017703"/>
            <a:ext cx="1950244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정성(직관) · 정량(지표) 양쪽 교차 검증으로 모델 신뢰성 확보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14688"/>
            <a:ext cx="460704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DL</a:t>
            </a:r>
            <a:endParaRPr lang="en-US" sz="20250" dirty="0"/>
          </a:p>
        </p:txBody>
      </p:sp>
      <p:pic>
        <p:nvPicPr>
          <p:cNvPr id="3" name="Image 0" descr="/tmp/h2p-svg-1783241762157-lys18k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03 OF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 / 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07681" y="1629556"/>
            <a:ext cx="64648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DEEP LEARNING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307681" y="1911734"/>
            <a:ext cx="587861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— DL: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딥러닝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4307681" y="2991780"/>
            <a:ext cx="5611404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순서를 기억하게 만들기.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284821" y="3482011"/>
            <a:ext cx="85899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21994" y="3528231"/>
            <a:ext cx="52752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TIME-SERIES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79119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5183817" y="3482011"/>
            <a:ext cx="926410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20990" y="3528231"/>
            <a:ext cx="59494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LSTM (SEQ=7)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78115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6151032" y="3482011"/>
            <a:ext cx="595641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87405" y="3528231"/>
            <a:ext cx="26577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44530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4018359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12375" dirty="0"/>
          </a:p>
        </p:txBody>
      </p:sp>
      <p:sp>
        <p:nvSpPr>
          <p:cNvPr id="23" name="Text 20"/>
          <p:cNvSpPr/>
          <p:nvPr/>
        </p:nvSpPr>
        <p:spPr>
          <a:xfrm>
            <a:off x="514350" y="3226743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" y="4604147"/>
            <a:ext cx="62150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Phase 2 DL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43700" y="4604147"/>
            <a:ext cx="1885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7-day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sequence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며칠치 예보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DL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13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20390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도입 배경 &amp; 학습 구조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2095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흐름을 학습하기 위해 단층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+ 멀티헤드 출력 구조를 채택.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577755" y="1149242"/>
            <a:ext cx="1074755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4928" y="1195462"/>
            <a:ext cx="74328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KERAS · LSTM(32)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72053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986213" cy="737815"/>
          </a:xfrm>
          <a:prstGeom prst="roundRect">
            <a:avLst>
              <a:gd name="adj" fmla="val 129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6991" y="1449065"/>
            <a:ext cx="0" cy="73781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1833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73781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531" y="1570509"/>
            <a:ext cx="74685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17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왜 </a:t>
            </a:r>
            <a:r>
              <a:rPr lang="en-US" sz="844" b="1" kern="0" spc="1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844" b="1" kern="0" spc="17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인가?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64369" y="1759818"/>
            <a:ext cx="370046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날씨는 순서가 중요 — 어제·그제 흐름이 내일에 영향. 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순서를 잘 못 보지만 </a:t>
            </a:r>
            <a:r>
              <a:rPr lang="en-US" sz="788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순서를 기억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한다.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517922" y="2276177"/>
            <a:ext cx="3979069" cy="2185095"/>
          </a:xfrm>
          <a:prstGeom prst="roundRect">
            <a:avLst>
              <a:gd name="adj" fmla="val 43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1531" y="2394049"/>
            <a:ext cx="90189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44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 구조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650081" y="2829818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0081" y="263336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1" name="Text 19"/>
          <p:cNvSpPr/>
          <p:nvPr/>
        </p:nvSpPr>
        <p:spPr>
          <a:xfrm>
            <a:off x="1693069" y="2640509"/>
            <a:ext cx="53087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8681" y="2633365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지난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SEQ_LEN=7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650081" y="3065562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0081" y="286910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5" name="Text 23"/>
          <p:cNvSpPr/>
          <p:nvPr/>
        </p:nvSpPr>
        <p:spPr>
          <a:xfrm>
            <a:off x="1178719" y="2876252"/>
            <a:ext cx="679326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78681" y="2869109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정규화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MinMaxScaler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650081" y="3301305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0081" y="31048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9" name="Text 27"/>
          <p:cNvSpPr/>
          <p:nvPr/>
        </p:nvSpPr>
        <p:spPr>
          <a:xfrm>
            <a:off x="1178719" y="3111996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78681" y="3104852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레이어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LSTM(32)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단층 + 멀티헤드 출력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650081" y="3537049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0081" y="334059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33" name="Text 31"/>
          <p:cNvSpPr/>
          <p:nvPr/>
        </p:nvSpPr>
        <p:spPr>
          <a:xfrm>
            <a:off x="878681" y="3340596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회귀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 (최고/최저기온) + 분류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 (비 여부)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50081" y="35763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35" name="Text 33"/>
          <p:cNvSpPr/>
          <p:nvPr/>
        </p:nvSpPr>
        <p:spPr>
          <a:xfrm>
            <a:off x="1100138" y="3583484"/>
            <a:ext cx="234181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34331" y="3583484"/>
            <a:ext cx="1025575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8681" y="3576340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손실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MSE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+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binary_crossentropy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가중합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학습/검증 손실 곡선 — </a:t>
            </a:r>
            <a:r>
              <a:rPr lang="en-US" sz="700" dirty="0" err="1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train.val</a:t>
            </a:r>
            <a:r>
              <a:rPr lang="ko-KR" alt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격차 없이 함께 수렴 </a:t>
            </a:r>
            <a:r>
              <a:rPr lang="en-US" altLang="ko-KR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ko-KR" altLang="en-US" sz="700" dirty="0" err="1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과적합없음</a:t>
            </a:r>
            <a:r>
              <a:rPr lang="en-US" altLang="ko-KR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614863"/>
            <a:ext cx="62436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DL Design · Keras LSTM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772275" y="4614863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단층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시작 → 멀티태스크 회귀+분류 동시 학습</a:t>
            </a:r>
            <a:endParaRPr lang="en-US" sz="7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3A0DFC6-2091-4D1D-BF79-7B2C25F0B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974" y="1557983"/>
            <a:ext cx="3561137" cy="25436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14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060383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정확도 비교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147822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같은 데이터로 학습한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LR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)과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의 회귀·분류 성능을 정량 비교.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821201" y="1149242"/>
            <a:ext cx="83130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58373" y="1195462"/>
            <a:ext cx="4998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kern="0" spc="25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데이터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915498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⇄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5263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586582"/>
            <a:ext cx="30289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(°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· 낮을수록 좋음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3656171" y="1544220"/>
            <a:ext cx="745808" cy="224028"/>
          </a:xfrm>
          <a:prstGeom prst="roundRect">
            <a:avLst>
              <a:gd name="adj" fmla="val 42474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6200" y="1606228"/>
            <a:ext cx="4143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역전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57613" y="160979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↘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635794" y="1827684"/>
            <a:ext cx="2328322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2.41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2195140" y="192858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vs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8455" y="1827684"/>
            <a:ext cx="1886236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 (LR)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58455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2.50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017801" y="1939305"/>
            <a:ext cx="3613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Δ -0.09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7596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509912"/>
            <a:ext cx="313610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분류 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ACCURACY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높을수록 좋음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3763327" y="2467549"/>
            <a:ext cx="638651" cy="224028"/>
          </a:xfrm>
          <a:prstGeom prst="roundRect">
            <a:avLst>
              <a:gd name="adj" fmla="val 42474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93356" y="2529557"/>
            <a:ext cx="3071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거의 동률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64769" y="253312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☰</a:t>
            </a:r>
            <a:endParaRPr lang="en-US" sz="914" dirty="0"/>
          </a:p>
        </p:txBody>
      </p:sp>
      <p:sp>
        <p:nvSpPr>
          <p:cNvPr id="26" name="Text 24"/>
          <p:cNvSpPr/>
          <p:nvPr/>
        </p:nvSpPr>
        <p:spPr>
          <a:xfrm>
            <a:off x="635794" y="2751013"/>
            <a:ext cx="2287583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2888531"/>
            <a:ext cx="23165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0.706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169356" y="285191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32670" y="2751013"/>
            <a:ext cx="19464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32670" y="2888531"/>
            <a:ext cx="19464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0.714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3966232" y="2862635"/>
            <a:ext cx="412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Δ -0.008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3295724"/>
            <a:ext cx="3986213" cy="1169119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14350" y="329929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6991" y="3295724"/>
            <a:ext cx="0" cy="11691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4350" y="4461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66" y="3295724"/>
            <a:ext cx="0" cy="1169119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956" y="3410024"/>
            <a:ext cx="173587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KEY</a:t>
            </a: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kern="0" spc="54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INSIGHT</a:t>
            </a: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핵심 학습 포인트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0081" y="3560043"/>
            <a:ext cx="3729038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</a:t>
            </a:r>
            <a:r>
              <a:rPr lang="en-US" sz="75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→ </a:t>
            </a:r>
            <a:r>
              <a:rPr lang="en-US" sz="75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확장 후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우위. </a:t>
            </a:r>
            <a:r>
              <a:rPr lang="en-US" sz="759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59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데이터 충분해야 진가 발휘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핵심 학습 포인트.</a:t>
            </a:r>
            <a:endParaRPr lang="en-US" sz="759" dirty="0"/>
          </a:p>
        </p:txBody>
      </p:sp>
      <p:sp>
        <p:nvSpPr>
          <p:cNvPr id="39" name="Text 37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0" descr="/tmp/h2p-fit-1783241763784-extti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 오차 비교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을 근소하게 역전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614863"/>
            <a:ext cx="5886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 2 · Result · ML vs DL Benchmark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15088" y="4614863"/>
            <a:ext cx="22145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↓ · 분류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acc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≈ 동률 · 데이터 스케일이 성능 역전의 핵심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FORECAST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902949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예측 결과 — 며칠치 예보를 한 번에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371709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모델이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시퀀스를 입력받아 향후 며칠의 기온 흐름을 한 번에 예측.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7615706" y="1127476"/>
            <a:ext cx="103680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52879" y="1173696"/>
            <a:ext cx="70533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 FORECAST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10004" y="117548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02296"/>
            <a:ext cx="8108156" cy="2622649"/>
          </a:xfrm>
          <a:prstGeom prst="roundRect">
            <a:avLst>
              <a:gd name="adj" fmla="val 435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/tmp/h2p-fit-1783241763832-toh95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477305"/>
            <a:ext cx="7958138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2533" y="3820455"/>
            <a:ext cx="253882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800" kern="0" spc="3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FIGURE 7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예측 — 과거 </a:t>
            </a:r>
            <a:r>
              <a:rPr lang="en-US" sz="703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시퀀스로 향후 예측, 실측값과 비교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514350" y="4142817"/>
            <a:ext cx="2647876" cy="60186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14350" y="414638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8654" y="4142817"/>
            <a:ext cx="0" cy="60186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4350" y="474110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066" y="4142817"/>
            <a:ext cx="0" cy="60186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081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64419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INSIGHT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50119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950119" y="4383918"/>
            <a:ext cx="2090663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충분한 데이터 →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우위 확인</a:t>
            </a:r>
            <a:endParaRPr lang="en-US" sz="759" dirty="0"/>
          </a:p>
        </p:txBody>
      </p:sp>
      <p:sp>
        <p:nvSpPr>
          <p:cNvPr id="23" name="Text 20"/>
          <p:cNvSpPr/>
          <p:nvPr/>
        </p:nvSpPr>
        <p:spPr>
          <a:xfrm>
            <a:off x="3251522" y="4146389"/>
            <a:ext cx="2640843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69394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69394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83732" y="4257117"/>
            <a:ext cx="409337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REUSE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69432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⤓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133776" y="4398206"/>
            <a:ext cx="381186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69432" y="4383918"/>
            <a:ext cx="2105062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.keras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저장·재사용</a:t>
            </a:r>
            <a:endParaRPr lang="en-US" sz="759" dirty="0"/>
          </a:p>
        </p:txBody>
      </p:sp>
      <p:sp>
        <p:nvSpPr>
          <p:cNvPr id="30" name="Text 27"/>
          <p:cNvSpPr/>
          <p:nvPr/>
        </p:nvSpPr>
        <p:spPr>
          <a:xfrm>
            <a:off x="5985235" y="4146389"/>
            <a:ext cx="2640732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3107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03107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517444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HANDOFF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3144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↗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6403144" y="4398206"/>
            <a:ext cx="639254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403144" y="4383918"/>
            <a:ext cx="210495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contract.md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스키마로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Track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B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에 전달 </a:t>
            </a: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(source: lstm)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514350" y="4858978"/>
            <a:ext cx="6743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Output → Phase 3 Input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72338" y="4858978"/>
            <a:ext cx="149304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저장된 모델이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가 호출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2712" y="1714500"/>
            <a:ext cx="4051288" cy="3429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500" b="1" kern="0" spc="-1890" dirty="0">
                <a:solidFill>
                  <a:srgbClr val="F1F5F9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31500" dirty="0"/>
          </a:p>
        </p:txBody>
      </p:sp>
      <p:sp>
        <p:nvSpPr>
          <p:cNvPr id="3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400050"/>
            <a:ext cx="64088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PHASE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37474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17631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74806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54962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2137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92294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49469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29625" y="467916"/>
            <a:ext cx="200025" cy="1428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12375" dirty="0"/>
          </a:p>
        </p:txBody>
      </p:sp>
      <p:sp>
        <p:nvSpPr>
          <p:cNvPr id="14" name="Text 12"/>
          <p:cNvSpPr/>
          <p:nvPr/>
        </p:nvSpPr>
        <p:spPr>
          <a:xfrm>
            <a:off x="514350" y="4043363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4255889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214813"/>
            <a:ext cx="3043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73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FINAL PHASE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71938" y="1437010"/>
            <a:ext cx="5072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kern="0" spc="152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CHAPTER 04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71938" y="1740619"/>
            <a:ext cx="501348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3 — LLM/RAG: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 비서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071938" y="2792090"/>
            <a:ext cx="3286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예측을 사람 말로 번역하고,</a:t>
            </a:r>
            <a:endParaRPr lang="en-US" sz="1238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아침 폰으로 보낸다.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4050939" y="3536526"/>
            <a:ext cx="5669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1938" y="3549328"/>
            <a:ext cx="52495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68261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4883360" y="3536526"/>
            <a:ext cx="366354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6929" y="3549328"/>
            <a:ext cx="33921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RAG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871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520377" y="3536526"/>
            <a:ext cx="4267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36183" y="3549328"/>
            <a:ext cx="39513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sLLM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704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208843" y="3536526"/>
            <a:ext cx="607938" cy="250631"/>
          </a:xfrm>
          <a:prstGeom prst="roundRect">
            <a:avLst>
              <a:gd name="adj" fmla="val 22802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1359" y="3549328"/>
            <a:ext cx="56290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Discord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350" y="4604147"/>
            <a:ext cx="770955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WeatherCheck · Learning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38195" y="4604147"/>
            <a:ext cx="3914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9622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LLM/RAG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3326314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왜 RAG인가</a:t>
            </a: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Stuffing 대신 검색을 택한 이유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1425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설계 이유 · WHY RAG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9760" y="1218344"/>
            <a:ext cx="6979890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92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2150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로컬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sLLM 제약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150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EXAONE 3.5 · 7.8B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긴 컨텍스트 취약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85963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189559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3144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93144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7456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⊟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293144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Context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Stuffing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293144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문서 전부 삽입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집중력 저하 위험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861197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4781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64781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9094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⌕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964781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검색(해결)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64781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관련 문서 3개만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 err="1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짧고 집중된 프롬프트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29238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32834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6419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6419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0731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636419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확장성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대비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636419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니치 수십~수백개</a:t>
            </a:r>
            <a:endParaRPr lang="en-US" sz="8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검색 구조 필요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00875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720447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0805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805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236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30805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근거 인용 강제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730805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[문서명] 표시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환각 최소화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3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112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3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REASON 01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4369" y="2868774"/>
            <a:ext cx="3714750" cy="48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문서 6~10개면 지금은 프롬프트에 전부 넣어도(stuffing)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동작은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함</a:t>
            </a:r>
          </a:p>
          <a:p>
            <a:pPr marL="0" indent="0" algn="l">
              <a:lnSpc>
                <a:spcPts val="1055"/>
              </a:lnSpc>
              <a:buNone/>
            </a:pPr>
            <a:endParaRPr lang="en-US" sz="9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로컬 7.8B는 컨텍스트 길어질수록 집중력 저하(lost in the middle)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위험</a:t>
            </a:r>
            <a:endParaRPr lang="en-US" sz="900" dirty="0">
              <a:solidFill>
                <a:srgbClr val="334155"/>
              </a:solidFill>
              <a:latin typeface="Calibri" pitchFamily="34" charset="0"/>
              <a:ea typeface="Calibri" pitchFamily="34"/>
              <a:cs typeface="Calibri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9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니치 확장(배달·러너 등) 시 수십~수백 개로 늘면 stuffing </a:t>
            </a: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자체가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불가능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291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291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260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98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91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REASON 02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9169" y="2868774"/>
            <a:ext cx="3714750" cy="65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RAG 없이 생성만 하면 '출처 없는 확신'이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나올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위험</a:t>
            </a:r>
            <a:endParaRPr lang="en-US" sz="900" dirty="0">
              <a:solidFill>
                <a:srgbClr val="334155"/>
              </a:solidFill>
              <a:latin typeface="Calibri" pitchFamily="34" charset="0"/>
              <a:ea typeface="Calibri" pitchFamily="34"/>
              <a:cs typeface="Calibri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9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지금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문서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6~10개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규모여도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,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구조를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미리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RAG로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잡아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확장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대비</a:t>
            </a:r>
            <a:endParaRPr lang="en-US" sz="900" dirty="0">
              <a:solidFill>
                <a:srgbClr val="334155"/>
              </a:solidFill>
              <a:latin typeface="Calibri" pitchFamily="34" charset="0"/>
              <a:ea typeface="Calibri" pitchFamily="34"/>
              <a:cs typeface="Calibri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9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프롬프트에 근거 문서를 [문서명]으로 </a:t>
            </a: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표시하도록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강제</a:t>
            </a:r>
            <a:endParaRPr lang="en-US" sz="900" dirty="0">
              <a:solidFill>
                <a:srgbClr val="334155"/>
              </a:solidFill>
              <a:latin typeface="맑은 고딕" pitchFamily="34" charset="0"/>
              <a:ea typeface="맑은 고딕" pitchFamily="34"/>
              <a:cs typeface="맑은 고딕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-&gt;</a:t>
            </a: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환각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최소화</a:t>
            </a:r>
            <a:endParaRPr lang="en-US" sz="900" dirty="0">
              <a:solidFill>
                <a:srgbClr val="334155"/>
              </a:solidFill>
              <a:latin typeface="맑은 고딕" pitchFamily="34" charset="0"/>
              <a:ea typeface="맑은 고딕" pitchFamily="34"/>
              <a:cs typeface="맑은 고딕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9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검색 결과 없으면 답을 안 만들도록 </a:t>
            </a:r>
            <a:r>
              <a:rPr lang="en-US" sz="9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설계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 </a:t>
            </a:r>
          </a:p>
          <a:p>
            <a:pPr marL="0" indent="0" algn="l">
              <a:lnSpc>
                <a:spcPts val="1055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-&gt; 확인 가능성 확보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9622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LLM/RAG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3326314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파이프라인 &amp; 로컬 </a:t>
            </a:r>
            <a:r>
              <a:rPr lang="en-US" sz="1800" b="1" kern="0" spc="-27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전환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1425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PIPELINE · 5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9760" y="1218344"/>
            <a:ext cx="6979890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92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2150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150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LSTM · .keras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기온·비 예측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85963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189559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3144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93144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7456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⊟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293144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교통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293144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TMAP / ODsay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소요시간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861197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4781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64781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9094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⌕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964781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검색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64781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Chroma + TF-IDF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 err="1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29238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32834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6419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6419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0731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636419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636419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EXAONE 3.5 7.8B</a:t>
            </a:r>
            <a:endParaRPr lang="en-US" sz="8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Ollama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00875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720447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0805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805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236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30805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디스코드 알림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730805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@멘션 · 자동 발송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아침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3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112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3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CHALLENGE 01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4369" y="2868774"/>
            <a:ext cx="3714750" cy="48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Chroma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기본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ONNX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모델(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79MB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다운로드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반복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timeout</a:t>
            </a:r>
          </a:p>
          <a:p>
            <a:pPr marL="0" indent="0" algn="l">
              <a:lnSpc>
                <a:spcPts val="1055"/>
              </a:lnSpc>
              <a:buNone/>
            </a:pPr>
            <a:endParaRPr lang="en-US" sz="10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TF-IDF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sklearn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)로 교체 — 문서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~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규모라 매 검색마다 재구축해도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즉시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처리</a:t>
            </a:r>
            <a:endParaRPr lang="en-US" sz="1000" dirty="0">
              <a:solidFill>
                <a:srgbClr val="334155"/>
              </a:solidFill>
              <a:latin typeface="맑은 고딕" pitchFamily="34" charset="0"/>
              <a:ea typeface="맑은 고딕" pitchFamily="34"/>
              <a:cs typeface="맑은 고딕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10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오검색 방지: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문서는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별도 폴더,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1:1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읽기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291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291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260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98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91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CHALLENGE 02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9169" y="2868774"/>
            <a:ext cx="3714750" cy="65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Claude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로컬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Ollama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EXAONE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3.5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7.8B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4.8GB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한국어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특화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</a:p>
          <a:p>
            <a:pPr marL="0" indent="0" algn="l">
              <a:lnSpc>
                <a:spcPts val="1055"/>
              </a:lnSpc>
              <a:buNone/>
            </a:pPr>
            <a:endParaRPr lang="en-US" sz="10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운용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</a:t>
            </a:r>
            <a:endParaRPr lang="en-US" sz="1000" dirty="0">
              <a:solidFill>
                <a:srgbClr val="334155"/>
              </a:solidFill>
              <a:latin typeface="맑은 고딕" pitchFamily="34" charset="0"/>
              <a:ea typeface="맑은 고딕" pitchFamily="34"/>
              <a:cs typeface="맑은 고딕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10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분류: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temperature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=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(결정적), 생성: </a:t>
            </a:r>
            <a:r>
              <a:rPr lang="en-US" sz="1000" dirty="0" err="1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기본값</a:t>
            </a:r>
            <a:endParaRPr lang="en-US" sz="1000" dirty="0">
              <a:solidFill>
                <a:srgbClr val="334155"/>
              </a:solidFill>
              <a:latin typeface="맑은 고딕" pitchFamily="34" charset="0"/>
              <a:ea typeface="맑은 고딕" pitchFamily="34"/>
              <a:cs typeface="맑은 고딕" pitchFamily="34"/>
            </a:endParaRPr>
          </a:p>
          <a:p>
            <a:pPr marL="0" indent="0" algn="l">
              <a:lnSpc>
                <a:spcPts val="1055"/>
              </a:lnSpc>
              <a:buNone/>
            </a:pPr>
            <a:endParaRPr lang="en-US" sz="1000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10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RTX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4060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8GB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에서 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~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초 응답,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keep_alive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=</a:t>
            </a:r>
            <a:r>
              <a:rPr lang="en-US" sz="10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30m</a:t>
            </a: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상시 로드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11398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BOT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2406395" cy="26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디스코드 봇 &amp; 차별화 기능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18 / 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162980"/>
            <a:ext cx="8115300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대화형 디스코드 봇 — 자연어 의도 분류 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15+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맑은 고딕" pitchFamily="34" charset="0"/>
                <a:ea typeface="맑은 고딕" pitchFamily="34"/>
                <a:cs typeface="맑은 고딕" pitchFamily="34"/>
              </a:rPr>
              <a:t> 인텐트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로 모든 기능을 한 채널에서 처리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486838" y="1434443"/>
            <a:ext cx="4007644" cy="1604442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4350" y="1438015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8422" y="1434443"/>
            <a:ext cx="0" cy="16044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3035312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638" y="1434443"/>
            <a:ext cx="0" cy="1604442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441586"/>
            <a:ext cx="3971925" cy="2143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64546" y="1541599"/>
            <a:ext cx="507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NICHE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🚲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985838" y="1627324"/>
            <a:ext cx="1504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SIGNATURE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85838" y="1734480"/>
            <a:ext cx="1306106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 err="1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타겟</a:t>
            </a: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자전거 통근</a:t>
            </a:r>
            <a:endParaRPr lang="en-US" sz="956" dirty="0"/>
          </a:p>
        </p:txBody>
      </p:sp>
      <p:sp>
        <p:nvSpPr>
          <p:cNvPr id="20" name="Text 17"/>
          <p:cNvSpPr/>
          <p:nvPr/>
        </p:nvSpPr>
        <p:spPr>
          <a:xfrm>
            <a:off x="685800" y="1972010"/>
            <a:ext cx="3686175" cy="1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별도 지식 폴더에서 </a:t>
            </a:r>
            <a:r>
              <a:rPr lang="en-US" sz="9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1:1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읽기  </a:t>
            </a:r>
            <a:r>
              <a:rPr lang="en-US" sz="900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🚲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전용 섹션으로 분리 생성  버튼 또는 채팅으로 토글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25578" y="1438015"/>
            <a:ext cx="4000500" cy="1597298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65046" y="1541599"/>
            <a:ext cx="614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ROUTINE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72025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🏠</a:t>
            </a:r>
            <a:endParaRPr lang="en-US" sz="1463" dirty="0"/>
          </a:p>
        </p:txBody>
      </p:sp>
      <p:sp>
        <p:nvSpPr>
          <p:cNvPr id="24" name="Text 21"/>
          <p:cNvSpPr/>
          <p:nvPr/>
        </p:nvSpPr>
        <p:spPr>
          <a:xfrm>
            <a:off x="5072063" y="1627324"/>
            <a:ext cx="7620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CONFIG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3" y="1734480"/>
            <a:ext cx="72237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출근지 설정</a:t>
            </a:r>
            <a:endParaRPr lang="en-US" sz="956" dirty="0"/>
          </a:p>
        </p:txBody>
      </p:sp>
      <p:sp>
        <p:nvSpPr>
          <p:cNvPr id="27" name="Text 24"/>
          <p:cNvSpPr/>
          <p:nvPr/>
        </p:nvSpPr>
        <p:spPr>
          <a:xfrm>
            <a:off x="4772025" y="1972010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출발지·도착지 한 번 등록 → 이후 알림에 날씨+소요시간 같이 발송  자전거 니치일 땐 자동 생략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7922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03700" y="3246053"/>
            <a:ext cx="668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FEEDBACK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4369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🌡️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964406" y="3331778"/>
            <a:ext cx="14180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PRD CORE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64406" y="3438934"/>
            <a:ext cx="123075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개인 체감 피드백 루프</a:t>
            </a:r>
            <a:endParaRPr lang="en-US" sz="956" dirty="0"/>
          </a:p>
        </p:txBody>
      </p:sp>
      <p:sp>
        <p:nvSpPr>
          <p:cNvPr id="35" name="Text 32"/>
          <p:cNvSpPr/>
          <p:nvPr/>
        </p:nvSpPr>
        <p:spPr>
          <a:xfrm>
            <a:off x="664369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알림에 </a:t>
            </a:r>
            <a:r>
              <a:rPr lang="en-US" sz="900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🥶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900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👍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900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🥵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버튼  누적 평균으로 체감온도 보정치(°</a:t>
            </a: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계산  브리핑에 자동 반영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25578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132936" y="3246053"/>
            <a:ext cx="346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UX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72025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⏰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072063" y="3331778"/>
            <a:ext cx="958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AUTOMATION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72063" y="3438934"/>
            <a:ext cx="904227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자동 알림 &amp; </a:t>
            </a: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UX</a:t>
            </a:r>
            <a:endParaRPr lang="en-US" sz="956" dirty="0"/>
          </a:p>
        </p:txBody>
      </p:sp>
      <p:sp>
        <p:nvSpPr>
          <p:cNvPr id="43" name="Text 40"/>
          <p:cNvSpPr/>
          <p:nvPr/>
        </p:nvSpPr>
        <p:spPr>
          <a:xfrm>
            <a:off x="4772025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자연어로 시각 설정(매일 </a:t>
            </a:r>
            <a:r>
              <a:rPr lang="en-US" sz="9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</a:t>
            </a:r>
            <a:r>
              <a:rPr lang="en-US" sz="9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시에 알려줘)  @멘션으로 푸시 보장  도움말 버튼 패널 자동 핀 고정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2" name="Text"/>
          <p:cNvSpPr txBox="1"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kern="0" spc="6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DEMO · 실제 동작 화면</a:t>
            </a:r>
            <a:endParaRPr lang="en-US" sz="800" dirty="0"/>
          </a:p>
        </p:txBody>
      </p:sp>
      <p:sp>
        <p:nvSpPr>
          <p:cNvPr id="103" name="Text"/>
          <p:cNvSpPr txBox="1"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800" kern="0" spc="2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Live</a:t>
            </a:r>
            <a:endParaRPr lang="en-US" sz="800" dirty="0"/>
          </a:p>
        </p:txBody>
      </p:sp>
      <p:sp>
        <p:nvSpPr>
          <p:cNvPr id="104" name="Text"/>
          <p:cNvSpPr txBox="1"/>
          <p:nvPr/>
        </p:nvSpPr>
        <p:spPr>
          <a:xfrm>
            <a:off x="514350" y="871538"/>
            <a:ext cx="8115300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575" b="1" kern="0" spc="-1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시연 — 출근 비서가 실제로 이렇게 동작합니다</a:t>
            </a:r>
            <a:endParaRPr lang="en-US" sz="800" dirty="0"/>
          </a:p>
        </p:txBody>
      </p:sp>
      <p:sp>
        <p:nvSpPr>
          <p:cNvPr id="105" name="Text"/>
          <p:cNvSpPr txBox="1"/>
          <p:nvPr/>
        </p:nvSpPr>
        <p:spPr>
          <a:xfrm>
            <a:off x="514350" y="1130052"/>
            <a:ext cx="8115300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Discord 아침 브리핑 봇 (자동 발송) · 웹 대시보드 (</a:t>
            </a:r>
            <a:r>
              <a:rPr lang="en-US" sz="700" kern="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Streamlit</a:t>
            </a: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모델 비교/예측)</a:t>
            </a:r>
            <a:endParaRPr lang="en-US" sz="800" dirty="0"/>
          </a:p>
        </p:txBody>
      </p:sp>
      <p:sp>
        <p:nvSpPr>
          <p:cNvPr id="106" name="Shape"/>
          <p:cNvSpPr/>
          <p:nvPr/>
        </p:nvSpPr>
        <p:spPr>
          <a:xfrm>
            <a:off x="514350" y="1420000"/>
            <a:ext cx="3982650" cy="163995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Shape"/>
          <p:cNvSpPr/>
          <p:nvPr/>
        </p:nvSpPr>
        <p:spPr>
          <a:xfrm>
            <a:off x="514350" y="1420000"/>
            <a:ext cx="3982650" cy="260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Shape"/>
          <p:cNvSpPr/>
          <p:nvPr/>
        </p:nvSpPr>
        <p:spPr>
          <a:xfrm>
            <a:off x="584350" y="1515000"/>
            <a:ext cx="70000" cy="70000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Shape"/>
          <p:cNvSpPr/>
          <p:nvPr/>
        </p:nvSpPr>
        <p:spPr>
          <a:xfrm>
            <a:off x="679350" y="1515000"/>
            <a:ext cx="70000" cy="70000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Shape"/>
          <p:cNvSpPr/>
          <p:nvPr/>
        </p:nvSpPr>
        <p:spPr>
          <a:xfrm>
            <a:off x="774350" y="1515000"/>
            <a:ext cx="70000" cy="70000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"/>
          <p:cNvSpPr txBox="1"/>
          <p:nvPr/>
        </p:nvSpPr>
        <p:spPr>
          <a:xfrm>
            <a:off x="894350" y="1490000"/>
            <a:ext cx="35626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kern="0" spc="1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DISCORD · #출근-비서</a:t>
            </a:r>
            <a:endParaRPr lang="en-US" sz="800" dirty="0"/>
          </a:p>
        </p:txBody>
      </p:sp>
      <p:pic>
        <p:nvPicPr>
          <p:cNvPr id="112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0" y="1740000"/>
            <a:ext cx="3862650" cy="1259959"/>
          </a:xfrm>
          <a:prstGeom prst="rect">
            <a:avLst/>
          </a:prstGeom>
          <a:ln w="7144">
            <a:solidFill>
              <a:srgbClr val="E2E8F0"/>
            </a:solidFill>
          </a:ln>
        </p:spPr>
      </p:pic>
      <p:sp>
        <p:nvSpPr>
          <p:cNvPr id="113" name="Text"/>
          <p:cNvSpPr txBox="1"/>
          <p:nvPr/>
        </p:nvSpPr>
        <p:spPr>
          <a:xfrm>
            <a:off x="514350" y="3149959"/>
            <a:ext cx="398265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21:49 자동 발송 · 반응 버튼으로 체감 피드백 수집 → 다음날 보정에 반영</a:t>
            </a:r>
            <a:endParaRPr lang="en-US" sz="800" dirty="0"/>
          </a:p>
        </p:txBody>
      </p:sp>
      <p:sp>
        <p:nvSpPr>
          <p:cNvPr id="114" name="Shape"/>
          <p:cNvSpPr/>
          <p:nvPr/>
        </p:nvSpPr>
        <p:spPr>
          <a:xfrm>
            <a:off x="4647000" y="1420000"/>
            <a:ext cx="3982650" cy="25311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Shape"/>
          <p:cNvSpPr/>
          <p:nvPr/>
        </p:nvSpPr>
        <p:spPr>
          <a:xfrm>
            <a:off x="4647000" y="1420000"/>
            <a:ext cx="3982650" cy="260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6" name="Shape"/>
          <p:cNvSpPr/>
          <p:nvPr/>
        </p:nvSpPr>
        <p:spPr>
          <a:xfrm>
            <a:off x="4717000" y="1515000"/>
            <a:ext cx="70000" cy="70000"/>
          </a:xfrm>
          <a:prstGeom prst="ellipse">
            <a:avLst/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Shape"/>
          <p:cNvSpPr/>
          <p:nvPr/>
        </p:nvSpPr>
        <p:spPr>
          <a:xfrm>
            <a:off x="4812000" y="1515000"/>
            <a:ext cx="70000" cy="70000"/>
          </a:xfrm>
          <a:prstGeom prst="ellipse">
            <a:avLst/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Shape"/>
          <p:cNvSpPr/>
          <p:nvPr/>
        </p:nvSpPr>
        <p:spPr>
          <a:xfrm>
            <a:off x="4907000" y="1515000"/>
            <a:ext cx="70000" cy="70000"/>
          </a:xfrm>
          <a:prstGeom prst="ellipse">
            <a:avLst/>
          </a:prstGeom>
          <a:solidFill>
            <a:srgbClr val="27C93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"/>
          <p:cNvSpPr txBox="1"/>
          <p:nvPr/>
        </p:nvSpPr>
        <p:spPr>
          <a:xfrm>
            <a:off x="5027000" y="1490000"/>
            <a:ext cx="35626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kern="0" spc="1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웹 대시보드 · STREAMLIT</a:t>
            </a:r>
            <a:endParaRPr lang="en-US" sz="800" dirty="0"/>
          </a:p>
        </p:txBody>
      </p:sp>
      <p:pic>
        <p:nvPicPr>
          <p:cNvPr id="120" name="Pi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00" y="1740000"/>
            <a:ext cx="3862650" cy="2151130"/>
          </a:xfrm>
          <a:prstGeom prst="rect">
            <a:avLst/>
          </a:prstGeom>
          <a:ln w="7144">
            <a:solidFill>
              <a:srgbClr val="E2E8F0"/>
            </a:solidFill>
          </a:ln>
        </p:spPr>
      </p:pic>
      <p:sp>
        <p:nvSpPr>
          <p:cNvPr id="121" name="Text"/>
          <p:cNvSpPr txBox="1"/>
          <p:nvPr/>
        </p:nvSpPr>
        <p:spPr>
          <a:xfrm>
            <a:off x="4647000" y="4041130"/>
            <a:ext cx="398265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ML 3종 모델 성능을 실시간 비교하고 내일 예보를 즉시 확인</a:t>
            </a:r>
            <a:endParaRPr lang="en-US" sz="800" dirty="0"/>
          </a:p>
        </p:txBody>
      </p:sp>
      <p:sp>
        <p:nvSpPr>
          <p:cNvPr id="122" name="Shape"/>
          <p:cNvSpPr/>
          <p:nvPr/>
        </p:nvSpPr>
        <p:spPr>
          <a:xfrm>
            <a:off x="514350" y="424113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3" name="Shape"/>
          <p:cNvSpPr/>
          <p:nvPr/>
        </p:nvSpPr>
        <p:spPr>
          <a:xfrm>
            <a:off x="514350" y="4259130"/>
            <a:ext cx="28575" cy="28575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"/>
          <p:cNvSpPr txBox="1"/>
          <p:nvPr/>
        </p:nvSpPr>
        <p:spPr>
          <a:xfrm>
            <a:off x="560000" y="4251130"/>
            <a:ext cx="80696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◆ 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 → </a:t>
            </a:r>
            <a:r>
              <a:rPr lang="en-US" sz="800" b="1" kern="0" dirty="0" err="1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자연어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ko-KR" alt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키워드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브리핑 → Discord 알림</a:t>
            </a:r>
            <a:r>
              <a:rPr lang="en-US" sz="800" kern="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까지 하나의 파이프라인으로 자동화, 웹 대시보드로 모델 성능도 바로 확인.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RETROSPECTIVE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23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4418052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문제해결 스토리 &amp; 핵심 성과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4207669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데이터·임베딩·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·배포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디버깅 사가 모델·시스템 신뢰성을 만들었고,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지표가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end-to-end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완성을 증명한다.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432536" y="1090976"/>
            <a:ext cx="121997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62565" y="1137196"/>
            <a:ext cx="89564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 DEBUG · 4 METRICS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2683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60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⚒</a:t>
            </a:r>
            <a:endParaRPr lang="en-US" sz="1195" dirty="0"/>
          </a:p>
        </p:txBody>
      </p:sp>
      <p:sp>
        <p:nvSpPr>
          <p:cNvPr id="12" name="Text 10"/>
          <p:cNvSpPr/>
          <p:nvPr/>
        </p:nvSpPr>
        <p:spPr>
          <a:xfrm>
            <a:off x="785813" y="1406872"/>
            <a:ext cx="295126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문제해결 </a:t>
            </a:r>
            <a:r>
              <a:rPr lang="en-US" sz="956" b="1" kern="0" spc="-1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선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3765649" y="1441698"/>
            <a:ext cx="7852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DEBUG STORIES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7922" y="1694408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1783705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918789" y="1775240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7281" y="1805136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2981" y="1811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935831" y="1960513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합성 데이터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실데이터 교체 · </a:t>
            </a:r>
            <a:r>
              <a:rPr lang="en-US" sz="703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확장으로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우위 확인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517922" y="2475421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564718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918789" y="2556253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7281" y="2586149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임베딩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2981" y="259240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⌕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935831" y="2741526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Chroma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ONNX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다운로드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timeout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TF-IDF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 교체, 문서 수 적어 즉시 처리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517922" y="3256434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3345731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918731" y="3337265"/>
            <a:ext cx="461709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7281" y="3367162"/>
            <a:ext cx="198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2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981" y="3373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935831" y="3522538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의도 분류 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비결정적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temperature=0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고정으로 완전 일치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517922" y="4037447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506" y="4126743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921423" y="4118278"/>
            <a:ext cx="389017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07281" y="4148175"/>
            <a:ext cx="13160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배포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92981" y="4154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☁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935831" y="4303551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Discord Cloudflare </a:t>
            </a:r>
            <a:r>
              <a:rPr lang="en-US" sz="70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urllib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차단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User-Agent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헤더 추가로 해결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568428" y="1390799"/>
            <a:ext cx="7144" cy="335265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2734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51844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♛</a:t>
            </a:r>
            <a:endParaRPr lang="en-US" sz="1195" dirty="0"/>
          </a:p>
        </p:txBody>
      </p:sp>
      <p:sp>
        <p:nvSpPr>
          <p:cNvPr id="41" name="Text 39"/>
          <p:cNvSpPr/>
          <p:nvPr/>
        </p:nvSpPr>
        <p:spPr>
          <a:xfrm>
            <a:off x="5004197" y="1406872"/>
            <a:ext cx="305060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핵심 성과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8083376" y="1441698"/>
            <a:ext cx="66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KEY METRICS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2734" y="1690836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32734" y="169440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6078" y="1690836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734" y="2396840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3450" y="1690836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8466" y="1938412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2.41</a:t>
            </a:r>
            <a:r>
              <a:rPr lang="en-US" sz="800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5768578" y="1916981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890022" y="1927361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endParaRPr lang="en-US" sz="703" dirty="0"/>
          </a:p>
        </p:txBody>
      </p:sp>
      <p:sp>
        <p:nvSpPr>
          <p:cNvPr id="51" name="Text 49"/>
          <p:cNvSpPr/>
          <p:nvPr/>
        </p:nvSpPr>
        <p:spPr>
          <a:xfrm>
            <a:off x="5890022" y="2057735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최고 성능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08181" y="194555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25326" y="196270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↘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732734" y="2471849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2734" y="2475421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6078" y="2471849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2734" y="3177853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43450" y="2471849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8466" y="271942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r>
              <a:rPr lang="en-US" sz="1688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+</a:t>
            </a:r>
            <a:endParaRPr lang="en-US" sz="1688" dirty="0"/>
          </a:p>
        </p:txBody>
      </p:sp>
      <p:sp>
        <p:nvSpPr>
          <p:cNvPr id="60" name="Text 58"/>
          <p:cNvSpPr/>
          <p:nvPr/>
        </p:nvSpPr>
        <p:spPr>
          <a:xfrm>
            <a:off x="5768578" y="2697993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90022" y="2708374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인텐트</a:t>
            </a:r>
            <a:endParaRPr lang="en-US" sz="703" dirty="0"/>
          </a:p>
        </p:txBody>
      </p:sp>
      <p:sp>
        <p:nvSpPr>
          <p:cNvPr id="62" name="Text 60"/>
          <p:cNvSpPr/>
          <p:nvPr/>
        </p:nvSpPr>
        <p:spPr>
          <a:xfrm>
            <a:off x="5890022" y="2838748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의도 분류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308181" y="272656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325326" y="274371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◯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4732734" y="3252862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732734" y="3256434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26078" y="3252862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2734" y="3958865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43450" y="3252862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8466" y="3529013"/>
            <a:ext cx="114355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kern="0" spc="-25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end-to-end</a:t>
            </a:r>
            <a:endParaRPr lang="en-US" sz="1238" dirty="0"/>
          </a:p>
        </p:txBody>
      </p:sp>
      <p:sp>
        <p:nvSpPr>
          <p:cNvPr id="71" name="Text 69"/>
          <p:cNvSpPr/>
          <p:nvPr/>
        </p:nvSpPr>
        <p:spPr>
          <a:xfrm>
            <a:off x="5897612" y="3479006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019056" y="3489387"/>
            <a:ext cx="24891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검증</a:t>
            </a:r>
            <a:endParaRPr lang="en-US" sz="703" dirty="0"/>
          </a:p>
        </p:txBody>
      </p:sp>
      <p:sp>
        <p:nvSpPr>
          <p:cNvPr id="73" name="Text 71"/>
          <p:cNvSpPr/>
          <p:nvPr/>
        </p:nvSpPr>
        <p:spPr>
          <a:xfrm>
            <a:off x="6019056" y="3619760"/>
            <a:ext cx="2283567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디스코드 자동 발송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308181" y="3507581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325326" y="35247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4732734" y="4033875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732734" y="4037447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26078" y="4033875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2734" y="473987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43450" y="4033875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68466" y="4281450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1013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/4</a:t>
            </a:r>
            <a:endParaRPr lang="en-US" sz="1688" dirty="0"/>
          </a:p>
        </p:txBody>
      </p:sp>
      <p:sp>
        <p:nvSpPr>
          <p:cNvPr id="82" name="Text 80"/>
          <p:cNvSpPr/>
          <p:nvPr/>
        </p:nvSpPr>
        <p:spPr>
          <a:xfrm>
            <a:off x="5768578" y="4260019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890022" y="4270400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</a:t>
            </a:r>
            <a:endParaRPr lang="en-US" sz="703" dirty="0"/>
          </a:p>
        </p:txBody>
      </p:sp>
      <p:sp>
        <p:nvSpPr>
          <p:cNvPr id="84" name="Text 82"/>
          <p:cNvSpPr/>
          <p:nvPr/>
        </p:nvSpPr>
        <p:spPr>
          <a:xfrm>
            <a:off x="5890022" y="4400773"/>
            <a:ext cx="2419052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교통 · 출근지 · 니치 · 피드백 전부 구현 완료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308181" y="4288594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325326" y="430573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7169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7169" y="2000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36831" y="45434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3925" y="4936331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327720"/>
            <a:ext cx="50006" cy="50006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285750"/>
            <a:ext cx="74608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127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THANK YOU · WEATHERCHECK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03778" y="285750"/>
            <a:ext cx="993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42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25 / 25 </a:t>
            </a:r>
            <a:r>
              <a:rPr lang="en-US" sz="800" kern="0" spc="42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 END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40477" y="1225376"/>
            <a:ext cx="206293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19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</a:t>
            </a:r>
            <a:r>
              <a:rPr lang="en-US" sz="700" kern="0" spc="19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학습 프로젝트 회고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74320" y="1443261"/>
            <a:ext cx="8595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kern="0" spc="-24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감사합니다</a:t>
            </a:r>
            <a:r>
              <a:rPr lang="en-US" sz="5400" b="1" kern="0" spc="-243" dirty="0">
                <a:solidFill>
                  <a:srgbClr val="06B6D4"/>
                </a:solidFill>
                <a:latin typeface="Calibri" pitchFamily="34" charset="0"/>
                <a:ea typeface="Calibri" pitchFamily="34"/>
                <a:cs typeface="Calibri" pitchFamily="34"/>
              </a:rPr>
              <a:t>.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3422972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87864" y="2243361"/>
            <a:ext cx="196827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759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ML → DL → LLM/RAG · </a:t>
            </a:r>
            <a:r>
              <a:rPr lang="en-US" sz="759" kern="0" spc="3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개인형 출근 비서</a:t>
            </a:r>
            <a:endParaRPr lang="en-US" sz="759" dirty="0"/>
          </a:p>
        </p:txBody>
      </p:sp>
      <p:sp>
        <p:nvSpPr>
          <p:cNvPr id="14" name="Text 11"/>
          <p:cNvSpPr/>
          <p:nvPr/>
        </p:nvSpPr>
        <p:spPr>
          <a:xfrm>
            <a:off x="5535290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75134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06" y="2552328"/>
            <a:ext cx="285750" cy="2143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02732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▿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1193006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93006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여정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93006" y="3007742"/>
            <a:ext cx="2024025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을 한 테마로 연결하니 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각 단계가 자연스럽게 다음 단계의 재료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가 됨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442060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632" y="2552328"/>
            <a:ext cx="285750" cy="214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9657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266" dirty="0"/>
          </a:p>
        </p:txBody>
      </p:sp>
      <p:sp>
        <p:nvSpPr>
          <p:cNvPr id="24" name="Text 19"/>
          <p:cNvSpPr/>
          <p:nvPr/>
        </p:nvSpPr>
        <p:spPr>
          <a:xfrm>
            <a:off x="3559932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559932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데이터의 힘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559932" y="3007742"/>
            <a:ext cx="2024025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데이터 충분해야 진가. </a:t>
            </a:r>
            <a:r>
              <a:rPr lang="en-US" sz="7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확장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결정적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5808985" y="2548756"/>
            <a:ext cx="2259881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557" y="2552328"/>
            <a:ext cx="285750" cy="2143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36694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266" dirty="0"/>
          </a:p>
        </p:txBody>
      </p:sp>
      <p:sp>
        <p:nvSpPr>
          <p:cNvPr id="30" name="Text 24"/>
          <p:cNvSpPr/>
          <p:nvPr/>
        </p:nvSpPr>
        <p:spPr>
          <a:xfrm>
            <a:off x="5926857" y="2652340"/>
            <a:ext cx="202413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03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926857" y="2793429"/>
            <a:ext cx="202413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운용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926857" y="3007742"/>
            <a:ext cx="2024137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로컬에서 끝까지 돌려보니 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비용·지연·프라이버시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이점 체감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428625" y="4662190"/>
            <a:ext cx="72366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2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github.com/50seok/WeatherCheck </a:t>
            </a:r>
            <a:r>
              <a:rPr lang="en-US" sz="800" kern="0" spc="26" dirty="0">
                <a:solidFill>
                  <a:srgbClr val="06B6D4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r>
              <a:rPr lang="en-US" sz="800" kern="0" spc="2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 </a:t>
            </a:r>
            <a:r>
              <a:rPr lang="en-US" sz="800" kern="0" spc="26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2026-07-07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656671" y="4577058"/>
            <a:ext cx="1081564" cy="293494"/>
          </a:xfrm>
          <a:prstGeom prst="roundRect">
            <a:avLst>
              <a:gd name="adj" fmla="val 3242136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7972425" y="4668441"/>
            <a:ext cx="6215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Q</a:t>
            </a:r>
            <a:r>
              <a:rPr lang="en-US" sz="731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&amp;</a:t>
            </a:r>
            <a:r>
              <a:rPr lang="en-US" sz="731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31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환영합니다</a:t>
            </a:r>
            <a:endParaRPr lang="en-US" sz="731" dirty="0"/>
          </a:p>
        </p:txBody>
      </p:sp>
      <p:sp>
        <p:nvSpPr>
          <p:cNvPr id="42" name="Text 36"/>
          <p:cNvSpPr/>
          <p:nvPr/>
        </p:nvSpPr>
        <p:spPr>
          <a:xfrm>
            <a:off x="7800975" y="46666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◌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4335</Words>
  <Application>Microsoft Office PowerPoint</Application>
  <PresentationFormat>화면 슬라이드 쇼(16:9)</PresentationFormat>
  <Paragraphs>582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맑은 고딕</vt:lpstr>
      <vt:lpstr>Arial</vt:lpstr>
      <vt:lpstr>Arial Narrow</vt:lpstr>
      <vt:lpstr>Calibri</vt:lpstr>
      <vt:lpstr>Courier New</vt:lpstr>
      <vt:lpstr>Segoe UI 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YEONGSEOK OH</cp:lastModifiedBy>
  <cp:revision>15</cp:revision>
  <dcterms:created xsi:type="dcterms:W3CDTF">2026-07-05T08:56:16Z</dcterms:created>
  <dcterms:modified xsi:type="dcterms:W3CDTF">2026-07-07T00:05:42Z</dcterms:modified>
</cp:coreProperties>
</file>