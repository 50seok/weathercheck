
<file path=[Content_Types].xml><?xml version="1.0" encoding="utf-8"?>
<Types xmlns="http://schemas.openxmlformats.org/package/2006/content-types">
  <Default Extension="file" ContentType="image/fil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80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795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안녕하세요, 학습 프로젝트 WeatherCheck를 발표하겠습니다.
- 한 줄 피치: 기상청은 날씨를 알려주지만, 제 비서는 '내가 뭘 해야 할지'를 알려줍니다.
- ML → DL → LLM/RAG 순서로 한 테마를 점진 확장하며 풀스택으로 구현한 여정입니다.
- 총 18장, 약 15분 진행 예정입니다.
- 끝에 Q&amp;A 시간을 갖겠습니다.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전체는 4개 챕터로 구성됩니다 — 시작하며, Phase 1 ML, Phase 2 DL, Phase 3 LLM/RAG.
- ML → DL → LLM 순서로 한 테마를 점진 확장한 여정을 보여드립니다.
- 마지막 챕터에 핵심 성과와 회고를 묶어 담았습니다.
- 발표 소요 시간은 약 15분입니다.
- 마지막에 질의응답 시간을 갖겠습니다.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첫 번째 챕터로 넘어갑니다.
- "먼저 프로젝트 배경과 목표부터 이야기하겠습니다."라고 전환하세요.
- 기존 날씨 앱의 한계와 우리가 풀고자 한 진짜 문제를 짚어주세요.
- 4장 중 1장 — 차별화 포인트를 강조하며 시작하세요.
- 이 챕터는 총 4장(슬라이드 3–6)으로 구성됩니다.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기존 날씨 앱은 '18°C, 강수확률 70%' 같은 숫자만 던져줍니다.
- 사용자가 진짜 원하는 건 '우산 챙길까, 자전거 타도 될까' 같은 행동 지침입니다.
- 기상청 예보는 정확하지만 '그래서 뭘 해야 하나'가 빠져 있습니다.
- 일반 날씨봇은 누구에게나 같은 답을 줍니다 — 내 체감과 출근 루트를 모릅니다.
- 그래서 '공개 날씨 예측'이 아니라 '나의 출근 결정 예측'으로 문제를 다시 정의했습니다 — 이게 차별화입니다.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가장 중요한 차별화는 ① 개인 체감 학습 — 피드백 버튼으로 내 체감온도를 학습하는 루프입니다.
- ② 니치 타겟은 모두를 위한 날씨가 아니라 자전거 통근족 같은 특정 상황 전용으로 좁힌 전략입니다.
- ③ 출근지 등록하면 날씨와 출퇴근 소요시간을 한 번에 브리핑합니다.
- 세 가지를 합치면 '나만의 출근 비서'가 완성됩니다.
- 시그니처 기능은 단연 피드백 루프 — 회고에서도 핵심으로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핵심은 하나의 테마 — 날씨 — 를 ML, DL, LLM/RAG 세 단계로 점진 확장했다는 점입니다.
- Phase 1 ML 결과물(MAE 2.50°C)이 Phase 2 DL의 입력이 되고, DL 예측이 Phase 3 LLM/RAG의 입력이 됩니다.
- 각 단계는 학습 여정과 1:1로 매핑됩니다 — 학습 목표와 제품 목표가 같은 선상에 있습니다.
- Phase 2에서 DL이 ML을 역전한 게 핵심 학습 포인트입니다.
- Phase 3에서 자연어 브리핑 + 디스코드 알림으로 end-to-end 자동 발송을 완성합니다.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이제 첫 단계 ML부터 보겠습니다.
- scikit-learn 기반으로 회귀와 분류 기본기를 다졌습니다.
- LR → RF → XGB 순서로 점진 적용한 흐름을 짚어주세요.
- Phase 1의 핵심 결과(MAE 2.50°C)를 한 줄로 언급하세요.
- 다음 슬라이드에서 데이터 수집과 EDA를 자세히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처음엔 합성 데이터로 프로토타입을 만들었습니다.
- 이후 10.5년 실데이터(기상청 ASOS 서울 108)로 교체했습니다.
- 이 데이터 확장이 뒤의 DL이 ML을 역전하는 결정적 계기가 됩니다.
- 피처는 7개 — 기온/습도/기압/풍속/강수량을 기본으로 사용했습니다.
- 입력 X는 오늘 값, 정답 y는 내일 기온(회귀)과 비 여부(분류)입니다.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수치형 피처 7개 간 Pearson 상관계수 히트맵을 그려 타깃 설계와 다중공선성을 점검했습니다.
- temp_avg·max·min 세 기온 피처는 0.95 이상 거의 완벽한 양의 상관 — 일교차 패턴이 안정적이라 타깃으로 신뢰 가능.
- pressure와 temp_avg는 약 -0.7 음의 상관으로 기상 물리패턴이 데이터에 그대로 드러남을 확인.
- wind_speed는 다른 피처와 상관이 0.3 이하로 낮아 독립 정보원 — 분류 모델에서 정보 이득을 기대하며 킵.
- 상관관계 분석 결과를 토대로 회귀 타깃을 temp_max/min로, 분류 입력에 풍속을 유지하는 설계 결정을 내렸습니다.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모델은 단순한 것부터 적용했습니다 — LinearRegression → RandomForest → XGBoost.
- LinearRegression이 회귀 MAE 2.50°C로 가장 좋았습니다.
- XGBoost는 과적합 경향이 보여 이 데이터에는 부적합 판단했습니다.
- 잔차가 0 주변에 무작위 분포 → 체계적 편향이 없음을 확인했습니다.
- 다음 슬라이드에서 시계열 특성을 잡기 위해 DL로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회귀 MAE만 보면 모델을 과신하기 쉬워 분류 성능(혼동행렬)과 피처 기여도(중요도)로 교차 검증했습니다.
- 혼동행렬: LogisticRegression 강수 이진분류 Accuracy 0.71 — TN·TP 비율은 높지만 FN(비를 못 맞춤)이 주요 오차.
- 즉 강수 분류는 기온 회귀보다 어려운 문제라는 점을 정량으로 확인했습니다.
- 피처 중요도: RandomForest 기준 어제 강수량·현재 습도가 상위 — 도메인 직관과 일치.
- 풍속·기압은 중요도가 낮지만 분류에는 기여하는 바가 있어 입력에서 제외하지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ML 다음 단계로, 날씨 데이터의 시계열 특성을 잡기 위해 DL을 도입했습니다.
- ML은 행 단위 학습이라 순서를 잘 보지 못합니다.
- LSTM은 7일 시퀀스를 입력받아 흐름을 기억합니다.
- Keras로 단층 LSTM부터 시작해 멀티헤드 출력까지 확장합니다.
- 다음 슬라이드에서 설계 배경과 학습 구조를 보여드립니다.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날씨는 순서가 중요한 시계열 데이터입니다 — 어제·그제 흐름이 내일에 영향.
- ML은 행 단위로 학습해서 순서를 잘 잡지 못합니다.
- LSTM은 7일 시퀀스를 입력받아 흐름을 기억합니다.
- 단층 LSTM(32) + 멀티헤드로 회귀(최고/최저기온)와 분류(비 여부)를 동시에 학습합니다.
- 손실 곡선 그래프에서 과적합 없이 깔끔하게 수렴한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같은 10.5년 데이터로 ML(LR)과 LSTM을 정량 비교했습니다.
- 회귀 MAE — LSTM 2.41°C vs ML 2.50°C, LSTM이 근소하게 역전했습니다.
- 분류 Accuracy — 거의 동률(0.706 vs 0.714)로 DL 우위는 아니었습니다.
- 핵심 학습 포인트: 데이터가 2.5년일 때는 DL이 ML을 못 이겼지만 10.5년이 되자 역전했습니다.
- "DL은 데이터 충분해야 진가 발휘" — 이 한 줄을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시계열 예측 결과 차트입니다 — 파란 선이 예측, 회색 점이 실측입니다.
- 과거 7일 시퀀스로 향후 며칠의 기온 흐름을 한 번에 예측합니다.
- 예측선이 실측선의 흐름을 잘 따라가는 것을 확인하세요.
- 학습된 모델은 .keras 파일로 저장해 Phase 3에서 재사용합니다.
- contract.md 스키마로 Track B(LLM/RAG)에 source=lstm으로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마지막 단계인 Phase 3로 넘어갑니다 — LLM과 RAG를 결합해 출근 비서를 완성합니다.
 - 지금까지 만든 DL 예측 결과를 사람이 읽기 쉬운 자연어로 번역하는 것이 핵심입니다.
 - 매일 아침 디스코드로 폰에 자동 발송되는 구조를 만들어 사용자 경험을 완성합니다.
 - 로컬 sLLM으로 운용해 비용·지연·프라이버시 이점까지 챙긴 점을 강조하겠습니다.
 - 전환점: 외부 API → 로컬 Ollama EXAONE 3.5 7.8B (과제 취지에 부합).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- 5단계 파이프라인: DL 예측 → 교통 API → RAG 검색 → 로컬 sLLM → 디스코드 알림.
 - 임베딩 전환: Chroma ONNX 79MB 다운로드 timeout 문제로 TF-IDF로 교체 — 문서 수가 적어 즉시 처리 가능.
 - sLLM 전환 배경: 선생님 과제 취지(외부 API 대신 직접 운용 학습) + 비용·프라이버시 이점.
 - temperature=0 고정으로 의도 분류 비결정적 문제 해결, 분류 완전 일치.
 - RTX 4060 8GB에서 8~12초 응답, keep_alive=30m 설정으로 상시 로드해 첫 응답 지연 방지.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디스코드 봇은 자연어 의도 분류(15+ 인텐트)로 한 채널에서 모든 기능을 처리 — 복수 명령어 불필요.
 - 니치 타겟(자전거 통근족)은 별도 지식 폴더 1:1 직접 읽기로 오검색 방지, 전용 섹션 분리 생성.
 - 체감 피드백 루프(🥶/👍/🥵)가 핵심 시그니처 PRD 기능 — 누적 평균으로 체감온도 보정치 계산해 자동 반영.
 - 출근지 등록 한 번이면 날씨+소요시간 같이 발송, 자전거 니치일 땐 자동 생략해 UX 일관성 유지.
 - 자연어 시각 설정(매일 8시에 알려줘) + @멘션 푸시 + 도움말 자동 핀으로 사용성 완성.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코드 베이스는 20개 모듈로 책임 분리 — 데이터/예측/서비스 3계층 + Track A·B·인프라·테스트 4축으로 정리.
- 데이터 계층: KMA CSV → import_kma.py로 정제, generate_data.py는 합성 폴백.
- 예측 계층: ML(src/ml/predict.py)과 DL(src/dl/predict.py)을 src/predictor.py 파사드로 통합 → contract.md 스키마 반환.
- 서비스 계층: predictor.py → briefing.py(RAG+LLM) + app.py(Streamlit) → discord_chat_bot.py(15+ 인텐트).
- 핵심은 predictor.py 파사드 — Track B는 ML/DL 내부를 몰라도 get_prediction() 한 번으로 예측값을 가져가 결합도를 분리.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- 4개 디버깅 사가 모델·시스템 신뢰성을 만들었다 — 데이터 확장(2.5→10.5년), 임베딩 TF-IDF 교체, sLLM temperature=0, User-Agent 헤더.
- 가장 좋아하는 스토리 2~3개만 시간 가면서 풀기 — 데이터 확장과 temperature=0이 임팩트 컸음.
- 핵심 성과 4개: 회귀 MAE 2.41°C(LSTM 최고), 15+ 인텐트(로컬 sLLM 분류), end-to-end 검증(전 파이프라인 자동 발송), 4/4 차별화(교통·출근지·니치·피드백).
- 차별화 4/4는 PRD에 적어둔 시그니처 기능이 전부 구현 완료됐다는 의미 — 학습 프로젝트지만 스펙 완성도 강조.
- end-to-end는 ML→DL→RAG→sLLM→디스코드가 한 줄로 자동 발송된다는 것 — 각 단계가 서로를 부르는 연쇄 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발표를 들어주신 선생님과 청중에게 감사 인사 전달.
- 핵심 회고 3가지 — 학습 여정의 연결성(ML→DL→LLM이 한 테마로 자연스럽게 이어짐), 데이터 확장의 결정적 역할(2.5→10.5년이 LSTM 우위 견인), 로컬 sLLM 운용의 실전 이점(비용·지연·프라이버시) 체감.
- 다음 스텝 3가지 안내 — 캘린더 연동, 니치 확장(배달 라이더), 옷차림 캐릭터 추천.
- github.com/50seok/WeatherCheck에서 코드 전체 공개, 발표일 2026-07-07.
- Q&amp;A 시간 가질 예정 — 자유롭게 질문 환영, 끝까지 들어줘서 감사.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file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490" y="389549"/>
            <a:ext cx="1375350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13296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PROJECT SHOWCASE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68556" y="412552"/>
            <a:ext cx="5777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9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COVER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1780803"/>
            <a:ext cx="6229121" cy="791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5771"/>
              </a:lnSpc>
              <a:buNone/>
            </a:pPr>
            <a:r>
              <a:rPr lang="en-US" sz="6075" b="1" kern="0" spc="-273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WeatherCheck</a:t>
            </a:r>
            <a:endParaRPr lang="en-US" sz="6075" dirty="0"/>
          </a:p>
        </p:txBody>
      </p:sp>
      <p:sp>
        <p:nvSpPr>
          <p:cNvPr id="6" name="Text 4"/>
          <p:cNvSpPr/>
          <p:nvPr/>
        </p:nvSpPr>
        <p:spPr>
          <a:xfrm>
            <a:off x="514350" y="2699445"/>
            <a:ext cx="5740146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6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16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</a:t>
            </a:r>
            <a:r>
              <a:rPr lang="en-US" sz="16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16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</a:t>
            </a:r>
            <a:r>
              <a:rPr lang="en-US" sz="16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16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/</a:t>
            </a:r>
            <a:r>
              <a:rPr lang="en-US" sz="16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16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로 만드는 개인형 출근 비서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514350" y="3078063"/>
            <a:ext cx="4629150" cy="203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기상청은 날씨를 알려주지만, 내 비서는 내가 뭘 해야 할지를 알려준다.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6115050" y="985838"/>
            <a:ext cx="2514600" cy="967978"/>
          </a:xfrm>
          <a:prstGeom prst="roundRect">
            <a:avLst>
              <a:gd name="adj" fmla="val 11808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72213" y="1114425"/>
            <a:ext cx="22002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PHASE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72213" y="1260872"/>
            <a:ext cx="47916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kern="0" spc="-40" dirty="0">
                <a:solidFill>
                  <a:srgbClr val="FFFFFF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6657417" y="1396603"/>
            <a:ext cx="181507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endParaRPr lang="en-US" sz="1069" dirty="0"/>
          </a:p>
        </p:txBody>
      </p:sp>
      <p:sp>
        <p:nvSpPr>
          <p:cNvPr id="12" name="Text 10"/>
          <p:cNvSpPr/>
          <p:nvPr/>
        </p:nvSpPr>
        <p:spPr>
          <a:xfrm>
            <a:off x="6272213" y="1675209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/>
                <a:cs typeface="Calibri" pitchFamily="34"/>
              </a:rPr>
              <a:t>scikit-learn</a:t>
            </a: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기본기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6115050" y="2039541"/>
            <a:ext cx="2514600" cy="967978"/>
          </a:xfrm>
          <a:prstGeom prst="roundRect">
            <a:avLst>
              <a:gd name="adj" fmla="val 11808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72213" y="2168128"/>
            <a:ext cx="22002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0E7490">
                    <a:alpha val="75000"/>
                  </a:srgbClr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PHASE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72213" y="2314575"/>
            <a:ext cx="47916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kern="0" spc="-4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6657417" y="2450306"/>
            <a:ext cx="181507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6272213" y="2728913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0E7490">
                    <a:alpha val="85000"/>
                  </a:srgbClr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88" dirty="0">
                <a:solidFill>
                  <a:srgbClr val="0E7490">
                    <a:alpha val="85000"/>
                  </a:srgbClr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시계열 딥러닝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6115050" y="3093244"/>
            <a:ext cx="2514600" cy="967978"/>
          </a:xfrm>
          <a:prstGeom prst="roundRect">
            <a:avLst>
              <a:gd name="adj" fmla="val 11808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72213" y="3221831"/>
            <a:ext cx="22002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PHASE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72213" y="3368278"/>
            <a:ext cx="47916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kern="0" spc="-40" dirty="0">
                <a:solidFill>
                  <a:srgbClr val="FFFFFF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6657417" y="3504009"/>
            <a:ext cx="181507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LLM/RAG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6272213" y="3782616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로컬 </a:t>
            </a: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출근 비서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514350" y="4414838"/>
            <a:ext cx="219456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87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발표자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14350" y="4561284"/>
            <a:ext cx="160751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학습 프로젝트 (</a:t>
            </a:r>
            <a:r>
              <a:rPr lang="en-US" sz="956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</a:t>
            </a:r>
            <a:r>
              <a:rPr lang="en-US" sz="956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</a:t>
            </a:r>
            <a:r>
              <a:rPr lang="en-US" sz="956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</a:t>
            </a:r>
            <a:endParaRPr lang="en-US" sz="956" dirty="0"/>
          </a:p>
        </p:txBody>
      </p:sp>
      <p:sp>
        <p:nvSpPr>
          <p:cNvPr id="25" name="Text 23"/>
          <p:cNvSpPr/>
          <p:nvPr/>
        </p:nvSpPr>
        <p:spPr>
          <a:xfrm>
            <a:off x="2228850" y="4414838"/>
            <a:ext cx="219456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87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제출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28850" y="4561284"/>
            <a:ext cx="171724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2026-07-07</a:t>
            </a:r>
            <a:endParaRPr lang="en-US" sz="956" dirty="0"/>
          </a:p>
        </p:txBody>
      </p:sp>
      <p:sp>
        <p:nvSpPr>
          <p:cNvPr id="27" name="Text 25"/>
          <p:cNvSpPr/>
          <p:nvPr/>
        </p:nvSpPr>
        <p:spPr>
          <a:xfrm>
            <a:off x="7210276" y="4625578"/>
            <a:ext cx="15329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github.com/50seok/WeatherCheck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CONTENTS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6296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713"/>
              </a:lnSpc>
              <a:buNone/>
            </a:pPr>
            <a:r>
              <a:rPr lang="en-US" sz="2475" b="1" kern="0" spc="-4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목차 </a:t>
            </a:r>
            <a:r>
              <a:rPr lang="en-US" sz="2475" b="1" kern="0" spc="-49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(Agenda)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164431"/>
            <a:ext cx="457200" cy="21431"/>
          </a:xfrm>
          <a:prstGeom prst="roundRect">
            <a:avLst>
              <a:gd name="adj" fmla="val 8889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14350" y="140821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57140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371600" y="1554659"/>
            <a:ext cx="6732091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시작하며 · 프로젝트 개요</a:t>
            </a:r>
            <a:endParaRPr lang="en-US" sz="1463" dirty="0"/>
          </a:p>
        </p:txBody>
      </p:sp>
      <p:sp>
        <p:nvSpPr>
          <p:cNvPr id="8" name="Text 6"/>
          <p:cNvSpPr/>
          <p:nvPr/>
        </p:nvSpPr>
        <p:spPr>
          <a:xfrm>
            <a:off x="1371600" y="1806029"/>
            <a:ext cx="6924437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배경·문제 정의 / 목표·차별화 전략 / 전체 아키텍처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7960281" y="1673415"/>
            <a:ext cx="692229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83141" y="1683916"/>
            <a:ext cx="6465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슬라이드 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–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4350" y="213464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229783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371600" y="2281089"/>
            <a:ext cx="6682398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Phase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463" b="1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날씨 예측 모델</a:t>
            </a:r>
            <a:endParaRPr lang="en-US" sz="1463" dirty="0"/>
          </a:p>
        </p:txBody>
      </p:sp>
      <p:sp>
        <p:nvSpPr>
          <p:cNvPr id="14" name="Text 12"/>
          <p:cNvSpPr/>
          <p:nvPr/>
        </p:nvSpPr>
        <p:spPr>
          <a:xfrm>
            <a:off x="1371600" y="2532459"/>
            <a:ext cx="687332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 수집·</a:t>
            </a:r>
            <a:r>
              <a:rPr lang="en-US" sz="95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EDA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/ 상관관계 / 모델 </a:t>
            </a:r>
            <a:r>
              <a:rPr lang="en-US" sz="956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종 비교 / 분류 평가·피처 중요도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7912953" y="2399845"/>
            <a:ext cx="739557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35813" y="2410346"/>
            <a:ext cx="6938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슬라이드 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–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14350" y="286107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350" y="302426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371600" y="3007519"/>
            <a:ext cx="6632704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Phase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463" b="1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시계열 딥러닝</a:t>
            </a:r>
            <a:endParaRPr lang="en-US" sz="1463" dirty="0"/>
          </a:p>
        </p:txBody>
      </p:sp>
      <p:sp>
        <p:nvSpPr>
          <p:cNvPr id="20" name="Text 18"/>
          <p:cNvSpPr/>
          <p:nvPr/>
        </p:nvSpPr>
        <p:spPr>
          <a:xfrm>
            <a:off x="1371600" y="3258889"/>
            <a:ext cx="682221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도입·학습 구조 / </a:t>
            </a:r>
            <a:r>
              <a:rPr lang="en-US" sz="95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95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vs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95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정확도 / 시계열 예측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7865626" y="3126275"/>
            <a:ext cx="786884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88486" y="3136776"/>
            <a:ext cx="7411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슬라이드 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12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–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15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14350" y="358750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350" y="431393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350" y="375069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371600" y="3733949"/>
            <a:ext cx="6822210" cy="223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Phase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463" b="1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/</a:t>
            </a:r>
            <a:r>
              <a:rPr lang="en-US" sz="1463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1463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출근 비서 + 코드 구조 + 회고</a:t>
            </a:r>
            <a:endParaRPr lang="en-US" sz="1463" dirty="0"/>
          </a:p>
        </p:txBody>
      </p:sp>
      <p:sp>
        <p:nvSpPr>
          <p:cNvPr id="27" name="Text 25"/>
          <p:cNvSpPr/>
          <p:nvPr/>
        </p:nvSpPr>
        <p:spPr>
          <a:xfrm>
            <a:off x="1371600" y="3985320"/>
            <a:ext cx="682221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파이프라인 / 디스코드 봇 / 코드 리뷰 </a:t>
            </a:r>
            <a:r>
              <a:rPr lang="en-US" sz="956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95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장 / 트러블슈팅 / 성과·회고</a:t>
            </a:r>
            <a:endParaRPr lang="en-US" sz="956" dirty="0"/>
          </a:p>
        </p:txBody>
      </p:sp>
      <p:sp>
        <p:nvSpPr>
          <p:cNvPr id="28" name="Text 26"/>
          <p:cNvSpPr/>
          <p:nvPr/>
        </p:nvSpPr>
        <p:spPr>
          <a:xfrm>
            <a:off x="7865626" y="3852705"/>
            <a:ext cx="786884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88486" y="3863206"/>
            <a:ext cx="7411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슬라이드 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16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–</a:t>
            </a:r>
            <a:r>
              <a:rPr lang="en-US" sz="700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25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14350" y="461129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◔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85800" y="4593431"/>
            <a:ext cx="7943850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전체 발표 약 </a:t>
            </a:r>
            <a:r>
              <a:rPr lang="en-US" sz="788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15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분 · 마지막에 </a:t>
            </a:r>
            <a:r>
              <a:rPr lang="en-US" sz="788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Q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&amp;</a:t>
            </a:r>
            <a:r>
              <a:rPr lang="en-US" sz="788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A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를 받습니다</a:t>
            </a:r>
            <a:endParaRPr lang="en-US" sz="7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67365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11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SECTION DIVIDER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265194" y="41790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❏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436644" y="400050"/>
            <a:ext cx="1312307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WeatherCheck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788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장 중 </a:t>
            </a:r>
            <a:r>
              <a:rPr lang="en-US" sz="788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장</a:t>
            </a:r>
            <a:endParaRPr lang="en-US" sz="788" dirty="0"/>
          </a:p>
        </p:txBody>
      </p:sp>
      <p:sp>
        <p:nvSpPr>
          <p:cNvPr id="5" name="Text 3"/>
          <p:cNvSpPr/>
          <p:nvPr/>
        </p:nvSpPr>
        <p:spPr>
          <a:xfrm>
            <a:off x="514350" y="1609465"/>
            <a:ext cx="5143500" cy="156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85"/>
              </a:lnSpc>
              <a:buNone/>
            </a:pPr>
            <a:r>
              <a:rPr lang="en-US" sz="12375" b="1" kern="0" spc="-619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</a:t>
            </a:r>
            <a:endParaRPr lang="en-US" sz="12375" dirty="0"/>
          </a:p>
        </p:txBody>
      </p:sp>
      <p:sp>
        <p:nvSpPr>
          <p:cNvPr id="6" name="Text 4"/>
          <p:cNvSpPr/>
          <p:nvPr/>
        </p:nvSpPr>
        <p:spPr>
          <a:xfrm>
            <a:off x="514350" y="3226743"/>
            <a:ext cx="68580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18359" y="1648867"/>
            <a:ext cx="0" cy="156716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7681" y="1648867"/>
            <a:ext cx="4321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110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BACKGROUND &amp; 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07681" y="1884611"/>
            <a:ext cx="4321969" cy="6480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4725"/>
              </a:lnSpc>
              <a:buNone/>
            </a:pPr>
            <a:r>
              <a:rPr lang="en-US" sz="4725" b="1" kern="0" spc="-165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시작하며</a:t>
            </a:r>
            <a:endParaRPr lang="en-US" sz="4725" dirty="0"/>
          </a:p>
        </p:txBody>
      </p:sp>
      <p:sp>
        <p:nvSpPr>
          <p:cNvPr id="10" name="Text 8"/>
          <p:cNvSpPr/>
          <p:nvPr/>
        </p:nvSpPr>
        <p:spPr>
          <a:xfrm>
            <a:off x="4307681" y="2684711"/>
            <a:ext cx="4321969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왜 이 프로젝트를 시작했는지,</a:t>
            </a:r>
            <a:endParaRPr lang="en-US" sz="1350" dirty="0"/>
          </a:p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무엇을 차별화했는지.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14350" y="4489847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775" y="4607719"/>
            <a:ext cx="83046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배경 &amp; 문제 정의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514350" y="4593431"/>
            <a:ext cx="7817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·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85020" y="4607719"/>
            <a:ext cx="93761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목표 &amp; 차별화 전략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1467594" y="4593431"/>
            <a:ext cx="8675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·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23989" y="4607719"/>
            <a:ext cx="776383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전체 아키텍처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2506563" y="4593431"/>
            <a:ext cx="6603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·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31361" y="4609505"/>
            <a:ext cx="59828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슬라이드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–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 · WHY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6296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713"/>
              </a:lnSpc>
              <a:buNone/>
            </a:pPr>
            <a:r>
              <a:rPr lang="en-US" sz="2475" b="1" kern="0" spc="-4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배경 &amp; 문제 정의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3180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☰</a:t>
            </a:r>
            <a:endParaRPr lang="en-US" sz="1266" dirty="0"/>
          </a:p>
        </p:txBody>
      </p:sp>
      <p:sp>
        <p:nvSpPr>
          <p:cNvPr id="5" name="Text 3"/>
          <p:cNvSpPr/>
          <p:nvPr/>
        </p:nvSpPr>
        <p:spPr>
          <a:xfrm>
            <a:off x="728663" y="1264444"/>
            <a:ext cx="440055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기존 솔루션 한계</a:t>
            </a:r>
            <a:endParaRPr lang="en-US" sz="1238" dirty="0"/>
          </a:p>
        </p:txBody>
      </p:sp>
      <p:sp>
        <p:nvSpPr>
          <p:cNvPr id="6" name="Text 4"/>
          <p:cNvSpPr/>
          <p:nvPr/>
        </p:nvSpPr>
        <p:spPr>
          <a:xfrm>
            <a:off x="517922" y="1589484"/>
            <a:ext cx="4607719" cy="1582341"/>
          </a:xfrm>
          <a:prstGeom prst="roundRect">
            <a:avLst>
              <a:gd name="adj" fmla="val 7223"/>
            </a:avLst>
          </a:prstGeom>
          <a:noFill/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593056"/>
            <a:ext cx="4600575" cy="328613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1494" y="1918097"/>
            <a:ext cx="46005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944" y="1678781"/>
            <a:ext cx="2270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kern="0" spc="95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이름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2112094" y="1678781"/>
            <a:ext cx="28385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kern="0" spc="95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한계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521494" y="2336006"/>
            <a:ext cx="46005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944" y="20556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▯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892969" y="2035969"/>
            <a:ext cx="121912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날씨 앱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2112094" y="2035969"/>
            <a:ext cx="283852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오늘 날씨만 얘기해준다 , 해석은 내 몫</a:t>
            </a:r>
            <a:endParaRPr lang="en-US" sz="956" dirty="0"/>
          </a:p>
        </p:txBody>
      </p:sp>
      <p:sp>
        <p:nvSpPr>
          <p:cNvPr id="15" name="Shape 13"/>
          <p:cNvSpPr/>
          <p:nvPr/>
        </p:nvSpPr>
        <p:spPr>
          <a:xfrm>
            <a:off x="521494" y="2753916"/>
            <a:ext cx="46005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944" y="24735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☁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892969" y="2453878"/>
            <a:ext cx="121912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기상청 예보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2112094" y="2453878"/>
            <a:ext cx="283852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정확하지만 '그래서 뭘 해야 하나' 없음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692944" y="289143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892969" y="2871788"/>
            <a:ext cx="1219126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일반 날씨봇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2112094" y="2871788"/>
            <a:ext cx="298045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누구에게나 똑같음 (내 체감/루트 무시)</a:t>
            </a:r>
            <a:endParaRPr lang="en-US" sz="956" dirty="0"/>
          </a:p>
        </p:txBody>
      </p:sp>
      <p:sp>
        <p:nvSpPr>
          <p:cNvPr id="22" name="Text 20"/>
          <p:cNvSpPr/>
          <p:nvPr/>
        </p:nvSpPr>
        <p:spPr>
          <a:xfrm>
            <a:off x="514350" y="3289697"/>
            <a:ext cx="4614863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→ 세 접근 모두 '정보 전달'에 머물고, '결정 지원'은 빠져 있다.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5414963" y="2198489"/>
            <a:ext cx="3214688" cy="1014413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14963" y="2202061"/>
            <a:ext cx="3214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26078" y="2198489"/>
            <a:ext cx="0" cy="10144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14963" y="3209330"/>
            <a:ext cx="3214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29250" y="2198489"/>
            <a:ext cx="0" cy="1014413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00700" y="233422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◆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5815013" y="2337792"/>
            <a:ext cx="2650331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kern="0" spc="110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결론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5600700" y="2605683"/>
            <a:ext cx="286464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공개 날씨 예측이 아니라, </a:t>
            </a:r>
            <a:r>
              <a:rPr lang="en-US" sz="1238" b="1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나의 출근 브리핑</a:t>
            </a:r>
            <a:r>
              <a:rPr lang="en-US" sz="12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풀어야 의미 있고 차별화된다.</a:t>
            </a:r>
            <a:endParaRPr lang="en-US" sz="1238" dirty="0"/>
          </a:p>
        </p:txBody>
      </p:sp>
      <p:sp>
        <p:nvSpPr>
          <p:cNvPr id="31" name="Text 29"/>
          <p:cNvSpPr/>
          <p:nvPr/>
        </p:nvSpPr>
        <p:spPr>
          <a:xfrm>
            <a:off x="5418534" y="3330773"/>
            <a:ext cx="1557338" cy="475059"/>
          </a:xfrm>
          <a:prstGeom prst="roundRect">
            <a:avLst>
              <a:gd name="adj" fmla="val 280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22119" y="3420070"/>
            <a:ext cx="135016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FROM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22119" y="3566517"/>
            <a:ext cx="13501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공개 날씨 예측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7068741" y="3330773"/>
            <a:ext cx="1557338" cy="475059"/>
          </a:xfrm>
          <a:prstGeom prst="roundRect">
            <a:avLst>
              <a:gd name="adj" fmla="val 28070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72325" y="3420070"/>
            <a:ext cx="135016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TO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72325" y="3566517"/>
            <a:ext cx="13501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나의 출근 브리핑</a:t>
            </a:r>
            <a:endParaRPr lang="en-US" sz="7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 · GOAL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6296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713"/>
              </a:lnSpc>
              <a:buNone/>
            </a:pPr>
            <a:r>
              <a:rPr lang="en-US" sz="2475" b="1" kern="0" spc="-4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목표 &amp; 차별화 전략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491490" y="1251642"/>
            <a:ext cx="1645920" cy="289922"/>
          </a:xfrm>
          <a:prstGeom prst="roundRect">
            <a:avLst>
              <a:gd name="adj" fmla="val 328208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21556" y="1335881"/>
            <a:ext cx="9929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788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 맞춤 행동 지침 자동 발송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614363" y="1321594"/>
            <a:ext cx="14001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핵심 목표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2177415" y="1251642"/>
            <a:ext cx="1638776" cy="289922"/>
          </a:xfrm>
          <a:prstGeom prst="roundRect">
            <a:avLst>
              <a:gd name="adj" fmla="val 328208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07481" y="1335881"/>
            <a:ext cx="9858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 </a:t>
            </a:r>
            <a:r>
              <a:rPr lang="en-US" sz="7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→</a:t>
            </a:r>
            <a:r>
              <a:rPr lang="en-US" sz="7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→</a:t>
            </a:r>
            <a:r>
              <a:rPr lang="en-US" sz="7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풀스택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2300288" y="1321594"/>
            <a:ext cx="1393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학습 목표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3856196" y="1251642"/>
            <a:ext cx="1131570" cy="289922"/>
          </a:xfrm>
          <a:prstGeom prst="roundRect">
            <a:avLst>
              <a:gd name="adj" fmla="val 328208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79106" y="1335881"/>
            <a:ext cx="5857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 나만의 데이터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3979069" y="1321594"/>
            <a:ext cx="8858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차별화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514350" y="1728788"/>
            <a:ext cx="140974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차별화 전략 </a:t>
            </a:r>
            <a:r>
              <a:rPr lang="en-US" sz="1238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12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종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1585913" y="1843088"/>
            <a:ext cx="6447346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18983" y="1787723"/>
            <a:ext cx="7010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 PILLARS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4350" y="2107406"/>
            <a:ext cx="2609813" cy="2636044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14350" y="2110978"/>
            <a:ext cx="26098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0591" y="2107406"/>
            <a:ext cx="0" cy="263604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350" y="4739878"/>
            <a:ext cx="26098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8638" y="2107406"/>
            <a:ext cx="0" cy="2636044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0088" y="2243138"/>
            <a:ext cx="1710454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① 개인 체감 학습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2322857" y="2262997"/>
            <a:ext cx="659859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45717" y="2273498"/>
            <a:ext cx="6141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SIGNATURE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0088" y="2593181"/>
            <a:ext cx="2259769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피드백 버튼으로 나의 체감온도 학습 → 옷차림 조언에 반영. 프로젝트 시그니처 기능.</a:t>
            </a:r>
            <a:endParaRPr lang="en-US" sz="956" dirty="0"/>
          </a:p>
        </p:txBody>
      </p:sp>
      <p:sp>
        <p:nvSpPr>
          <p:cNvPr id="25" name="Shape 23"/>
          <p:cNvSpPr/>
          <p:nvPr/>
        </p:nvSpPr>
        <p:spPr>
          <a:xfrm>
            <a:off x="700088" y="4371975"/>
            <a:ext cx="225976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088" y="44916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71538" y="4489847"/>
            <a:ext cx="208831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FEEDBACK LOOP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70610" y="2110978"/>
            <a:ext cx="2602669" cy="2628900"/>
          </a:xfrm>
          <a:prstGeom prst="roundRect">
            <a:avLst>
              <a:gd name="adj" fmla="val 512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31344" y="2257425"/>
            <a:ext cx="228120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② 니치 타겟</a:t>
            </a:r>
            <a:endParaRPr lang="en-US" sz="1238" dirty="0"/>
          </a:p>
        </p:txBody>
      </p:sp>
      <p:sp>
        <p:nvSpPr>
          <p:cNvPr id="30" name="Text 28"/>
          <p:cNvSpPr/>
          <p:nvPr/>
        </p:nvSpPr>
        <p:spPr>
          <a:xfrm>
            <a:off x="3431344" y="2607469"/>
            <a:ext cx="2281200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모두의 날씨 → 특정 상황 전용 비서. </a:t>
            </a:r>
            <a:r>
              <a:rPr lang="en-US" sz="956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차: 자전거 통근족.</a:t>
            </a:r>
            <a:endParaRPr lang="en-US" sz="956" dirty="0"/>
          </a:p>
        </p:txBody>
      </p:sp>
      <p:sp>
        <p:nvSpPr>
          <p:cNvPr id="31" name="Shape 29"/>
          <p:cNvSpPr/>
          <p:nvPr/>
        </p:nvSpPr>
        <p:spPr>
          <a:xfrm>
            <a:off x="3431344" y="4357688"/>
            <a:ext cx="2281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1344" y="44773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⊕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3602794" y="4475559"/>
            <a:ext cx="21097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NICHE TARGET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23297" y="2110978"/>
            <a:ext cx="2602781" cy="2628900"/>
          </a:xfrm>
          <a:prstGeom prst="roundRect">
            <a:avLst>
              <a:gd name="adj" fmla="val 51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84032" y="2257425"/>
            <a:ext cx="2281312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③ 내 루틴 결합</a:t>
            </a:r>
            <a:endParaRPr lang="en-US" sz="1238" dirty="0"/>
          </a:p>
        </p:txBody>
      </p:sp>
      <p:sp>
        <p:nvSpPr>
          <p:cNvPr id="36" name="Text 34"/>
          <p:cNvSpPr/>
          <p:nvPr/>
        </p:nvSpPr>
        <p:spPr>
          <a:xfrm>
            <a:off x="6184032" y="2607469"/>
            <a:ext cx="2281312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출근지 등록 → 날씨 + 출퇴근 소요시간을 같이 브리핑.</a:t>
            </a:r>
            <a:endParaRPr lang="en-US" sz="956" dirty="0"/>
          </a:p>
        </p:txBody>
      </p:sp>
      <p:sp>
        <p:nvSpPr>
          <p:cNvPr id="37" name="Shape 35"/>
          <p:cNvSpPr/>
          <p:nvPr/>
        </p:nvSpPr>
        <p:spPr>
          <a:xfrm>
            <a:off x="6184032" y="4357688"/>
            <a:ext cx="228131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4032" y="44773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◔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6355482" y="4475559"/>
            <a:ext cx="210986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ROUTINE FUSION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 ·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115300" cy="390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46"/>
              </a:lnSpc>
              <a:buNone/>
            </a:pPr>
            <a:r>
              <a:rPr lang="en-US" sz="2475" b="1" kern="0" spc="-4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전체 아키텍처 — </a:t>
            </a:r>
            <a:r>
              <a:rPr lang="en-US" sz="2475" b="1" kern="0" spc="-49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하나의 테마로 쌓아올린 </a:t>
            </a:r>
            <a:r>
              <a:rPr lang="en-US" sz="2475" b="1" kern="0" spc="-49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3-Phase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816633"/>
            <a:ext cx="2533576" cy="1789509"/>
          </a:xfrm>
          <a:prstGeom prst="roundRect">
            <a:avLst>
              <a:gd name="adj" fmla="val 74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14350" y="1830921"/>
            <a:ext cx="2533576" cy="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4354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" y="3602571"/>
            <a:ext cx="25335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922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194" y="1960580"/>
            <a:ext cx="552484" cy="180023"/>
          </a:xfrm>
          <a:prstGeom prst="roundRect">
            <a:avLst>
              <a:gd name="adj" fmla="val 211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1970224"/>
            <a:ext cx="5115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47366" y="1959508"/>
            <a:ext cx="163625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· ML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678656" y="2227399"/>
            <a:ext cx="2204963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날씨 예측 모델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678656" y="2509577"/>
            <a:ext cx="2204963" cy="379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과거 날씨 </a:t>
            </a:r>
            <a:r>
              <a:rPr lang="en-US" sz="956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CSV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내일 기온/비 예측 모델 </a:t>
            </a: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(LR→RF→XGB)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. scikit-learn.</a:t>
            </a:r>
            <a:endParaRPr lang="en-US" sz="956" dirty="0"/>
          </a:p>
        </p:txBody>
      </p:sp>
      <p:sp>
        <p:nvSpPr>
          <p:cNvPr id="14" name="Shape 12"/>
          <p:cNvSpPr/>
          <p:nvPr/>
        </p:nvSpPr>
        <p:spPr>
          <a:xfrm>
            <a:off x="678656" y="2920343"/>
            <a:ext cx="22049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656" y="3009640"/>
            <a:ext cx="220496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62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결과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78656" y="3156086"/>
            <a:ext cx="22049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kern="0" spc="-16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MAE 2.50°C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3047926" y="258280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69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3305101" y="1816633"/>
            <a:ext cx="2533687" cy="1789509"/>
          </a:xfrm>
          <a:prstGeom prst="roundRect">
            <a:avLst>
              <a:gd name="adj" fmla="val 74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05101" y="1830921"/>
            <a:ext cx="2533687" cy="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5216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05101" y="3602571"/>
            <a:ext cx="25336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08672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8944" y="1960580"/>
            <a:ext cx="552484" cy="180023"/>
          </a:xfrm>
          <a:prstGeom prst="roundRect">
            <a:avLst>
              <a:gd name="adj" fmla="val 211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69407" y="1970224"/>
            <a:ext cx="5115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38116" y="1959508"/>
            <a:ext cx="163636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· DL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3469407" y="2227399"/>
            <a:ext cx="2205075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시계열 딥러닝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3469407" y="2509577"/>
            <a:ext cx="2205075" cy="379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같은 데이터, </a:t>
            </a:r>
            <a:r>
              <a:rPr lang="en-US" sz="956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정교화. </a:t>
            </a:r>
            <a:r>
              <a:rPr lang="en-US" sz="788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78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일 시퀀스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며칠치 예보. </a:t>
            </a:r>
            <a:r>
              <a:rPr lang="en-US" sz="956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Keras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.</a:t>
            </a:r>
            <a:endParaRPr lang="en-US" sz="956" dirty="0"/>
          </a:p>
        </p:txBody>
      </p:sp>
      <p:sp>
        <p:nvSpPr>
          <p:cNvPr id="28" name="Shape 26"/>
          <p:cNvSpPr/>
          <p:nvPr/>
        </p:nvSpPr>
        <p:spPr>
          <a:xfrm>
            <a:off x="3469407" y="2920343"/>
            <a:ext cx="22050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9407" y="3009640"/>
            <a:ext cx="22050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62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결과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69407" y="3156086"/>
            <a:ext cx="14803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kern="0" spc="-16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MAE 2.41°C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4699884" y="3268743"/>
            <a:ext cx="271196" cy="164021"/>
          </a:xfrm>
          <a:prstGeom prst="roundRect">
            <a:avLst>
              <a:gd name="adj" fmla="val 5801376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10857" y="3277530"/>
            <a:ext cx="2492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kern="0" spc="25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역전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838788" y="258280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69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969" dirty="0"/>
          </a:p>
        </p:txBody>
      </p:sp>
      <p:sp>
        <p:nvSpPr>
          <p:cNvPr id="34" name="Text 32"/>
          <p:cNvSpPr/>
          <p:nvPr/>
        </p:nvSpPr>
        <p:spPr>
          <a:xfrm>
            <a:off x="6095963" y="1816633"/>
            <a:ext cx="2533576" cy="1789509"/>
          </a:xfrm>
          <a:prstGeom prst="roundRect">
            <a:avLst>
              <a:gd name="adj" fmla="val 74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095963" y="1830921"/>
            <a:ext cx="2533576" cy="0"/>
          </a:xfrm>
          <a:prstGeom prst="line">
            <a:avLst/>
          </a:prstGeom>
          <a:noFill/>
          <a:ln w="28575">
            <a:solidFill>
              <a:srgbClr val="0E74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25967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5963" y="3602571"/>
            <a:ext cx="25335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9535" y="1816633"/>
            <a:ext cx="0" cy="178950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9807" y="1960580"/>
            <a:ext cx="552484" cy="180023"/>
          </a:xfrm>
          <a:prstGeom prst="roundRect">
            <a:avLst>
              <a:gd name="adj" fmla="val 2116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60269" y="1970224"/>
            <a:ext cx="5115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FFFFFF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28979" y="1959508"/>
            <a:ext cx="163625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· LLM/RAG</a:t>
            </a:r>
            <a:endParaRPr lang="en-US" sz="956" dirty="0"/>
          </a:p>
        </p:txBody>
      </p:sp>
      <p:sp>
        <p:nvSpPr>
          <p:cNvPr id="42" name="Text 40"/>
          <p:cNvSpPr/>
          <p:nvPr/>
        </p:nvSpPr>
        <p:spPr>
          <a:xfrm>
            <a:off x="6260269" y="2227399"/>
            <a:ext cx="2204963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출근 비서</a:t>
            </a:r>
            <a:endParaRPr lang="en-US" sz="1238" dirty="0"/>
          </a:p>
        </p:txBody>
      </p:sp>
      <p:sp>
        <p:nvSpPr>
          <p:cNvPr id="43" name="Text 41"/>
          <p:cNvSpPr/>
          <p:nvPr/>
        </p:nvSpPr>
        <p:spPr>
          <a:xfrm>
            <a:off x="6260269" y="2509577"/>
            <a:ext cx="2204963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예측 + 교통 </a:t>
            </a:r>
            <a:r>
              <a:rPr lang="en-US" sz="956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API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로컬 </a:t>
            </a:r>
            <a:r>
              <a:rPr lang="en-US" sz="956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956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 자연어 브리핑 → 디스코드 알림. </a:t>
            </a:r>
            <a:r>
              <a:rPr lang="en-US" sz="800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Ollama EXAONE 3.5</a:t>
            </a:r>
            <a:endParaRPr lang="en-US" sz="956" dirty="0"/>
          </a:p>
        </p:txBody>
      </p:sp>
      <p:sp>
        <p:nvSpPr>
          <p:cNvPr id="44" name="Shape 42"/>
          <p:cNvSpPr/>
          <p:nvPr/>
        </p:nvSpPr>
        <p:spPr>
          <a:xfrm>
            <a:off x="6260269" y="3027499"/>
            <a:ext cx="22049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0269" y="3116796"/>
            <a:ext cx="220496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62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결과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260269" y="3263243"/>
            <a:ext cx="22049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-10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END-TO-END</a:t>
            </a:r>
            <a:r>
              <a:rPr lang="en-US" sz="1013" kern="0" spc="-10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자동 발송</a:t>
            </a:r>
            <a:endParaRPr lang="en-US" sz="1013" dirty="0"/>
          </a:p>
        </p:txBody>
      </p:sp>
      <p:sp>
        <p:nvSpPr>
          <p:cNvPr id="47" name="Shape 45"/>
          <p:cNvSpPr/>
          <p:nvPr/>
        </p:nvSpPr>
        <p:spPr>
          <a:xfrm>
            <a:off x="514350" y="444341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4350" y="45880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266" dirty="0"/>
          </a:p>
        </p:txBody>
      </p:sp>
      <p:sp>
        <p:nvSpPr>
          <p:cNvPr id="49" name="Text 47"/>
          <p:cNvSpPr/>
          <p:nvPr/>
        </p:nvSpPr>
        <p:spPr>
          <a:xfrm>
            <a:off x="728663" y="4561284"/>
            <a:ext cx="79009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i="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전 단계 결과물이 다음 단계의 입력 재료로 사용됨 — 점진적 확장 전략.</a:t>
            </a:r>
            <a:endParaRPr lang="en-US" sz="95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76794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SECTION · 02 OF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08057" y="400050"/>
            <a:ext cx="42159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07 / 25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333046" y="3214688"/>
            <a:ext cx="2810954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250"/>
              </a:lnSpc>
              <a:buNone/>
            </a:pPr>
            <a:r>
              <a:rPr lang="en-US" sz="20250" b="1" dirty="0">
                <a:solidFill>
                  <a:srgbClr val="F1F5F9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ML</a:t>
            </a:r>
            <a:endParaRPr lang="en-US" sz="20250" dirty="0"/>
          </a:p>
        </p:txBody>
      </p:sp>
      <p:sp>
        <p:nvSpPr>
          <p:cNvPr id="6" name="Text 4"/>
          <p:cNvSpPr/>
          <p:nvPr/>
        </p:nvSpPr>
        <p:spPr>
          <a:xfrm>
            <a:off x="514350" y="1609465"/>
            <a:ext cx="5143500" cy="156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85"/>
              </a:lnSpc>
              <a:buNone/>
            </a:pPr>
            <a:r>
              <a:rPr lang="en-US" sz="12375" b="1" kern="0" spc="-619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</a:t>
            </a:r>
            <a:endParaRPr lang="en-US" sz="12375" dirty="0"/>
          </a:p>
        </p:txBody>
      </p:sp>
      <p:sp>
        <p:nvSpPr>
          <p:cNvPr id="7" name="Text 5"/>
          <p:cNvSpPr/>
          <p:nvPr/>
        </p:nvSpPr>
        <p:spPr>
          <a:xfrm>
            <a:off x="571500" y="3448645"/>
            <a:ext cx="68580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14650" y="1648420"/>
            <a:ext cx="7144" cy="2000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78994" y="1629556"/>
            <a:ext cx="57650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88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1 · MACHINE LEARNING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78994" y="1911734"/>
            <a:ext cx="5712857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1 — ML:</a:t>
            </a:r>
            <a:endParaRPr lang="en-US" sz="3150" dirty="0"/>
          </a:p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날씨 예측 모델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3378994" y="2991780"/>
            <a:ext cx="5608987" cy="263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18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scikit-learn</a:t>
            </a:r>
            <a:r>
              <a:rPr lang="en-US" sz="123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회귀/분류 기본기 다지기.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3356134" y="3482011"/>
            <a:ext cx="848722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3306" y="3528231"/>
            <a:ext cx="51725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REGRESSION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50431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⌇</a:t>
            </a:r>
            <a:endParaRPr lang="en-US" sz="984" dirty="0"/>
          </a:p>
        </p:txBody>
      </p:sp>
      <p:sp>
        <p:nvSpPr>
          <p:cNvPr id="15" name="Text 13"/>
          <p:cNvSpPr/>
          <p:nvPr/>
        </p:nvSpPr>
        <p:spPr>
          <a:xfrm>
            <a:off x="4244861" y="3482011"/>
            <a:ext cx="1025642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82033" y="3528231"/>
            <a:ext cx="69417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CLASSIFICATION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39158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▣</a:t>
            </a:r>
            <a:endParaRPr lang="en-US" sz="984" dirty="0"/>
          </a:p>
        </p:txBody>
      </p:sp>
      <p:sp>
        <p:nvSpPr>
          <p:cNvPr id="18" name="Text 16"/>
          <p:cNvSpPr/>
          <p:nvPr/>
        </p:nvSpPr>
        <p:spPr>
          <a:xfrm>
            <a:off x="5310507" y="3482011"/>
            <a:ext cx="912123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47680" y="3528231"/>
            <a:ext cx="58065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SCIKIT-LEARN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04805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⚗</a:t>
            </a:r>
            <a:endParaRPr lang="en-US" sz="984" dirty="0"/>
          </a:p>
        </p:txBody>
      </p:sp>
      <p:sp>
        <p:nvSpPr>
          <p:cNvPr id="21" name="Shape 19"/>
          <p:cNvSpPr/>
          <p:nvPr/>
        </p:nvSpPr>
        <p:spPr>
          <a:xfrm>
            <a:off x="514350" y="4486275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350" y="4604147"/>
            <a:ext cx="6072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WeatherCheck · Phase 1 ML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00825" y="4604147"/>
            <a:ext cx="213855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LinearRegression → RandomForest → XGBoost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 ·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08 / 25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131306" cy="2968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kern="0" spc="-2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 수집 &amp; </a:t>
            </a:r>
            <a:r>
              <a:rPr lang="en-US" sz="2025" b="1" kern="0" spc="-20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EDA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195797"/>
            <a:ext cx="2885504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844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실데이터를 모으고, </a:t>
            </a:r>
            <a:r>
              <a:rPr lang="en-US" sz="844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844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입력·정답 스키마를 설계한 과정.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7303949" y="1171008"/>
            <a:ext cx="1348561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41121" y="1217228"/>
            <a:ext cx="101709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REAL-WORLD KMA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98246" y="121901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84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499406"/>
            <a:ext cx="1943100" cy="11642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7922" y="1502978"/>
            <a:ext cx="1935956" cy="1157064"/>
          </a:xfrm>
          <a:prstGeom prst="roundRect">
            <a:avLst>
              <a:gd name="adj" fmla="val 11525"/>
            </a:avLst>
          </a:prstGeom>
          <a:noFill/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643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2105509" y="1676214"/>
            <a:ext cx="2019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DAYS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4369" y="2102272"/>
            <a:ext cx="1643063" cy="2682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kern="0" spc="-38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3,836</a:t>
            </a:r>
            <a:r>
              <a:rPr lang="en-US" sz="1013" kern="0" spc="-3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일</a:t>
            </a:r>
            <a:endParaRPr lang="en-US" sz="1913" dirty="0"/>
          </a:p>
        </p:txBody>
      </p:sp>
      <p:sp>
        <p:nvSpPr>
          <p:cNvPr id="15" name="Text 12"/>
          <p:cNvSpPr/>
          <p:nvPr/>
        </p:nvSpPr>
        <p:spPr>
          <a:xfrm>
            <a:off x="6643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실데이터 (</a:t>
            </a:r>
            <a:r>
              <a:rPr lang="en-US" sz="731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년)</a:t>
            </a:r>
            <a:endParaRPr lang="en-US" sz="731" dirty="0"/>
          </a:p>
        </p:txBody>
      </p:sp>
      <p:sp>
        <p:nvSpPr>
          <p:cNvPr id="16" name="Text 13"/>
          <p:cNvSpPr/>
          <p:nvPr/>
        </p:nvSpPr>
        <p:spPr>
          <a:xfrm>
            <a:off x="2575322" y="1502978"/>
            <a:ext cx="1935956" cy="1157064"/>
          </a:xfrm>
          <a:prstGeom prst="roundRect">
            <a:avLst>
              <a:gd name="adj" fmla="val 1152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217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⚙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3961098" y="1676214"/>
            <a:ext cx="403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FEATURES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21769" y="2102272"/>
            <a:ext cx="1643063" cy="2682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kern="0" spc="-38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1013" kern="0" spc="-3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</a:t>
            </a:r>
            <a:endParaRPr lang="en-US" sz="1913" dirty="0"/>
          </a:p>
        </p:txBody>
      </p:sp>
      <p:sp>
        <p:nvSpPr>
          <p:cNvPr id="20" name="Text 17"/>
          <p:cNvSpPr/>
          <p:nvPr/>
        </p:nvSpPr>
        <p:spPr>
          <a:xfrm>
            <a:off x="27217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피처 — 기온·습도·기압·풍속·강수량</a:t>
            </a:r>
            <a:endParaRPr lang="en-US" sz="731" dirty="0"/>
          </a:p>
        </p:txBody>
      </p:sp>
      <p:sp>
        <p:nvSpPr>
          <p:cNvPr id="21" name="Text 18"/>
          <p:cNvSpPr/>
          <p:nvPr/>
        </p:nvSpPr>
        <p:spPr>
          <a:xfrm>
            <a:off x="4632722" y="1502978"/>
            <a:ext cx="1935956" cy="1157064"/>
          </a:xfrm>
          <a:prstGeom prst="roundRect">
            <a:avLst>
              <a:gd name="adj" fmla="val 1152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791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◎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6068950" y="1676214"/>
            <a:ext cx="3532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STATION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779169" y="2102272"/>
            <a:ext cx="1643063" cy="2682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kern="0" spc="-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서울(</a:t>
            </a:r>
            <a:r>
              <a:rPr lang="en-US" sz="1913" kern="0" spc="-38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108</a:t>
            </a:r>
            <a:r>
              <a:rPr lang="en-US" sz="1913" kern="0" spc="-3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</a:t>
            </a:r>
            <a:endParaRPr lang="en-US" sz="1913" dirty="0"/>
          </a:p>
        </p:txBody>
      </p:sp>
      <p:sp>
        <p:nvSpPr>
          <p:cNvPr id="25" name="Text 22"/>
          <p:cNvSpPr/>
          <p:nvPr/>
        </p:nvSpPr>
        <p:spPr>
          <a:xfrm>
            <a:off x="47791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기상청 </a:t>
            </a:r>
            <a:r>
              <a:rPr lang="en-US" sz="731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ASOS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일자료</a:t>
            </a:r>
            <a:endParaRPr lang="en-US" sz="731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1499406"/>
            <a:ext cx="1943100" cy="11642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690122" y="1502978"/>
            <a:ext cx="1935956" cy="1157064"/>
          </a:xfrm>
          <a:prstGeom prst="roundRect">
            <a:avLst>
              <a:gd name="adj" fmla="val 11525"/>
            </a:avLst>
          </a:prstGeom>
          <a:noFill/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8365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↗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8075898" y="1676214"/>
            <a:ext cx="403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SCALE-UP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836569" y="1835162"/>
            <a:ext cx="1643063" cy="535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kern="0" spc="-38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2.5</a:t>
            </a:r>
            <a:r>
              <a:rPr lang="en-US" sz="1913" kern="0" spc="-38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</a:t>
            </a:r>
            <a:r>
              <a:rPr lang="en-US" sz="1913" kern="0" spc="-38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→</a:t>
            </a:r>
            <a:r>
              <a:rPr lang="en-US" sz="1913" kern="0" spc="-38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913" kern="0" spc="-38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1913" kern="0" spc="-38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</a:t>
            </a:r>
            <a:endParaRPr lang="en-US" sz="1913" dirty="0"/>
          </a:p>
        </p:txBody>
      </p:sp>
      <p:sp>
        <p:nvSpPr>
          <p:cNvPr id="31" name="Text 27"/>
          <p:cNvSpPr/>
          <p:nvPr/>
        </p:nvSpPr>
        <p:spPr>
          <a:xfrm>
            <a:off x="68365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 확장 — </a:t>
            </a:r>
            <a:r>
              <a:rPr lang="en-US" sz="731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역전의 결정적 계기</a:t>
            </a:r>
            <a:endParaRPr lang="en-US" sz="731" dirty="0"/>
          </a:p>
        </p:txBody>
      </p:sp>
      <p:sp>
        <p:nvSpPr>
          <p:cNvPr id="32" name="Text 28"/>
          <p:cNvSpPr/>
          <p:nvPr/>
        </p:nvSpPr>
        <p:spPr>
          <a:xfrm>
            <a:off x="517922" y="2810061"/>
            <a:ext cx="3993356" cy="1651211"/>
          </a:xfrm>
          <a:prstGeom prst="roundRect">
            <a:avLst>
              <a:gd name="adj" fmla="val 807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850106" y="2956508"/>
            <a:ext cx="11850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 파이프라인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64369" y="3188680"/>
            <a:ext cx="3700463" cy="0"/>
          </a:xfrm>
          <a:prstGeom prst="line">
            <a:avLst/>
          </a:prstGeom>
          <a:noFill/>
          <a:ln w="7144">
            <a:solidFill>
              <a:srgbClr val="0F172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64369" y="3327983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1478756" y="3299408"/>
            <a:ext cx="808360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771525" y="3277977"/>
            <a:ext cx="3593306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기상자료개방포털 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data.kma.go.kr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수동 다운로드</a:t>
            </a:r>
            <a:endParaRPr lang="en-US" sz="759" dirty="0"/>
          </a:p>
        </p:txBody>
      </p:sp>
      <p:sp>
        <p:nvSpPr>
          <p:cNvPr id="38" name="Text 34"/>
          <p:cNvSpPr/>
          <p:nvPr/>
        </p:nvSpPr>
        <p:spPr>
          <a:xfrm>
            <a:off x="664369" y="3544081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771525" y="3515506"/>
            <a:ext cx="756679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771525" y="3494075"/>
            <a:ext cx="3593306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import_kma.py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로 </a:t>
            </a:r>
            <a:r>
              <a:rPr lang="en-US" sz="75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EUC-KR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5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CSV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를 스키마 변환</a:t>
            </a:r>
            <a:endParaRPr lang="en-US" sz="759" dirty="0"/>
          </a:p>
        </p:txBody>
      </p:sp>
      <p:sp>
        <p:nvSpPr>
          <p:cNvPr id="41" name="Text 37"/>
          <p:cNvSpPr/>
          <p:nvPr/>
        </p:nvSpPr>
        <p:spPr>
          <a:xfrm>
            <a:off x="664369" y="3760180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771525" y="3710174"/>
            <a:ext cx="3593306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합성 데이터 → 실데이터로 교체 (폴백 유지)</a:t>
            </a:r>
            <a:endParaRPr lang="en-US" sz="759" dirty="0"/>
          </a:p>
        </p:txBody>
      </p:sp>
      <p:sp>
        <p:nvSpPr>
          <p:cNvPr id="43" name="Text 39"/>
          <p:cNvSpPr/>
          <p:nvPr/>
        </p:nvSpPr>
        <p:spPr>
          <a:xfrm>
            <a:off x="4629150" y="2806489"/>
            <a:ext cx="4000500" cy="1658355"/>
          </a:xfrm>
          <a:prstGeom prst="roundRect">
            <a:avLst>
              <a:gd name="adj" fmla="val 80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0"/>
          <p:cNvSpPr/>
          <p:nvPr/>
        </p:nvSpPr>
        <p:spPr>
          <a:xfrm>
            <a:off x="4629150" y="281006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626078" y="2806489"/>
            <a:ext cx="0" cy="165835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629150" y="4461272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639866" y="2806489"/>
            <a:ext cx="0" cy="165835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979194" y="2956508"/>
            <a:ext cx="93983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입력·정답 설계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793456" y="3188680"/>
            <a:ext cx="3686175" cy="0"/>
          </a:xfrm>
          <a:prstGeom prst="line">
            <a:avLst/>
          </a:prstGeom>
          <a:noFill/>
          <a:ln w="7144">
            <a:solidFill>
              <a:srgbClr val="0F172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793456" y="3327983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4900613" y="3277977"/>
            <a:ext cx="357901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입력 </a:t>
            </a: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X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: 오늘 기온·습도·기압·어제 강수량</a:t>
            </a:r>
            <a:endParaRPr lang="en-US" sz="759" dirty="0"/>
          </a:p>
        </p:txBody>
      </p:sp>
      <p:sp>
        <p:nvSpPr>
          <p:cNvPr id="52" name="Text 48"/>
          <p:cNvSpPr/>
          <p:nvPr/>
        </p:nvSpPr>
        <p:spPr>
          <a:xfrm>
            <a:off x="4793456" y="3544081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4900613" y="3494075"/>
            <a:ext cx="357901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정답 </a:t>
            </a: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y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: 내일 기온 (회귀) · 비 여부 (분류)</a:t>
            </a:r>
            <a:endParaRPr lang="en-US" sz="759" dirty="0"/>
          </a:p>
        </p:txBody>
      </p:sp>
      <p:sp>
        <p:nvSpPr>
          <p:cNvPr id="54" name="Text 50"/>
          <p:cNvSpPr/>
          <p:nvPr/>
        </p:nvSpPr>
        <p:spPr>
          <a:xfrm>
            <a:off x="4793456" y="3760180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4900613" y="3731605"/>
            <a:ext cx="911498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4900613" y="3710174"/>
            <a:ext cx="357901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train_test_split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시계열 순서 보존</a:t>
            </a:r>
            <a:endParaRPr lang="en-US" sz="759" dirty="0"/>
          </a:p>
        </p:txBody>
      </p:sp>
      <p:sp>
        <p:nvSpPr>
          <p:cNvPr id="57" name="Shape 53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14350" y="4614863"/>
            <a:ext cx="70151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Source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기상청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ASOS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서울(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108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 ·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2014-01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~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2024-06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7543800" y="4614863"/>
            <a:ext cx="10858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2.5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→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=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4x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규모 확장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 ·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09 / 25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495437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99"/>
              </a:lnSpc>
              <a:buNone/>
            </a:pPr>
            <a:r>
              <a:rPr lang="en-US" sz="1913" b="1" kern="0" spc="-1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EDA</a:t>
            </a: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— 피처 상관관계 분석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595307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수치형 </a:t>
            </a:r>
            <a:r>
              <a:rPr lang="en-US" sz="816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 피처 간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Pearson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상관관계 히트맵 — 타깃 설계와 다중공선성 점검.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7350048" y="1149242"/>
            <a:ext cx="1302462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7221" y="1195462"/>
            <a:ext cx="97099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SEABORN · COOLWARM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44346" y="11972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4350" y="1449065"/>
            <a:ext cx="3651796" cy="1196578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14350" y="1452637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2574" y="1449065"/>
            <a:ext cx="0" cy="119657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4350" y="2642071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066" y="1449065"/>
            <a:ext cx="0" cy="1196578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956" y="1556221"/>
            <a:ext cx="750806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kern="0" spc="54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주요 인사이트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50081" y="1777678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7238" y="1741959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60091" y="1741959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62944" y="1741959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7238" y="1727671"/>
            <a:ext cx="3287464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temp_avg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temp_max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temp_min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: 거의 완벽한 양의 상관 </a:t>
            </a: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(≥0.95)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— 일교차 패턴 안정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650081" y="2099146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7238" y="2063428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02966" y="2063428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7238" y="2049140"/>
            <a:ext cx="3287464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pressure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↔ 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temp_avg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: 음의 상관 </a:t>
            </a: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(~ -0.7)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— 기온↑ 기압↓ 물리패턴 확인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650081" y="2281312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7238" y="2245593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02966" y="2245593"/>
            <a:ext cx="382525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57238" y="2231306"/>
            <a:ext cx="3287464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humidity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↔ 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precip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: 양의 상관 — 비 오는 날 습도↑ 검증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650081" y="2463478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57238" y="2427759"/>
            <a:ext cx="580430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7238" y="2413471"/>
            <a:ext cx="328746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wind_speed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: 타 피처와 낮은 상관 </a:t>
            </a: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(≤0.3)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— 독립 정보원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517922" y="2734940"/>
            <a:ext cx="3644652" cy="493923"/>
          </a:xfrm>
          <a:prstGeom prst="roundRect">
            <a:avLst>
              <a:gd name="adj" fmla="val 1928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78669" y="2838524"/>
            <a:ext cx="532745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kern="0" spc="4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설계 결정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35794" y="2995687"/>
            <a:ext cx="3408908" cy="14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temp_max/min</a:t>
            </a: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타깃은 일교차 일관성 확보, 풍속은 분류 모델에서 정보 이득 기대.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4312593" y="1452637"/>
            <a:ext cx="4313486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01889" y="1513359"/>
            <a:ext cx="36948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FEATURES · 7 × 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11058" y="1513359"/>
            <a:ext cx="454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Pearson r</a:t>
            </a:r>
            <a:endParaRPr lang="en-US" sz="800" dirty="0"/>
          </a:p>
        </p:txBody>
      </p:sp>
      <p:pic>
        <p:nvPicPr>
          <p:cNvPr id="38" name="Image 0" descr="/tmp/h2p-fit-1783241760553-tpc3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314" y="1649090"/>
            <a:ext cx="4192042" cy="257175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373314" y="4277990"/>
            <a:ext cx="4192042" cy="122560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수치형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 피처 상관관계 히트맵 (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seaborn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,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coolwarm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, 중심값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614863"/>
            <a:ext cx="6515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1 · EDA · pandas + seaborn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043738" y="4614863"/>
            <a:ext cx="15859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다중공선성 점검 → 타깃 &amp; 입력 피처 설계로 직결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 · MODELING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 / 25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8521065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99"/>
              </a:lnSpc>
              <a:buNone/>
            </a:pP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모델 </a:t>
            </a:r>
            <a:r>
              <a:rPr lang="en-US" sz="1913" b="1" kern="0" spc="-19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종 비교 &amp; 잔차 분석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811530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쉬운 모델부터 점진 적용 —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LinearRegression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RandomForest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XGBoost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514350" y="1449065"/>
            <a:ext cx="264396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62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RESULT</a:t>
            </a:r>
            <a:r>
              <a:rPr lang="en-US" sz="700" kern="0" spc="62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회귀 </a:t>
            </a:r>
            <a:r>
              <a:rPr lang="en-US" sz="700" kern="0" spc="62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MAE</a:t>
            </a:r>
            <a:r>
              <a:rPr lang="en-US" sz="700" kern="0" spc="62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(°</a:t>
            </a:r>
            <a:r>
              <a:rPr lang="en-US" sz="700" kern="0" spc="62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C</a:t>
            </a:r>
            <a:r>
              <a:rPr lang="en-US" sz="700" kern="0" spc="62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172606" y="1449065"/>
            <a:ext cx="11644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 models · 3,836 days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624087"/>
          <a:ext cx="3637508" cy="1093948"/>
        </p:xfrm>
        <a:graphic>
          <a:graphicData uri="http://schemas.openxmlformats.org/drawingml/2006/table">
            <a:tbl>
              <a:tblPr/>
              <a:tblGrid>
                <a:gridCol w="150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모델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294" marR="85725" marT="85725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회귀 MAE(°C)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294" marR="85725" marT="85725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4155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비고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4294" marR="85725" marT="85725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LinearRegression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E7490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2.50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9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♛최고 (회귀)</a:t>
                      </a:r>
                      <a:endParaRPr lang="en-US" sz="759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RandomForest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2.6x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9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중간</a:t>
                      </a:r>
                      <a:endParaRPr lang="en-US" sz="759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XGBoost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/>
                          <a:cs typeface="Courier New" pitchFamily="34"/>
                        </a:rPr>
                        <a:t>2.7x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9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과적합 경향</a:t>
                      </a:r>
                      <a:endParaRPr lang="en-US" sz="759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14350" y="2836180"/>
            <a:ext cx="3651796" cy="641821"/>
          </a:xfrm>
          <a:prstGeom prst="roundRect">
            <a:avLst>
              <a:gd name="adj" fmla="val 148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8"/>
          <p:cNvSpPr/>
          <p:nvPr/>
        </p:nvSpPr>
        <p:spPr>
          <a:xfrm>
            <a:off x="514350" y="2839752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2574" y="2836180"/>
            <a:ext cx="0" cy="64182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4350" y="3474430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5066" y="2836180"/>
            <a:ext cx="0" cy="64182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2956" y="2943337"/>
            <a:ext cx="906451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kern="0" spc="54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잔차 분석 인사이트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0081" y="3086212"/>
            <a:ext cx="3394621" cy="298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잔차 분석으로 모델별 편향 패턴 확인 — 큰 편차 없이 무작위 분포 → 모델이 체계적 오차 없이 학습됨.</a:t>
            </a:r>
            <a:endParaRPr lang="en-US" sz="759" dirty="0"/>
          </a:p>
        </p:txBody>
      </p:sp>
      <p:sp>
        <p:nvSpPr>
          <p:cNvPr id="17" name="Text 14"/>
          <p:cNvSpPr/>
          <p:nvPr/>
        </p:nvSpPr>
        <p:spPr>
          <a:xfrm>
            <a:off x="4312593" y="1452637"/>
            <a:ext cx="4313486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0" descr="https://chat.z.ai/api/v1/sandbox/version/file?path=download%2Fslides%2Fresiduals.png&amp;chatId=a7a51632-abb0-4583-b76c-7ba8788c1b4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314" y="1513359"/>
            <a:ext cx="4192042" cy="152429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73314" y="3094806"/>
            <a:ext cx="4192042" cy="134392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잔차 분포 — 예측 오차가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주변에 무작위 분포함을 확인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4350" y="4614863"/>
            <a:ext cx="61936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1 · Modeling · scikit-learn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722269" y="4614863"/>
            <a:ext cx="190738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최종 선택 —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LinearRegression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(회귀) ·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MAE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2.50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°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C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 ·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11 / 25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82559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1800" b="1" kern="0" spc="-1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평가 심화 — 분류 성능 &amp; 피처 중요도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77743" y="948882"/>
            <a:ext cx="1174767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4915" y="995102"/>
            <a:ext cx="84329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CROSS-VALIDATION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72040" y="99688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✓</a:t>
            </a:r>
            <a:endParaRPr lang="en-US" sz="984" dirty="0"/>
          </a:p>
        </p:txBody>
      </p:sp>
      <p:sp>
        <p:nvSpPr>
          <p:cNvPr id="9" name="Text 7"/>
          <p:cNvSpPr/>
          <p:nvPr/>
        </p:nvSpPr>
        <p:spPr>
          <a:xfrm>
            <a:off x="517922" y="1223702"/>
            <a:ext cx="8108156" cy="28575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506" y="130942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✓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92956" y="1291568"/>
            <a:ext cx="77295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회귀 </a:t>
            </a:r>
            <a:r>
              <a:rPr lang="en-US" sz="788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MAE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만 보지 않고 분류 성능(혼동행렬)과 피처 기여도(중요도)로 모델 신뢰성 교차 검증.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517922" y="1602321"/>
            <a:ext cx="3993356" cy="3261792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4381" y="1708584"/>
            <a:ext cx="231435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CONFUSION MATRIX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5794" y="170144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14" dirty="0"/>
          </a:p>
        </p:txBody>
      </p:sp>
      <p:sp>
        <p:nvSpPr>
          <p:cNvPr id="15" name="Text 13"/>
          <p:cNvSpPr/>
          <p:nvPr/>
        </p:nvSpPr>
        <p:spPr>
          <a:xfrm>
            <a:off x="3093021" y="1691618"/>
            <a:ext cx="14044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24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LogisticRegression · Binary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0791" y="1879141"/>
            <a:ext cx="3807619" cy="2200275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/tmp/h2p-fit-1783241762390-6wr6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925575"/>
            <a:ext cx="3714750" cy="210740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7219" y="4154425"/>
            <a:ext cx="3814763" cy="134365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혼동행렬 —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LogisticRegression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강수 이진분류 (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Accuracy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0.71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07219" y="4340833"/>
            <a:ext cx="3814763" cy="433983"/>
          </a:xfrm>
          <a:prstGeom prst="roundRect">
            <a:avLst>
              <a:gd name="adj" fmla="val 175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607219" y="4344405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18409" y="4340833"/>
            <a:ext cx="0" cy="43398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7219" y="4771244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7934" y="4340833"/>
            <a:ext cx="0" cy="433983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7219" y="4340833"/>
            <a:ext cx="3814763" cy="433983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>
            <a:normAutofit/>
          </a:bodyPr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00" kern="0" spc="47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TAKEAWAY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TN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TP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비율 높음, </a:t>
            </a:r>
            <a:r>
              <a:rPr lang="en-US" sz="703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FN</a:t>
            </a:r>
            <a:r>
              <a:rPr lang="en-US" sz="703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(비를 못 맞춤)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 주요 오차 — 강수 분류는 회귀보다 어려움 확인</a:t>
            </a:r>
            <a:endParaRPr lang="en-US" sz="703" dirty="0"/>
          </a:p>
        </p:txBody>
      </p:sp>
      <p:sp>
        <p:nvSpPr>
          <p:cNvPr id="25" name="Text 22"/>
          <p:cNvSpPr/>
          <p:nvPr/>
        </p:nvSpPr>
        <p:spPr>
          <a:xfrm>
            <a:off x="4632722" y="1602321"/>
            <a:ext cx="3993356" cy="3261792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79181" y="1708584"/>
            <a:ext cx="2699668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FEATURE IMPORTANCE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50594" y="170144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14" dirty="0"/>
          </a:p>
        </p:txBody>
      </p:sp>
      <p:sp>
        <p:nvSpPr>
          <p:cNvPr id="28" name="Text 25"/>
          <p:cNvSpPr/>
          <p:nvPr/>
        </p:nvSpPr>
        <p:spPr>
          <a:xfrm>
            <a:off x="7593137" y="1691618"/>
            <a:ext cx="943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24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RandomForest · Gini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25591" y="1879141"/>
            <a:ext cx="3807619" cy="1443596"/>
          </a:xfrm>
          <a:prstGeom prst="roundRect">
            <a:avLst>
              <a:gd name="adj" fmla="val 52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1" descr="/tmp/h2p-fit-1783241762432-4cce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1925575"/>
            <a:ext cx="3714750" cy="1350727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722019" y="3397746"/>
            <a:ext cx="3814763" cy="134365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피처 중요도 —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RandomForest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기준, 타깃 예측 기여도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4722019" y="3584153"/>
            <a:ext cx="3814763" cy="295573"/>
          </a:xfrm>
          <a:prstGeom prst="roundRect">
            <a:avLst>
              <a:gd name="adj" fmla="val 257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29"/>
          <p:cNvSpPr/>
          <p:nvPr/>
        </p:nvSpPr>
        <p:spPr>
          <a:xfrm>
            <a:off x="4722019" y="3587725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533209" y="3584153"/>
            <a:ext cx="0" cy="29557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722019" y="3876154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732734" y="3584153"/>
            <a:ext cx="0" cy="295573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22019" y="3584153"/>
            <a:ext cx="3814763" cy="319218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>
            <a:normAutofit/>
          </a:bodyPr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00" kern="0" spc="47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TAKEAWAY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어제 강수량·현재 습도가 상위 — 직관과 일치. 풍속·기압은 낮지만 분류엔 기여</a:t>
            </a:r>
            <a:endParaRPr lang="en-US" sz="703" dirty="0"/>
          </a:p>
        </p:txBody>
      </p:sp>
      <p:sp>
        <p:nvSpPr>
          <p:cNvPr id="38" name="Shape 34"/>
          <p:cNvSpPr/>
          <p:nvPr/>
        </p:nvSpPr>
        <p:spPr>
          <a:xfrm>
            <a:off x="514350" y="495698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14350" y="5017703"/>
            <a:ext cx="6150769" cy="125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Phase 1 · Evaluation · scikit-learn metrics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6679406" y="5017703"/>
            <a:ext cx="1950244" cy="125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정성(직관) · 정량(지표) 양쪽 교차 검증으로 모델 신뢰성 확보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14688"/>
            <a:ext cx="4607042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250"/>
              </a:lnSpc>
              <a:buNone/>
            </a:pPr>
            <a:r>
              <a:rPr lang="en-US" sz="20250" b="1" dirty="0">
                <a:solidFill>
                  <a:srgbClr val="F1F5F9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DL</a:t>
            </a:r>
            <a:endParaRPr lang="en-US" sz="20250" dirty="0"/>
          </a:p>
        </p:txBody>
      </p:sp>
      <p:pic>
        <p:nvPicPr>
          <p:cNvPr id="3" name="Image 0" descr="/tmp/h2p-svg-1783241762157-lys18k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4350" y="400050"/>
            <a:ext cx="76794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SECTION · 03 OF 04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08057" y="400050"/>
            <a:ext cx="42159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12 / 25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307681" y="1629556"/>
            <a:ext cx="64648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88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2 · DEEP LEARNING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307681" y="1911734"/>
            <a:ext cx="5878614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2 — DL:</a:t>
            </a:r>
            <a:endParaRPr lang="en-US" sz="3150" dirty="0"/>
          </a:p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시계열 딥러닝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4307681" y="2991780"/>
            <a:ext cx="5611404" cy="2630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18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123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순서를 기억하게 만들기.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4284821" y="3482011"/>
            <a:ext cx="858991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21994" y="3528231"/>
            <a:ext cx="52752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TIME-SERIES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379119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⌇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5183817" y="3482011"/>
            <a:ext cx="926410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420990" y="3528231"/>
            <a:ext cx="59494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LSTM (SEQ=7)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78115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84" dirty="0"/>
          </a:p>
        </p:txBody>
      </p:sp>
      <p:sp>
        <p:nvSpPr>
          <p:cNvPr id="16" name="Text 13"/>
          <p:cNvSpPr/>
          <p:nvPr/>
        </p:nvSpPr>
        <p:spPr>
          <a:xfrm>
            <a:off x="6151032" y="3482011"/>
            <a:ext cx="595641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387405" y="3528231"/>
            <a:ext cx="26577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KERAS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244530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984" dirty="0"/>
          </a:p>
        </p:txBody>
      </p:sp>
      <p:sp>
        <p:nvSpPr>
          <p:cNvPr id="19" name="Text 16"/>
          <p:cNvSpPr/>
          <p:nvPr/>
        </p:nvSpPr>
        <p:spPr>
          <a:xfrm>
            <a:off x="4018359" y="1648420"/>
            <a:ext cx="7144" cy="2000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14350" y="1609465"/>
            <a:ext cx="5143500" cy="156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85"/>
              </a:lnSpc>
              <a:buNone/>
            </a:pPr>
            <a:r>
              <a:rPr lang="en-US" sz="12375" b="1" kern="0" spc="-619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</a:t>
            </a:r>
            <a:endParaRPr lang="en-US" sz="12375" dirty="0"/>
          </a:p>
        </p:txBody>
      </p:sp>
      <p:sp>
        <p:nvSpPr>
          <p:cNvPr id="23" name="Text 20"/>
          <p:cNvSpPr/>
          <p:nvPr/>
        </p:nvSpPr>
        <p:spPr>
          <a:xfrm>
            <a:off x="514350" y="3226743"/>
            <a:ext cx="68580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4486275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4350" y="4604147"/>
            <a:ext cx="62150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WeatherCheck · Phase 2 DL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43700" y="4604147"/>
            <a:ext cx="18859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Keras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731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7-day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sequence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며칠치 예보</a:t>
            </a:r>
            <a:endParaRPr lang="en-US" sz="73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 · DL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13 / 25 · Phase 2 DL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120390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99"/>
              </a:lnSpc>
              <a:buNone/>
            </a:pPr>
            <a:r>
              <a:rPr lang="en-US" sz="1913" b="1" kern="0" spc="-1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도입 배경 &amp; 학습 구조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209544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시계열 흐름을 학습하기 위해 단층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+ 멀티헤드 출력 구조를 채택.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7577755" y="1149242"/>
            <a:ext cx="1074755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14928" y="1195462"/>
            <a:ext cx="74328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KERAS · LSTM(32)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72053" y="11972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4350" y="1449065"/>
            <a:ext cx="3986213" cy="737815"/>
          </a:xfrm>
          <a:prstGeom prst="roundRect">
            <a:avLst>
              <a:gd name="adj" fmla="val 129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14350" y="1452637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6991" y="1449065"/>
            <a:ext cx="0" cy="73781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4350" y="21833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066" y="1449065"/>
            <a:ext cx="0" cy="73781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531" y="1570509"/>
            <a:ext cx="74685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kern="0" spc="17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왜 </a:t>
            </a:r>
            <a:r>
              <a:rPr lang="en-US" sz="844" b="1" kern="0" spc="17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844" b="1" kern="0" spc="17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인가?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664369" y="1759818"/>
            <a:ext cx="3700463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날씨는 순서가 중요 — 어제·그제 흐름이 내일에 영향. </a:t>
            </a:r>
            <a:r>
              <a:rPr lang="en-US" sz="788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은 순서를 잘 못 보지만 </a:t>
            </a:r>
            <a:r>
              <a:rPr lang="en-US" sz="788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88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은 순서를 기억</a:t>
            </a:r>
            <a:r>
              <a:rPr lang="en-US" sz="78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한다.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517922" y="2276177"/>
            <a:ext cx="3979069" cy="2185095"/>
          </a:xfrm>
          <a:prstGeom prst="roundRect">
            <a:avLst>
              <a:gd name="adj" fmla="val 43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1531" y="2394049"/>
            <a:ext cx="90189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844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모델 구조</a:t>
            </a:r>
            <a:endParaRPr lang="en-US" sz="844" dirty="0"/>
          </a:p>
        </p:txBody>
      </p:sp>
      <p:sp>
        <p:nvSpPr>
          <p:cNvPr id="19" name="Shape 17"/>
          <p:cNvSpPr/>
          <p:nvPr/>
        </p:nvSpPr>
        <p:spPr>
          <a:xfrm>
            <a:off x="650081" y="2829818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50081" y="263336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✚</a:t>
            </a:r>
            <a:endParaRPr lang="en-US" sz="914" dirty="0"/>
          </a:p>
        </p:txBody>
      </p:sp>
      <p:sp>
        <p:nvSpPr>
          <p:cNvPr id="21" name="Text 19"/>
          <p:cNvSpPr/>
          <p:nvPr/>
        </p:nvSpPr>
        <p:spPr>
          <a:xfrm>
            <a:off x="1693069" y="2640509"/>
            <a:ext cx="530870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78681" y="2633365"/>
            <a:ext cx="348615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입력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지난 </a:t>
            </a:r>
            <a:r>
              <a:rPr lang="en-US" sz="731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일 시퀀스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Arial Narrow" pitchFamily="34" charset="0"/>
                <a:ea typeface="Arial Narrow" pitchFamily="34"/>
                <a:cs typeface="Arial Narrow" pitchFamily="34"/>
              </a:rPr>
              <a:t>SEQ_LEN=7</a:t>
            </a:r>
            <a:endParaRPr lang="en-US" sz="731" dirty="0"/>
          </a:p>
        </p:txBody>
      </p:sp>
      <p:sp>
        <p:nvSpPr>
          <p:cNvPr id="23" name="Shape 21"/>
          <p:cNvSpPr/>
          <p:nvPr/>
        </p:nvSpPr>
        <p:spPr>
          <a:xfrm>
            <a:off x="650081" y="3065562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50081" y="286910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✚</a:t>
            </a:r>
            <a:endParaRPr lang="en-US" sz="914" dirty="0"/>
          </a:p>
        </p:txBody>
      </p:sp>
      <p:sp>
        <p:nvSpPr>
          <p:cNvPr id="25" name="Text 23"/>
          <p:cNvSpPr/>
          <p:nvPr/>
        </p:nvSpPr>
        <p:spPr>
          <a:xfrm>
            <a:off x="1178719" y="2876252"/>
            <a:ext cx="679326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78681" y="2869109"/>
            <a:ext cx="348615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정규화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MinMaxScaler</a:t>
            </a:r>
            <a:endParaRPr lang="en-US" sz="731" dirty="0"/>
          </a:p>
        </p:txBody>
      </p:sp>
      <p:sp>
        <p:nvSpPr>
          <p:cNvPr id="27" name="Shape 25"/>
          <p:cNvSpPr/>
          <p:nvPr/>
        </p:nvSpPr>
        <p:spPr>
          <a:xfrm>
            <a:off x="650081" y="3301305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50081" y="310485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✚</a:t>
            </a:r>
            <a:endParaRPr lang="en-US" sz="914" dirty="0"/>
          </a:p>
        </p:txBody>
      </p:sp>
      <p:sp>
        <p:nvSpPr>
          <p:cNvPr id="29" name="Text 27"/>
          <p:cNvSpPr/>
          <p:nvPr/>
        </p:nvSpPr>
        <p:spPr>
          <a:xfrm>
            <a:off x="1178719" y="3111996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78681" y="3104852"/>
            <a:ext cx="348615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레이어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Arial Narrow" pitchFamily="34" charset="0"/>
                <a:ea typeface="Arial Narrow" pitchFamily="34"/>
                <a:cs typeface="Arial Narrow" pitchFamily="34"/>
              </a:rPr>
              <a:t>LSTM(32)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단층 + 멀티헤드 출력</a:t>
            </a:r>
            <a:endParaRPr lang="en-US" sz="731" dirty="0"/>
          </a:p>
        </p:txBody>
      </p:sp>
      <p:sp>
        <p:nvSpPr>
          <p:cNvPr id="31" name="Shape 29"/>
          <p:cNvSpPr/>
          <p:nvPr/>
        </p:nvSpPr>
        <p:spPr>
          <a:xfrm>
            <a:off x="650081" y="3537049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50081" y="334059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✚</a:t>
            </a:r>
            <a:endParaRPr lang="en-US" sz="914" dirty="0"/>
          </a:p>
        </p:txBody>
      </p:sp>
      <p:sp>
        <p:nvSpPr>
          <p:cNvPr id="33" name="Text 31"/>
          <p:cNvSpPr/>
          <p:nvPr/>
        </p:nvSpPr>
        <p:spPr>
          <a:xfrm>
            <a:off x="878681" y="3340596"/>
            <a:ext cx="3486150" cy="14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출력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회귀 </a:t>
            </a:r>
            <a:r>
              <a:rPr lang="en-US" sz="731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출력 (최고/최저기온) + 분류 </a:t>
            </a:r>
            <a:r>
              <a:rPr lang="en-US" sz="731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출력 (비 여부)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650081" y="357634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✚</a:t>
            </a:r>
            <a:endParaRPr lang="en-US" sz="914" dirty="0"/>
          </a:p>
        </p:txBody>
      </p:sp>
      <p:sp>
        <p:nvSpPr>
          <p:cNvPr id="35" name="Text 33"/>
          <p:cNvSpPr/>
          <p:nvPr/>
        </p:nvSpPr>
        <p:spPr>
          <a:xfrm>
            <a:off x="1100138" y="3583484"/>
            <a:ext cx="234181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434331" y="3583484"/>
            <a:ext cx="1025575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78681" y="3576340"/>
            <a:ext cx="3486150" cy="145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손실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MSE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+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binary_crossentropy</a:t>
            </a:r>
            <a:r>
              <a:rPr lang="en-US" sz="731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가중합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4647009" y="1452637"/>
            <a:ext cx="3979069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0" descr="/tmp/h2p-fit-1783241762427-sdu6q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731" y="1513359"/>
            <a:ext cx="3857625" cy="2710049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4707731" y="4280557"/>
            <a:ext cx="3857625" cy="119993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5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학습/검증 손실 곡선 — 과적합 없이 수렴 확인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4350" y="4614863"/>
            <a:ext cx="62436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2 · DL Design · Keras LSTM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772275" y="4614863"/>
            <a:ext cx="18573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단층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시작 → 멀티태스크 회귀+분류 동시 학습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 · RESULT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14 / 25 · Phase 2 DL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060383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99"/>
              </a:lnSpc>
              <a:buNone/>
            </a:pPr>
            <a:r>
              <a:rPr lang="en-US" sz="1913" b="1" kern="0" spc="-1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913" b="1" kern="0" spc="-1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vs</a:t>
            </a: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1913" b="1" kern="0" spc="-1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1913" b="1" kern="0" spc="-1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정확도 비교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147822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같은 데이터로 학습한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(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LR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)과 </a:t>
            </a:r>
            <a:r>
              <a:rPr lang="en-US" sz="816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816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의 회귀·분류 성능을 정량 비교.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7821201" y="1149242"/>
            <a:ext cx="831309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58373" y="1195462"/>
            <a:ext cx="4998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kern="0" spc="25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700" kern="0" spc="25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데이터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915498" y="11972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⇄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7922" y="1452637"/>
            <a:ext cx="3979069" cy="830461"/>
          </a:xfrm>
          <a:prstGeom prst="roundRect">
            <a:avLst>
              <a:gd name="adj" fmla="val 137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794" y="1586582"/>
            <a:ext cx="30289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kern="0" spc="2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회귀 </a:t>
            </a:r>
            <a:r>
              <a:rPr lang="en-US" sz="731" kern="0" spc="2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MAE</a:t>
            </a:r>
            <a:r>
              <a:rPr lang="en-US" sz="731" kern="0" spc="2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(°</a:t>
            </a:r>
            <a:r>
              <a:rPr lang="en-US" sz="731" kern="0" spc="2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</a:t>
            </a:r>
            <a:r>
              <a:rPr lang="en-US" sz="731" kern="0" spc="2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 · 낮을수록 좋음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3656171" y="1544220"/>
            <a:ext cx="745808" cy="224028"/>
          </a:xfrm>
          <a:prstGeom prst="roundRect">
            <a:avLst>
              <a:gd name="adj" fmla="val 4247449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86200" y="1606228"/>
            <a:ext cx="4143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역전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757613" y="160979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FFFFFF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↘</a:t>
            </a:r>
            <a:endParaRPr lang="en-US" sz="914" dirty="0"/>
          </a:p>
        </p:txBody>
      </p:sp>
      <p:sp>
        <p:nvSpPr>
          <p:cNvPr id="15" name="Text 13"/>
          <p:cNvSpPr/>
          <p:nvPr/>
        </p:nvSpPr>
        <p:spPr>
          <a:xfrm>
            <a:off x="635794" y="1827684"/>
            <a:ext cx="2328322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3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794" y="1965201"/>
            <a:ext cx="18862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2.41</a:t>
            </a:r>
            <a:r>
              <a:rPr lang="en-US" sz="900" b="1" kern="0" spc="-34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°C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2195140" y="1928589"/>
            <a:ext cx="177589" cy="164592"/>
          </a:xfrm>
          <a:prstGeom prst="rect">
            <a:avLst/>
          </a:prstGeom>
          <a:noFill/>
          <a:ln/>
        </p:spPr>
        <p:txBody>
          <a:bodyPr wrap="none" lIns="28575" tIns="0" rIns="28575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vs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58455" y="1827684"/>
            <a:ext cx="1886236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3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 (LR)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58455" y="1965201"/>
            <a:ext cx="18862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2.50</a:t>
            </a:r>
            <a:r>
              <a:rPr lang="en-US" sz="900" b="1" kern="0" spc="-34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°C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4017801" y="1939305"/>
            <a:ext cx="3613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Δ -0.09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7922" y="2375967"/>
            <a:ext cx="3979069" cy="830461"/>
          </a:xfrm>
          <a:prstGeom prst="roundRect">
            <a:avLst>
              <a:gd name="adj" fmla="val 137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794" y="2509912"/>
            <a:ext cx="3136106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kern="0" spc="2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분류 </a:t>
            </a:r>
            <a:r>
              <a:rPr lang="en-US" sz="731" kern="0" spc="2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ACCURACY</a:t>
            </a:r>
            <a:r>
              <a:rPr lang="en-US" sz="731" kern="0" spc="2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높을수록 좋음</a:t>
            </a:r>
            <a:endParaRPr lang="en-US" sz="731" dirty="0"/>
          </a:p>
        </p:txBody>
      </p:sp>
      <p:sp>
        <p:nvSpPr>
          <p:cNvPr id="23" name="Text 21"/>
          <p:cNvSpPr/>
          <p:nvPr/>
        </p:nvSpPr>
        <p:spPr>
          <a:xfrm>
            <a:off x="3763327" y="2467549"/>
            <a:ext cx="638651" cy="224028"/>
          </a:xfrm>
          <a:prstGeom prst="roundRect">
            <a:avLst>
              <a:gd name="adj" fmla="val 42474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93356" y="2529557"/>
            <a:ext cx="30718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거의 동률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64769" y="253312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☰</a:t>
            </a:r>
            <a:endParaRPr lang="en-US" sz="914" dirty="0"/>
          </a:p>
        </p:txBody>
      </p:sp>
      <p:sp>
        <p:nvSpPr>
          <p:cNvPr id="26" name="Text 24"/>
          <p:cNvSpPr/>
          <p:nvPr/>
        </p:nvSpPr>
        <p:spPr>
          <a:xfrm>
            <a:off x="635794" y="2751013"/>
            <a:ext cx="2287583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3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5794" y="2888531"/>
            <a:ext cx="23165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0.706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2169356" y="2851919"/>
            <a:ext cx="177589" cy="164592"/>
          </a:xfrm>
          <a:prstGeom prst="rect">
            <a:avLst/>
          </a:prstGeom>
          <a:noFill/>
          <a:ln/>
        </p:spPr>
        <p:txBody>
          <a:bodyPr wrap="none" lIns="28575" tIns="0" rIns="28575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vs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32670" y="2751013"/>
            <a:ext cx="1946449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3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32670" y="2888531"/>
            <a:ext cx="19464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0.714</a:t>
            </a:r>
            <a:endParaRPr lang="en-US" sz="1688" dirty="0"/>
          </a:p>
        </p:txBody>
      </p:sp>
      <p:sp>
        <p:nvSpPr>
          <p:cNvPr id="31" name="Text 29"/>
          <p:cNvSpPr/>
          <p:nvPr/>
        </p:nvSpPr>
        <p:spPr>
          <a:xfrm>
            <a:off x="3966232" y="2862635"/>
            <a:ext cx="4128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Δ -0.008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350" y="3295724"/>
            <a:ext cx="3986213" cy="1169119"/>
          </a:xfrm>
          <a:prstGeom prst="roundRect">
            <a:avLst>
              <a:gd name="adj" fmla="val 81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14350" y="329929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96991" y="3295724"/>
            <a:ext cx="0" cy="11691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4350" y="446127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066" y="3295724"/>
            <a:ext cx="0" cy="1169119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2956" y="3410024"/>
            <a:ext cx="1735871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kern="0" spc="54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KEY</a:t>
            </a:r>
            <a:r>
              <a:rPr lang="en-US" sz="700" kern="0" spc="54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kern="0" spc="54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INSIGHT</a:t>
            </a:r>
            <a:r>
              <a:rPr lang="en-US" sz="700" kern="0" spc="54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핵심 학습 포인트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50081" y="3560043"/>
            <a:ext cx="3729038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 </a:t>
            </a:r>
            <a:r>
              <a:rPr lang="en-US" sz="759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2.5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→ </a:t>
            </a:r>
            <a:r>
              <a:rPr lang="en-US" sz="759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확장 후 </a:t>
            </a:r>
            <a:r>
              <a:rPr lang="en-US" sz="75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 우위. </a:t>
            </a:r>
            <a:r>
              <a:rPr lang="en-US" sz="759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59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은 데이터 충분해야 진가 발휘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— 핵심 학습 포인트.</a:t>
            </a:r>
            <a:endParaRPr lang="en-US" sz="759" dirty="0"/>
          </a:p>
        </p:txBody>
      </p:sp>
      <p:sp>
        <p:nvSpPr>
          <p:cNvPr id="39" name="Text 37"/>
          <p:cNvSpPr/>
          <p:nvPr/>
        </p:nvSpPr>
        <p:spPr>
          <a:xfrm>
            <a:off x="4647009" y="1452637"/>
            <a:ext cx="3979069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0" descr="/tmp/h2p-fit-1783241763784-extti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731" y="1513359"/>
            <a:ext cx="3857625" cy="2710049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4707731" y="4280557"/>
            <a:ext cx="3857625" cy="119993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>
            <a:normAutofit/>
          </a:bodyPr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6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vs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예측 오차 비교 —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을 근소하게 역전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4350" y="4614863"/>
            <a:ext cx="58864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Phase 2 · Result · ML vs DL Benchmark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415088" y="4614863"/>
            <a:ext cx="22145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회귀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MAE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↓ · 분류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acc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≈ 동률 · 데이터 스케일이 성능 역전의 핵심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 · FORECAST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15 / 25 · Phase 2 DL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902949" cy="264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시계열 예측 결과 — 며칠치 예보를 한 번에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162980"/>
            <a:ext cx="3717094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모델이 </a:t>
            </a:r>
            <a:r>
              <a:rPr lang="en-US" sz="788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일 시퀀스를 입력받아 향후 며칠의 기온 흐름을 한 번에 예측.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7615706" y="1127476"/>
            <a:ext cx="1036804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52879" y="1173696"/>
            <a:ext cx="70533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LSTM FORECAST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10004" y="117548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⌇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7922" y="1402296"/>
            <a:ext cx="8108156" cy="2622649"/>
          </a:xfrm>
          <a:prstGeom prst="roundRect">
            <a:avLst>
              <a:gd name="adj" fmla="val 435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/tmp/h2p-fit-1783241763832-toh95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" y="1477305"/>
            <a:ext cx="7958138" cy="2286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302533" y="3820455"/>
            <a:ext cx="2538822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160"/>
              </a:lnSpc>
              <a:buNone/>
            </a:pPr>
            <a:r>
              <a:rPr lang="en-US" sz="800" kern="0" spc="31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FIGURE 7</a:t>
            </a:r>
            <a:r>
              <a:rPr lang="en-US" sz="703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시계열 예측 — 과거 </a:t>
            </a:r>
            <a:r>
              <a:rPr lang="en-US" sz="703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</a:t>
            </a:r>
            <a:r>
              <a:rPr lang="en-US" sz="703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일 시퀀스로 향후 예측, 실측값과 비교</a:t>
            </a:r>
            <a:endParaRPr lang="en-US" sz="703" dirty="0"/>
          </a:p>
        </p:txBody>
      </p:sp>
      <p:sp>
        <p:nvSpPr>
          <p:cNvPr id="13" name="Text 10"/>
          <p:cNvSpPr/>
          <p:nvPr/>
        </p:nvSpPr>
        <p:spPr>
          <a:xfrm>
            <a:off x="514350" y="4142817"/>
            <a:ext cx="2647876" cy="601861"/>
          </a:xfrm>
          <a:prstGeom prst="roundRect">
            <a:avLst>
              <a:gd name="adj" fmla="val 189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14350" y="4146389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58654" y="4142817"/>
            <a:ext cx="0" cy="60186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4350" y="4741106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5066" y="4142817"/>
            <a:ext cx="0" cy="60186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0081" y="4249973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50081" y="424997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64419" y="4257117"/>
            <a:ext cx="533370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INSIGHT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50119" y="42633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✓</a:t>
            </a:r>
            <a:endParaRPr lang="en-US" sz="844" dirty="0"/>
          </a:p>
        </p:txBody>
      </p:sp>
      <p:sp>
        <p:nvSpPr>
          <p:cNvPr id="22" name="Text 19"/>
          <p:cNvSpPr/>
          <p:nvPr/>
        </p:nvSpPr>
        <p:spPr>
          <a:xfrm>
            <a:off x="950119" y="4383918"/>
            <a:ext cx="2090663" cy="150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충분한 데이터 → </a:t>
            </a:r>
            <a:r>
              <a:rPr lang="en-US" sz="75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우위 확인</a:t>
            </a:r>
            <a:endParaRPr lang="en-US" sz="759" dirty="0"/>
          </a:p>
        </p:txBody>
      </p:sp>
      <p:sp>
        <p:nvSpPr>
          <p:cNvPr id="23" name="Text 20"/>
          <p:cNvSpPr/>
          <p:nvPr/>
        </p:nvSpPr>
        <p:spPr>
          <a:xfrm>
            <a:off x="3251522" y="4146389"/>
            <a:ext cx="2640843" cy="594717"/>
          </a:xfrm>
          <a:prstGeom prst="roundRect">
            <a:avLst>
              <a:gd name="adj" fmla="val 192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369394" y="4249973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369394" y="424997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783732" y="4257117"/>
            <a:ext cx="409337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REUSE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669432" y="42633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⤓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133776" y="4398206"/>
            <a:ext cx="381186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669432" y="4383918"/>
            <a:ext cx="2105062" cy="150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모델 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.keras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저장·재사용</a:t>
            </a:r>
            <a:endParaRPr lang="en-US" sz="759" dirty="0"/>
          </a:p>
        </p:txBody>
      </p:sp>
      <p:sp>
        <p:nvSpPr>
          <p:cNvPr id="30" name="Text 27"/>
          <p:cNvSpPr/>
          <p:nvPr/>
        </p:nvSpPr>
        <p:spPr>
          <a:xfrm>
            <a:off x="5985235" y="4146389"/>
            <a:ext cx="2640732" cy="594717"/>
          </a:xfrm>
          <a:prstGeom prst="roundRect">
            <a:avLst>
              <a:gd name="adj" fmla="val 192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03107" y="4249973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103107" y="424997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517444" y="4257117"/>
            <a:ext cx="533370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HANDOFF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403144" y="42633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↗</a:t>
            </a:r>
            <a:endParaRPr lang="en-US" sz="844" dirty="0"/>
          </a:p>
        </p:txBody>
      </p:sp>
      <p:sp>
        <p:nvSpPr>
          <p:cNvPr id="35" name="Text 32"/>
          <p:cNvSpPr/>
          <p:nvPr/>
        </p:nvSpPr>
        <p:spPr>
          <a:xfrm>
            <a:off x="6403144" y="4398206"/>
            <a:ext cx="639254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403144" y="4383918"/>
            <a:ext cx="2104951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contract.md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스키마로 </a:t>
            </a:r>
            <a:r>
              <a:rPr lang="en-US" sz="75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Track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5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B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에 전달 </a:t>
            </a: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(source: lstm)</a:t>
            </a:r>
            <a:endParaRPr lang="en-US" sz="759" dirty="0"/>
          </a:p>
        </p:txBody>
      </p:sp>
      <p:sp>
        <p:nvSpPr>
          <p:cNvPr id="37" name="Text 34"/>
          <p:cNvSpPr/>
          <p:nvPr/>
        </p:nvSpPr>
        <p:spPr>
          <a:xfrm>
            <a:off x="514350" y="4858978"/>
            <a:ext cx="6743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2 · Output → Phase 3 Input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272338" y="4858978"/>
            <a:ext cx="1493044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저장된 모델이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Phase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/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가 호출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2712" y="1714500"/>
            <a:ext cx="4051288" cy="3429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1500"/>
              </a:lnSpc>
              <a:buNone/>
            </a:pPr>
            <a:r>
              <a:rPr lang="en-US" sz="31500" b="1" kern="0" spc="-1890" dirty="0">
                <a:solidFill>
                  <a:srgbClr val="F1F5F9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</a:t>
            </a:r>
            <a:endParaRPr lang="en-US" sz="31500" dirty="0"/>
          </a:p>
        </p:txBody>
      </p:sp>
      <p:sp>
        <p:nvSpPr>
          <p:cNvPr id="3" name="Shape 1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400050"/>
            <a:ext cx="64088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SECTION · PHASE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937474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17631" y="467916"/>
            <a:ext cx="200025" cy="1428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74806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54962" y="467916"/>
            <a:ext cx="200025" cy="1428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12137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92294" y="467916"/>
            <a:ext cx="200025" cy="1428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49469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429625" y="467916"/>
            <a:ext cx="200025" cy="1428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50" y="1609465"/>
            <a:ext cx="5143500" cy="1561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385"/>
              </a:lnSpc>
              <a:buNone/>
            </a:pPr>
            <a:r>
              <a:rPr lang="en-US" sz="12375" b="1" kern="0" spc="-619" dirty="0">
                <a:solidFill>
                  <a:srgbClr val="06B6D4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</a:t>
            </a:r>
            <a:endParaRPr lang="en-US" sz="12375" dirty="0"/>
          </a:p>
        </p:txBody>
      </p:sp>
      <p:sp>
        <p:nvSpPr>
          <p:cNvPr id="14" name="Text 12"/>
          <p:cNvSpPr/>
          <p:nvPr/>
        </p:nvSpPr>
        <p:spPr>
          <a:xfrm>
            <a:off x="514350" y="4043363"/>
            <a:ext cx="62865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4350" y="4255889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4214813"/>
            <a:ext cx="30432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73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FINAL PHASE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71938" y="1437010"/>
            <a:ext cx="507206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kern="0" spc="152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CHAPTER 04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4071938" y="1740619"/>
            <a:ext cx="5013484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Phase 3 — LLM/RAG:</a:t>
            </a:r>
            <a:endParaRPr lang="en-US" sz="3150" dirty="0"/>
          </a:p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출근 비서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4071938" y="2792090"/>
            <a:ext cx="328612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예측을 사람 말로 번역하고,</a:t>
            </a:r>
            <a:endParaRPr lang="en-US" sz="1238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매일 아침 폰으로 보낸다.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4050939" y="3536526"/>
            <a:ext cx="566950" cy="250631"/>
          </a:xfrm>
          <a:prstGeom prst="roundRect">
            <a:avLst>
              <a:gd name="adj" fmla="val 228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71938" y="3549328"/>
            <a:ext cx="52495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3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예측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4682617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4883360" y="3536526"/>
            <a:ext cx="366354" cy="250631"/>
          </a:xfrm>
          <a:prstGeom prst="roundRect">
            <a:avLst>
              <a:gd name="adj" fmla="val 228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96929" y="3549328"/>
            <a:ext cx="339217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RAG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21871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520377" y="3536526"/>
            <a:ext cx="426750" cy="250631"/>
          </a:xfrm>
          <a:prstGeom prst="roundRect">
            <a:avLst>
              <a:gd name="adj" fmla="val 228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36183" y="3549328"/>
            <a:ext cx="39513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sLLM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17047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6208843" y="3536526"/>
            <a:ext cx="607938" cy="250631"/>
          </a:xfrm>
          <a:prstGeom prst="roundRect">
            <a:avLst>
              <a:gd name="adj" fmla="val 22802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31359" y="3549328"/>
            <a:ext cx="56290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Discord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4350" y="4486275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350" y="4604147"/>
            <a:ext cx="770955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WeatherCheck · Learning Project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38195" y="4604147"/>
            <a:ext cx="39145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16 / 25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5938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3962274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 · LLM/RAG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78644"/>
            <a:ext cx="3326314" cy="2628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1800" b="1" kern="0" spc="-27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파이프라인 &amp; 로컬 </a:t>
            </a:r>
            <a:r>
              <a:rPr lang="en-US" sz="1800" b="1" kern="0" spc="-27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1800" b="1" kern="0" spc="-27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전환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08057" y="545716"/>
            <a:ext cx="4215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17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162980"/>
            <a:ext cx="14257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PIPELINE · 5 STEPS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9760" y="1218344"/>
            <a:ext cx="6979890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922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506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5819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⌇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621506" y="1659471"/>
            <a:ext cx="1214438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예측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621506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LSTM · .keras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기온·비 예측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985963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2189559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93144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93144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07456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⊟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2293144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교통 </a:t>
            </a:r>
            <a:r>
              <a:rPr lang="en-US" sz="788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API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2293144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TMAP / ODsay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소요시간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0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3861197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64781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64781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79094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⌕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3964781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검색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3964781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Chroma + TF-IDF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니치 문서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329238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5532834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36419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6419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50731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636419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로컬 </a:t>
            </a:r>
            <a:r>
              <a:rPr lang="en-US" sz="788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5636419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EXAONE 3.5 7.8B</a:t>
            </a:r>
            <a:endParaRPr lang="en-US" sz="8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Ollama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00875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547" dirty="0"/>
          </a:p>
        </p:txBody>
      </p:sp>
      <p:sp>
        <p:nvSpPr>
          <p:cNvPr id="36" name="Text 34"/>
          <p:cNvSpPr/>
          <p:nvPr/>
        </p:nvSpPr>
        <p:spPr>
          <a:xfrm>
            <a:off x="7204472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08056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308056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22369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◔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7308056" y="1659471"/>
            <a:ext cx="1214438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디스코드 알림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7308056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@멘션 · 자동 발송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매일 아침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4350" y="2325849"/>
            <a:ext cx="4000500" cy="2417601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14350" y="232942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11278" y="2325849"/>
            <a:ext cx="0" cy="241760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4350" y="473987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066" y="2325849"/>
            <a:ext cx="0" cy="241760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4369" y="2447292"/>
            <a:ext cx="37147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CHALLENGE 01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0106" y="2625886"/>
            <a:ext cx="98226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임베딩 전환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4369" y="2868774"/>
            <a:ext cx="3714750" cy="48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Chroma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기본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ONNX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모델(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79MB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 다운로드 반복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timeout</a:t>
            </a:r>
            <a:endParaRPr lang="en-US" sz="703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TF-IDF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(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sklearn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)로 교체 — 문서 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6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~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 규모라 매 검색마다 재구축해도 즉시 처리</a:t>
            </a:r>
            <a:endParaRPr lang="en-US" sz="703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오검색 방지: 니치 문서는 별도 폴더, 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1:1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직접 읽기</a:t>
            </a:r>
            <a:endParaRPr lang="en-US" sz="703" dirty="0"/>
          </a:p>
        </p:txBody>
      </p:sp>
      <p:sp>
        <p:nvSpPr>
          <p:cNvPr id="50" name="Text 48"/>
          <p:cNvSpPr/>
          <p:nvPr/>
        </p:nvSpPr>
        <p:spPr>
          <a:xfrm>
            <a:off x="4629150" y="2325849"/>
            <a:ext cx="4000500" cy="2417601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629150" y="232942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26078" y="2325849"/>
            <a:ext cx="0" cy="241760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29150" y="473987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39866" y="2325849"/>
            <a:ext cx="0" cy="241760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9169" y="2447292"/>
            <a:ext cx="37147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CHALLENGE 02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64906" y="2625886"/>
            <a:ext cx="106263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백엔드 전환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79169" y="2868774"/>
            <a:ext cx="3714750" cy="65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Claude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API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로컬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Ollama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EXAONE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3.5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7.8B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(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4.8GB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, 한국어 특화)</a:t>
            </a:r>
            <a:endParaRPr lang="en-US" sz="703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선생님 과제 취지: 외부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API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대신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직접 운용 학습</a:t>
            </a:r>
            <a:endParaRPr lang="en-US" sz="703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분류: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temperature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=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(결정적), 생성: 기본값</a:t>
            </a:r>
            <a:endParaRPr lang="en-US" sz="703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RTX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4060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8GB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에서 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8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~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12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초 응답, </a:t>
            </a:r>
            <a:r>
              <a:rPr lang="en-US" sz="703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keep_alive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=</a:t>
            </a:r>
            <a:r>
              <a:rPr lang="en-US" sz="70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30m</a:t>
            </a:r>
            <a:r>
              <a:rPr lang="en-US" sz="703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으로 상시 로드</a:t>
            </a:r>
            <a:endParaRPr lang="en-US" sz="70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5938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3113989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 · BOT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78644"/>
            <a:ext cx="2406395" cy="262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디스코드 봇 &amp; 차별화 기능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08057" y="545716"/>
            <a:ext cx="4215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18 /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14550" y="1162980"/>
            <a:ext cx="592262" cy="157163"/>
          </a:xfrm>
          <a:prstGeom prst="roundRect">
            <a:avLst>
              <a:gd name="adj" fmla="val 6054526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1162980"/>
            <a:ext cx="8115300" cy="16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대화형 디스코드 봇 — 자연어 의도 분류 </a:t>
            </a: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Arial Narrow" pitchFamily="34" charset="0"/>
                <a:ea typeface="Arial Narrow" pitchFamily="34"/>
                <a:cs typeface="Arial Narrow" pitchFamily="34"/>
              </a:rPr>
              <a:t>15+</a:t>
            </a: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맑은 고딕" pitchFamily="34" charset="0"/>
                <a:ea typeface="맑은 고딕" pitchFamily="34"/>
                <a:cs typeface="맑은 고딕" pitchFamily="34"/>
              </a:rPr>
              <a:t> 인텐트</a:t>
            </a:r>
            <a:r>
              <a:rPr lang="en-US" sz="78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로 모든 기능을 한 채널에서 처리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514350" y="1434443"/>
            <a:ext cx="4007644" cy="1604442"/>
          </a:xfrm>
          <a:prstGeom prst="roundRect">
            <a:avLst>
              <a:gd name="adj" fmla="val 83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14350" y="1438015"/>
            <a:ext cx="40076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8422" y="1434443"/>
            <a:ext cx="0" cy="160444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" y="3035312"/>
            <a:ext cx="40076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8638" y="1434443"/>
            <a:ext cx="0" cy="1604442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441586"/>
            <a:ext cx="3971925" cy="2143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64546" y="1541599"/>
            <a:ext cx="5074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 · NICHE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" y="1663936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3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🚲</a:t>
            </a:r>
            <a:endParaRPr lang="en-US" sz="1463" dirty="0"/>
          </a:p>
        </p:txBody>
      </p:sp>
      <p:sp>
        <p:nvSpPr>
          <p:cNvPr id="16" name="Text 13"/>
          <p:cNvSpPr/>
          <p:nvPr/>
        </p:nvSpPr>
        <p:spPr>
          <a:xfrm>
            <a:off x="985838" y="1627324"/>
            <a:ext cx="150482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SIGNATURE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85838" y="1734480"/>
            <a:ext cx="1306106" cy="163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니치 타겟 · 자전거 통근</a:t>
            </a:r>
            <a:endParaRPr lang="en-US" sz="956" dirty="0"/>
          </a:p>
        </p:txBody>
      </p:sp>
      <p:sp>
        <p:nvSpPr>
          <p:cNvPr id="18" name="Text 15"/>
          <p:cNvSpPr/>
          <p:nvPr/>
        </p:nvSpPr>
        <p:spPr>
          <a:xfrm>
            <a:off x="2007394" y="2029160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257550" y="2029160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5800" y="1972010"/>
            <a:ext cx="3686175" cy="1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별도 지식 폴더에서 </a:t>
            </a:r>
            <a:r>
              <a:rPr lang="en-US" sz="759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1:1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직접 읽기  </a:t>
            </a:r>
            <a:r>
              <a:rPr lang="en-US" sz="759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🚲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전용 섹션으로 분리 생성  버튼 또는 채팅으로 토글</a:t>
            </a:r>
            <a:endParaRPr lang="en-US" sz="759" dirty="0"/>
          </a:p>
        </p:txBody>
      </p:sp>
      <p:sp>
        <p:nvSpPr>
          <p:cNvPr id="21" name="Text 18"/>
          <p:cNvSpPr/>
          <p:nvPr/>
        </p:nvSpPr>
        <p:spPr>
          <a:xfrm>
            <a:off x="4625578" y="1438015"/>
            <a:ext cx="4000500" cy="1597298"/>
          </a:xfrm>
          <a:prstGeom prst="roundRect">
            <a:avLst>
              <a:gd name="adj" fmla="val 8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865046" y="1541599"/>
            <a:ext cx="6145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 · ROUTINE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72025" y="1663936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3" dirty="0">
                <a:solidFill>
                  <a:srgbClr val="0F172A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🏠</a:t>
            </a:r>
            <a:endParaRPr lang="en-US" sz="1463" dirty="0"/>
          </a:p>
        </p:txBody>
      </p:sp>
      <p:sp>
        <p:nvSpPr>
          <p:cNvPr id="24" name="Text 21"/>
          <p:cNvSpPr/>
          <p:nvPr/>
        </p:nvSpPr>
        <p:spPr>
          <a:xfrm>
            <a:off x="5072063" y="1627324"/>
            <a:ext cx="7620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CONFIG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72063" y="1734480"/>
            <a:ext cx="722376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출근지 설정</a:t>
            </a:r>
            <a:endParaRPr lang="en-US" sz="956" dirty="0"/>
          </a:p>
        </p:txBody>
      </p:sp>
      <p:sp>
        <p:nvSpPr>
          <p:cNvPr id="26" name="Text 23"/>
          <p:cNvSpPr/>
          <p:nvPr/>
        </p:nvSpPr>
        <p:spPr>
          <a:xfrm>
            <a:off x="7350919" y="2029160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72025" y="1972010"/>
            <a:ext cx="3707606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출발지·도착지 한 번 등록 → 이후 알림에 날씨+소요시간 같이 발송  자전거 니치일 땐 자동 생략</a:t>
            </a:r>
            <a:endParaRPr lang="en-US" sz="759" dirty="0"/>
          </a:p>
        </p:txBody>
      </p:sp>
      <p:sp>
        <p:nvSpPr>
          <p:cNvPr id="28" name="Text 25"/>
          <p:cNvSpPr/>
          <p:nvPr/>
        </p:nvSpPr>
        <p:spPr>
          <a:xfrm>
            <a:off x="517922" y="3142469"/>
            <a:ext cx="4000500" cy="1597409"/>
          </a:xfrm>
          <a:prstGeom prst="roundRect">
            <a:avLst>
              <a:gd name="adj" fmla="val 8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703700" y="3246053"/>
            <a:ext cx="6682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 · FEEDBACK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64369" y="3368390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3" dirty="0">
                <a:solidFill>
                  <a:srgbClr val="0F172A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🌡️</a:t>
            </a:r>
            <a:endParaRPr lang="en-US" sz="1463" dirty="0"/>
          </a:p>
        </p:txBody>
      </p:sp>
      <p:sp>
        <p:nvSpPr>
          <p:cNvPr id="31" name="Text 28"/>
          <p:cNvSpPr/>
          <p:nvPr/>
        </p:nvSpPr>
        <p:spPr>
          <a:xfrm>
            <a:off x="964406" y="3331778"/>
            <a:ext cx="141800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PRD CORE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64406" y="3438934"/>
            <a:ext cx="1230754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개인 체감 피드백 루프</a:t>
            </a:r>
            <a:endParaRPr lang="en-US" sz="956" dirty="0"/>
          </a:p>
        </p:txBody>
      </p:sp>
      <p:sp>
        <p:nvSpPr>
          <p:cNvPr id="33" name="Text 30"/>
          <p:cNvSpPr/>
          <p:nvPr/>
        </p:nvSpPr>
        <p:spPr>
          <a:xfrm>
            <a:off x="1843088" y="373361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571875" y="373361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64369" y="3676464"/>
            <a:ext cx="3707606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매일 알림에 </a:t>
            </a:r>
            <a:r>
              <a:rPr lang="en-US" sz="759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🥶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/</a:t>
            </a:r>
            <a:r>
              <a:rPr lang="en-US" sz="759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👍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/</a:t>
            </a:r>
            <a:r>
              <a:rPr lang="en-US" sz="759" dirty="0">
                <a:solidFill>
                  <a:srgbClr val="334155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🥵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버튼  누적 평균으로 체감온도 보정치(°</a:t>
            </a:r>
            <a:r>
              <a:rPr lang="en-US" sz="759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C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) 계산  브리핑에 자동 반영</a:t>
            </a:r>
            <a:endParaRPr lang="en-US" sz="759" dirty="0"/>
          </a:p>
        </p:txBody>
      </p:sp>
      <p:sp>
        <p:nvSpPr>
          <p:cNvPr id="36" name="Text 33"/>
          <p:cNvSpPr/>
          <p:nvPr/>
        </p:nvSpPr>
        <p:spPr>
          <a:xfrm>
            <a:off x="4625578" y="3142469"/>
            <a:ext cx="4000500" cy="1597409"/>
          </a:xfrm>
          <a:prstGeom prst="roundRect">
            <a:avLst>
              <a:gd name="adj" fmla="val 8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8132936" y="3246053"/>
            <a:ext cx="3466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 · UX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772025" y="3368390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63" dirty="0">
                <a:solidFill>
                  <a:srgbClr val="0F172A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⏰</a:t>
            </a:r>
            <a:endParaRPr lang="en-US" sz="1463" dirty="0"/>
          </a:p>
        </p:txBody>
      </p:sp>
      <p:sp>
        <p:nvSpPr>
          <p:cNvPr id="39" name="Text 36"/>
          <p:cNvSpPr/>
          <p:nvPr/>
        </p:nvSpPr>
        <p:spPr>
          <a:xfrm>
            <a:off x="5072063" y="3331778"/>
            <a:ext cx="958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AUTOMATION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072063" y="3438934"/>
            <a:ext cx="904227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자동 알림 &amp; </a:t>
            </a:r>
            <a:r>
              <a:rPr lang="en-US" sz="956" b="1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UX</a:t>
            </a:r>
            <a:endParaRPr lang="en-US" sz="956" dirty="0"/>
          </a:p>
        </p:txBody>
      </p:sp>
      <p:sp>
        <p:nvSpPr>
          <p:cNvPr id="41" name="Text 38"/>
          <p:cNvSpPr/>
          <p:nvPr/>
        </p:nvSpPr>
        <p:spPr>
          <a:xfrm>
            <a:off x="6343650" y="373361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343775" y="373361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772025" y="3676464"/>
            <a:ext cx="3707606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자연어로 시각 설정(매일 </a:t>
            </a:r>
            <a:r>
              <a:rPr lang="en-US" sz="759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8</a:t>
            </a:r>
            <a:r>
              <a:rPr lang="en-US" sz="759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시에 알려줘)  @멘션으로 푸시 보장  도움말 버튼 패널 자동 핀 고정</a:t>
            </a:r>
            <a:endParaRPr lang="en-US" sz="759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 · CODE 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19 / 25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481255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41"/>
              </a:lnSpc>
              <a:buNone/>
            </a:pPr>
            <a:r>
              <a:rPr lang="en-US" sz="1688" b="1" kern="0" spc="-17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코드 아키텍처 — </a:t>
            </a:r>
            <a:r>
              <a:rPr lang="en-US" sz="1688" b="1" kern="0" spc="-17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20</a:t>
            </a:r>
            <a:r>
              <a:rPr lang="en-US" sz="1688" b="1" kern="0" spc="-17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 모듈의 책임 분리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46572"/>
            <a:ext cx="3315481" cy="140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 → 예측 → 서비스 </a:t>
            </a:r>
            <a:r>
              <a:rPr lang="en-US" sz="731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3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계층 흐름과 </a:t>
            </a: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Track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A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</a:t>
            </a: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B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·인프라·테스트 </a:t>
            </a:r>
            <a:r>
              <a:rPr lang="en-US" sz="731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축 모듈 인벤토리.</a:t>
            </a:r>
            <a:endParaRPr lang="en-US" sz="731" dirty="0"/>
          </a:p>
        </p:txBody>
      </p:sp>
      <p:sp>
        <p:nvSpPr>
          <p:cNvPr id="7" name="Text 5"/>
          <p:cNvSpPr/>
          <p:nvPr/>
        </p:nvSpPr>
        <p:spPr>
          <a:xfrm>
            <a:off x="7782357" y="1090976"/>
            <a:ext cx="870153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12385" y="1137196"/>
            <a:ext cx="54582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20 MODULES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76654" y="11425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4350" y="1362224"/>
            <a:ext cx="14500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71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DATA FLOW · 3 LAYERS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83358" y="1414909"/>
            <a:ext cx="6946292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" y="1519086"/>
            <a:ext cx="674370" cy="345286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1494" y="1531888"/>
            <a:ext cx="0" cy="319683"/>
          </a:xfrm>
          <a:prstGeom prst="line">
            <a:avLst/>
          </a:prstGeom>
          <a:noFill/>
          <a:ln w="14288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788" y="1574750"/>
            <a:ext cx="50006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53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LAYER 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788" y="1690836"/>
            <a:ext cx="5000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25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 계층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18009" y="1538139"/>
            <a:ext cx="2533981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85875" y="1600758"/>
            <a:ext cx="266651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KMA CSV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85875" y="1697868"/>
            <a:ext cx="266651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ASOS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일자료 ·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EUC-KR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15124" y="1556007"/>
            <a:ext cx="834111" cy="275163"/>
          </a:xfrm>
          <a:prstGeom prst="roundRect">
            <a:avLst>
              <a:gd name="adj" fmla="val 2442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957699" y="1602309"/>
            <a:ext cx="555304" cy="21116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import_kma.py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98578" y="163457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859313" y="1538139"/>
            <a:ext cx="2802359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27178" y="1600758"/>
            <a:ext cx="2776356" cy="13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data/raw/seoul_weather.csv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27178" y="1697868"/>
            <a:ext cx="2666628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정제된 실데이터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708106" y="1640830"/>
            <a:ext cx="921544" cy="144018"/>
          </a:xfrm>
          <a:prstGeom prst="rect">
            <a:avLst/>
          </a:prstGeom>
          <a:noFill/>
          <a:ln/>
        </p:spPr>
        <p:txBody>
          <a:bodyPr wrap="square" lIns="28575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700" i="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↳ 폴백: </a:t>
            </a: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generate_data</a:t>
            </a:r>
            <a:r>
              <a:rPr lang="en-US" sz="700" i="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.</a:t>
            </a: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py</a:t>
            </a:r>
            <a:r>
              <a:rPr lang="en-US" sz="700" i="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합성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1490" y="1895919"/>
            <a:ext cx="674370" cy="345286"/>
          </a:xfrm>
          <a:prstGeom prst="roundRect">
            <a:avLst>
              <a:gd name="adj" fmla="val 5517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21494" y="1908721"/>
            <a:ext cx="0" cy="319683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788" y="1951583"/>
            <a:ext cx="50006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5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LAYER 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5788" y="2067669"/>
            <a:ext cx="5000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25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예측 계층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218009" y="1914971"/>
            <a:ext cx="1712268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85875" y="1977591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src/ml/predict.py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85875" y="2074701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LR / RF / XGB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76711" y="2004268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+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074826" y="1914971"/>
            <a:ext cx="1712379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142692" y="1977591"/>
            <a:ext cx="1576648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src/dl/predict.py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42692" y="2074701"/>
            <a:ext cx="1576648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 · .keras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33640" y="201141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125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802" y="1911400"/>
            <a:ext cx="1719411" cy="314325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967942" y="1898598"/>
            <a:ext cx="1765131" cy="339928"/>
          </a:xfrm>
          <a:prstGeom prst="roundRect">
            <a:avLst>
              <a:gd name="adj" fmla="val 22417"/>
            </a:avLst>
          </a:prstGeom>
          <a:noFill/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062240" y="1977591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src/predictor.py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062240" y="2074701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파사드로 통합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753076" y="201141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6887379" y="1898598"/>
            <a:ext cx="1765131" cy="339928"/>
          </a:xfrm>
          <a:prstGeom prst="roundRect">
            <a:avLst>
              <a:gd name="adj" fmla="val 224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981676" y="1977591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contract.md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981676" y="2074701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스키마 반환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91490" y="2272752"/>
            <a:ext cx="674370" cy="345286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521494" y="2285554"/>
            <a:ext cx="0" cy="319683"/>
          </a:xfrm>
          <a:prstGeom prst="line">
            <a:avLst/>
          </a:prstGeom>
          <a:noFill/>
          <a:ln w="14288">
            <a:solidFill>
              <a:srgbClr val="0F172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85788" y="2328416"/>
            <a:ext cx="50006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53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LAYER 03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85788" y="2444502"/>
            <a:ext cx="5000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25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서비스 계층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191578" y="2275431"/>
            <a:ext cx="1765131" cy="339928"/>
          </a:xfrm>
          <a:prstGeom prst="roundRect">
            <a:avLst>
              <a:gd name="adj" fmla="val 22417"/>
            </a:avLst>
          </a:prstGeom>
          <a:solidFill>
            <a:srgbClr val="0F172A"/>
          </a:solidFill>
          <a:ln w="7144">
            <a:solidFill>
              <a:srgbClr val="0F172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1285875" y="2354424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FFFFFF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src/predictor.py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285875" y="2451534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예측값 제공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2976711" y="23882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125" dirty="0"/>
          </a:p>
        </p:txBody>
      </p:sp>
      <p:sp>
        <p:nvSpPr>
          <p:cNvPr id="54" name="Text 51"/>
          <p:cNvSpPr/>
          <p:nvPr/>
        </p:nvSpPr>
        <p:spPr>
          <a:xfrm>
            <a:off x="3137446" y="2291804"/>
            <a:ext cx="1712379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3205311" y="2354424"/>
            <a:ext cx="1576648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src/briefing.py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3205311" y="2451534"/>
            <a:ext cx="1576648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+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브리핑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4896259" y="2381101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+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4967942" y="2275431"/>
            <a:ext cx="1765131" cy="339928"/>
          </a:xfrm>
          <a:prstGeom prst="roundRect">
            <a:avLst>
              <a:gd name="adj" fmla="val 224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5062240" y="2354424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app.py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5062240" y="2451534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Streamlit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753076" y="23882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1125" dirty="0"/>
          </a:p>
        </p:txBody>
      </p:sp>
      <p:sp>
        <p:nvSpPr>
          <p:cNvPr id="62" name="Text 59"/>
          <p:cNvSpPr/>
          <p:nvPr/>
        </p:nvSpPr>
        <p:spPr>
          <a:xfrm>
            <a:off x="6913811" y="2291804"/>
            <a:ext cx="1712268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6981676" y="2354424"/>
            <a:ext cx="1671129" cy="13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src/discord_chat_bot.py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6981676" y="2451534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15+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인텐트 분류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514350" y="2690961"/>
            <a:ext cx="18133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71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MODULE INVENTORY · 4 TRACKS × 5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2279079" y="2743646"/>
            <a:ext cx="6350571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2860625"/>
          <a:ext cx="8101012" cy="1424469"/>
        </p:xfrm>
        <a:graphic>
          <a:graphicData uri="http://schemas.openxmlformats.org/drawingml/2006/table">
            <a:tbl>
              <a:tblPr/>
              <a:tblGrid>
                <a:gridCol w="2025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5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5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5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Track AML / DL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Track BRAG / LLM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Infra인프라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Test테스트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import_kma / generate_data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rag.py (Chroma+TF-IDF)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app.py (Streamlit)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test_predict.py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eda.py / train.py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llm.py (Ollama EXAONE)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discord_bot.py (웹훅)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test_dl_predict.py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ml/predict.py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briefing.py (브리핑)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discord_chat_bot.py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(self-check)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dl/predict.py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traffic.py (TMAP/ODsay)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seed_feedback.py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predictor.py __main__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dl/sequences.py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feedback.py (체감 학습)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/>
                          <a:cs typeface="맑은 고딕" pitchFamily="34"/>
                        </a:rPr>
                        <a:t>predictor.py (파사드)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/>
                          <a:cs typeface="Calibri" pitchFamily="34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Text 64"/>
          <p:cNvSpPr/>
          <p:nvPr/>
        </p:nvSpPr>
        <p:spPr>
          <a:xfrm>
            <a:off x="514350" y="4292501"/>
            <a:ext cx="8115300" cy="260747"/>
          </a:xfrm>
          <a:prstGeom prst="roundRect">
            <a:avLst>
              <a:gd name="adj" fmla="val 292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Shape 65"/>
          <p:cNvSpPr/>
          <p:nvPr/>
        </p:nvSpPr>
        <p:spPr>
          <a:xfrm>
            <a:off x="514350" y="429607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626078" y="4292501"/>
            <a:ext cx="0" cy="26074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514350" y="4549676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525066" y="4292501"/>
            <a:ext cx="0" cy="260747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635794" y="436572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1125" dirty="0"/>
          </a:p>
        </p:txBody>
      </p:sp>
      <p:sp>
        <p:nvSpPr>
          <p:cNvPr id="74" name="Text 70"/>
          <p:cNvSpPr/>
          <p:nvPr/>
        </p:nvSpPr>
        <p:spPr>
          <a:xfrm>
            <a:off x="807244" y="4371082"/>
            <a:ext cx="639254" cy="107156"/>
          </a:xfrm>
          <a:prstGeom prst="roundRect">
            <a:avLst>
              <a:gd name="adj" fmla="val 355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3911092" y="4371082"/>
            <a:ext cx="828452" cy="107156"/>
          </a:xfrm>
          <a:prstGeom prst="roundRect">
            <a:avLst>
              <a:gd name="adj" fmla="val 355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2"/>
          <p:cNvSpPr/>
          <p:nvPr/>
        </p:nvSpPr>
        <p:spPr>
          <a:xfrm>
            <a:off x="807244" y="4356795"/>
            <a:ext cx="7715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57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predictor.py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= </a:t>
            </a: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Track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A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</a:t>
            </a: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B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결합도 분리 핵심 — </a:t>
            </a: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Track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B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는 </a:t>
            </a: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/</a:t>
            </a: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내부 로직을 몰라도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/>
                <a:cs typeface="Courier New" pitchFamily="34"/>
              </a:rPr>
              <a:t>get_prediction()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한 번으로 예측값 획득.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 · RETROSPECTIVE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23 / 25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4418052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41"/>
              </a:lnSpc>
              <a:buNone/>
            </a:pPr>
            <a:r>
              <a:rPr lang="en-US" sz="1688" b="1" kern="0" spc="-17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문제해결 스토리 &amp; 핵심 성과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46572"/>
            <a:ext cx="4207669" cy="140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데이터·임베딩·</a:t>
            </a: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·배포 </a:t>
            </a:r>
            <a:r>
              <a:rPr lang="en-US" sz="731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 디버깅 사가 모델·시스템 신뢰성을 만들었고, </a:t>
            </a:r>
            <a:r>
              <a:rPr lang="en-US" sz="731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 지표가 </a:t>
            </a:r>
            <a:r>
              <a:rPr lang="en-US" sz="731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end-to-end</a:t>
            </a:r>
            <a:r>
              <a:rPr lang="en-US" sz="731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완성을 증명한다.</a:t>
            </a:r>
            <a:endParaRPr lang="en-US" sz="731" dirty="0"/>
          </a:p>
        </p:txBody>
      </p:sp>
      <p:sp>
        <p:nvSpPr>
          <p:cNvPr id="7" name="Text 5"/>
          <p:cNvSpPr/>
          <p:nvPr/>
        </p:nvSpPr>
        <p:spPr>
          <a:xfrm>
            <a:off x="7432536" y="1090976"/>
            <a:ext cx="1219974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62565" y="1137196"/>
            <a:ext cx="89564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 DEBUG · 4 METRICS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26834" y="11425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4350" y="1390799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60" y="1409908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9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⚒</a:t>
            </a:r>
            <a:endParaRPr lang="en-US" sz="1195" dirty="0"/>
          </a:p>
        </p:txBody>
      </p:sp>
      <p:sp>
        <p:nvSpPr>
          <p:cNvPr id="12" name="Text 10"/>
          <p:cNvSpPr/>
          <p:nvPr/>
        </p:nvSpPr>
        <p:spPr>
          <a:xfrm>
            <a:off x="785813" y="1406872"/>
            <a:ext cx="295126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kern="0" spc="-1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문제해결 </a:t>
            </a:r>
            <a:r>
              <a:rPr lang="en-US" sz="956" b="1" kern="0" spc="-10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956" b="1" kern="0" spc="-1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선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3765649" y="1441698"/>
            <a:ext cx="7852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3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DEBUG STORIES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7922" y="1694408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506" y="1783705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01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918789" y="1775240"/>
            <a:ext cx="460142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07281" y="1805136"/>
            <a:ext cx="19745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700" kern="0" spc="12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92981" y="181138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935831" y="1960513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합성 데이터 </a:t>
            </a: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실데이터 교체 · </a:t>
            </a:r>
            <a:r>
              <a:rPr lang="en-US" sz="703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2.5</a:t>
            </a:r>
            <a:r>
              <a:rPr lang="en-US" sz="703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3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확장으로 </a:t>
            </a:r>
            <a:r>
              <a:rPr lang="en-US" sz="703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우위 확인</a:t>
            </a:r>
            <a:endParaRPr lang="en-US" sz="703" dirty="0"/>
          </a:p>
        </p:txBody>
      </p:sp>
      <p:sp>
        <p:nvSpPr>
          <p:cNvPr id="20" name="Text 18"/>
          <p:cNvSpPr/>
          <p:nvPr/>
        </p:nvSpPr>
        <p:spPr>
          <a:xfrm>
            <a:off x="517922" y="2475421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506" y="2564718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02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918789" y="2556253"/>
            <a:ext cx="460142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07281" y="2586149"/>
            <a:ext cx="19745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700" kern="0" spc="12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임베딩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92981" y="259240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⌕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935831" y="2741526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Chroma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3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ONNX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다운로드 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timeout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TF-IDF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로 교체, 문서 수 적어 즉시 처리</a:t>
            </a:r>
            <a:endParaRPr lang="en-US" sz="703" dirty="0"/>
          </a:p>
        </p:txBody>
      </p:sp>
      <p:sp>
        <p:nvSpPr>
          <p:cNvPr id="26" name="Text 24"/>
          <p:cNvSpPr/>
          <p:nvPr/>
        </p:nvSpPr>
        <p:spPr>
          <a:xfrm>
            <a:off x="517922" y="3256434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1506" y="3345731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03</a:t>
            </a:r>
            <a:endParaRPr lang="en-US" sz="1238" dirty="0"/>
          </a:p>
        </p:txBody>
      </p:sp>
      <p:sp>
        <p:nvSpPr>
          <p:cNvPr id="28" name="Text 26"/>
          <p:cNvSpPr/>
          <p:nvPr/>
        </p:nvSpPr>
        <p:spPr>
          <a:xfrm>
            <a:off x="918731" y="3337265"/>
            <a:ext cx="461709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07281" y="3367162"/>
            <a:ext cx="19890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800" kern="0" spc="12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92981" y="337341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935831" y="3522538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의도 분류 </a:t>
            </a:r>
            <a:r>
              <a:rPr lang="en-US" sz="703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비결정적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temperature=0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고정으로 완전 일치</a:t>
            </a:r>
            <a:endParaRPr lang="en-US" sz="703" dirty="0"/>
          </a:p>
        </p:txBody>
      </p:sp>
      <p:sp>
        <p:nvSpPr>
          <p:cNvPr id="32" name="Text 30"/>
          <p:cNvSpPr/>
          <p:nvPr/>
        </p:nvSpPr>
        <p:spPr>
          <a:xfrm>
            <a:off x="517922" y="4037447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1506" y="4126743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>
            <a:normAutofit/>
          </a:bodyPr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04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921423" y="4118278"/>
            <a:ext cx="389017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07281" y="4148175"/>
            <a:ext cx="13160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700" kern="0" spc="12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배포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92981" y="415442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☁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935831" y="4303551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Discord Cloudflare </a:t>
            </a:r>
            <a:r>
              <a:rPr lang="en-US" sz="703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urllib</a:t>
            </a:r>
            <a:r>
              <a:rPr lang="en-US" sz="703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차단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800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</a:t>
            </a:r>
            <a:r>
              <a:rPr lang="en-US" sz="703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User-Agent</a:t>
            </a: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헤더 추가로 해결</a:t>
            </a:r>
            <a:endParaRPr lang="en-US" sz="703" dirty="0"/>
          </a:p>
        </p:txBody>
      </p:sp>
      <p:sp>
        <p:nvSpPr>
          <p:cNvPr id="38" name="Text 36"/>
          <p:cNvSpPr/>
          <p:nvPr/>
        </p:nvSpPr>
        <p:spPr>
          <a:xfrm>
            <a:off x="4568428" y="1390799"/>
            <a:ext cx="7144" cy="3352651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32734" y="1390799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51844" y="1409908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9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♛</a:t>
            </a:r>
            <a:endParaRPr lang="en-US" sz="1195" dirty="0"/>
          </a:p>
        </p:txBody>
      </p:sp>
      <p:sp>
        <p:nvSpPr>
          <p:cNvPr id="41" name="Text 39"/>
          <p:cNvSpPr/>
          <p:nvPr/>
        </p:nvSpPr>
        <p:spPr>
          <a:xfrm>
            <a:off x="5004197" y="1406872"/>
            <a:ext cx="305060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kern="0" spc="-1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핵심 성과</a:t>
            </a:r>
            <a:endParaRPr lang="en-US" sz="956" dirty="0"/>
          </a:p>
        </p:txBody>
      </p:sp>
      <p:sp>
        <p:nvSpPr>
          <p:cNvPr id="42" name="Text 40"/>
          <p:cNvSpPr/>
          <p:nvPr/>
        </p:nvSpPr>
        <p:spPr>
          <a:xfrm>
            <a:off x="8083376" y="1441698"/>
            <a:ext cx="6644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35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KEY METRICS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32734" y="1690836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732734" y="1694408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26078" y="1690836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32734" y="2396840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43450" y="1690836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8466" y="1938412"/>
            <a:ext cx="112371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2.41</a:t>
            </a:r>
            <a:r>
              <a:rPr lang="en-US" sz="800" b="1" kern="0" spc="-34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°C</a:t>
            </a:r>
            <a:endParaRPr lang="en-US" sz="1688" dirty="0"/>
          </a:p>
        </p:txBody>
      </p:sp>
      <p:sp>
        <p:nvSpPr>
          <p:cNvPr id="49" name="Text 47"/>
          <p:cNvSpPr/>
          <p:nvPr/>
        </p:nvSpPr>
        <p:spPr>
          <a:xfrm>
            <a:off x="5768578" y="1916981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890022" y="1927361"/>
            <a:ext cx="2618184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회귀 </a:t>
            </a:r>
            <a:r>
              <a:rPr lang="en-US" sz="703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MAE</a:t>
            </a:r>
            <a:endParaRPr lang="en-US" sz="703" dirty="0"/>
          </a:p>
        </p:txBody>
      </p:sp>
      <p:sp>
        <p:nvSpPr>
          <p:cNvPr id="51" name="Text 49"/>
          <p:cNvSpPr/>
          <p:nvPr/>
        </p:nvSpPr>
        <p:spPr>
          <a:xfrm>
            <a:off x="5890022" y="2057735"/>
            <a:ext cx="2618184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LSTM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최고 성능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308181" y="1945556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325326" y="196270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↘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4732734" y="2471849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732734" y="2475421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26078" y="2471849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32734" y="3177853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43450" y="2471849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8466" y="2719425"/>
            <a:ext cx="12573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15</a:t>
            </a:r>
            <a:r>
              <a:rPr lang="en-US" sz="1688" b="1" kern="0" spc="-34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+</a:t>
            </a:r>
            <a:endParaRPr lang="en-US" sz="1688" dirty="0"/>
          </a:p>
        </p:txBody>
      </p:sp>
      <p:sp>
        <p:nvSpPr>
          <p:cNvPr id="60" name="Text 58"/>
          <p:cNvSpPr/>
          <p:nvPr/>
        </p:nvSpPr>
        <p:spPr>
          <a:xfrm>
            <a:off x="5768578" y="2697993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890022" y="2708374"/>
            <a:ext cx="2618184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인텐트</a:t>
            </a:r>
            <a:endParaRPr lang="en-US" sz="703" dirty="0"/>
          </a:p>
        </p:txBody>
      </p:sp>
      <p:sp>
        <p:nvSpPr>
          <p:cNvPr id="62" name="Text 60"/>
          <p:cNvSpPr/>
          <p:nvPr/>
        </p:nvSpPr>
        <p:spPr>
          <a:xfrm>
            <a:off x="5890022" y="2838748"/>
            <a:ext cx="2618184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로컬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의도 분류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308181" y="2726568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325326" y="274371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◯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4732734" y="3252862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4732734" y="3256434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26078" y="3252862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32734" y="3958865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43450" y="3252862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68466" y="3529013"/>
            <a:ext cx="1143558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kern="0" spc="-25" dirty="0">
                <a:solidFill>
                  <a:srgbClr val="0F172A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end-to-end</a:t>
            </a:r>
            <a:endParaRPr lang="en-US" sz="1238" dirty="0"/>
          </a:p>
        </p:txBody>
      </p:sp>
      <p:sp>
        <p:nvSpPr>
          <p:cNvPr id="71" name="Text 69"/>
          <p:cNvSpPr/>
          <p:nvPr/>
        </p:nvSpPr>
        <p:spPr>
          <a:xfrm>
            <a:off x="5897612" y="3479006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019056" y="3489387"/>
            <a:ext cx="248915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검증</a:t>
            </a:r>
            <a:endParaRPr lang="en-US" sz="703" dirty="0"/>
          </a:p>
        </p:txBody>
      </p:sp>
      <p:sp>
        <p:nvSpPr>
          <p:cNvPr id="73" name="Text 71"/>
          <p:cNvSpPr/>
          <p:nvPr/>
        </p:nvSpPr>
        <p:spPr>
          <a:xfrm>
            <a:off x="6019056" y="3619760"/>
            <a:ext cx="2283567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RAG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</a:t>
            </a: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→ 디스코드 자동 발송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308181" y="3507581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325326" y="352472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✓</a:t>
            </a:r>
            <a:endParaRPr lang="en-US" sz="1125" dirty="0"/>
          </a:p>
        </p:txBody>
      </p:sp>
      <p:sp>
        <p:nvSpPr>
          <p:cNvPr id="76" name="Text 74"/>
          <p:cNvSpPr/>
          <p:nvPr/>
        </p:nvSpPr>
        <p:spPr>
          <a:xfrm>
            <a:off x="4732734" y="4033875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4732734" y="4037447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26078" y="4033875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32734" y="4739878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43450" y="4033875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68466" y="4281450"/>
            <a:ext cx="12573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4</a:t>
            </a:r>
            <a:r>
              <a:rPr lang="en-US" sz="1013" b="1" kern="0" spc="-34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/4</a:t>
            </a:r>
            <a:endParaRPr lang="en-US" sz="1688" dirty="0"/>
          </a:p>
        </p:txBody>
      </p:sp>
      <p:sp>
        <p:nvSpPr>
          <p:cNvPr id="82" name="Text 80"/>
          <p:cNvSpPr/>
          <p:nvPr/>
        </p:nvSpPr>
        <p:spPr>
          <a:xfrm>
            <a:off x="5768578" y="4260019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5890022" y="4270400"/>
            <a:ext cx="2618184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차별화</a:t>
            </a:r>
            <a:endParaRPr lang="en-US" sz="703" dirty="0"/>
          </a:p>
        </p:txBody>
      </p:sp>
      <p:sp>
        <p:nvSpPr>
          <p:cNvPr id="84" name="Text 82"/>
          <p:cNvSpPr/>
          <p:nvPr/>
        </p:nvSpPr>
        <p:spPr>
          <a:xfrm>
            <a:off x="5890022" y="4400773"/>
            <a:ext cx="2419052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교통 · 출근지 · 니치 · 피드백 전부 구현 완료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8308181" y="4288594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8325326" y="430573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✓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025" y="207169"/>
            <a:ext cx="400050" cy="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7169" y="200025"/>
            <a:ext cx="0" cy="40005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36831" y="4543425"/>
            <a:ext cx="0" cy="40005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43925" y="4936331"/>
            <a:ext cx="400050" cy="0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8625" y="327720"/>
            <a:ext cx="50006" cy="50006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8625" y="285750"/>
            <a:ext cx="74608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kern="0" spc="127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THANK YOU · WEATHERCHECK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903778" y="285750"/>
            <a:ext cx="993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kern="0" spc="42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25 / 25 </a:t>
            </a:r>
            <a:r>
              <a:rPr lang="en-US" sz="800" kern="0" spc="42" dirty="0">
                <a:solidFill>
                  <a:srgbClr val="0E7490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· END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40477" y="1225376"/>
            <a:ext cx="206293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kern="0" spc="198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2026</a:t>
            </a:r>
            <a:r>
              <a:rPr lang="en-US" sz="700" kern="0" spc="198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· 학습 프로젝트 회고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74320" y="1443261"/>
            <a:ext cx="8595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kern="0" spc="-243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감사합니다</a:t>
            </a:r>
            <a:r>
              <a:rPr lang="en-US" sz="5400" b="1" kern="0" spc="-243" dirty="0">
                <a:solidFill>
                  <a:srgbClr val="06B6D4"/>
                </a:solidFill>
                <a:latin typeface="Calibri" pitchFamily="34" charset="0"/>
                <a:ea typeface="Calibri" pitchFamily="34"/>
                <a:cs typeface="Calibri" pitchFamily="34"/>
              </a:rPr>
              <a:t>.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3422972" y="2312119"/>
            <a:ext cx="185738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587864" y="2243361"/>
            <a:ext cx="1968273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1139"/>
              </a:lnSpc>
              <a:buNone/>
            </a:pPr>
            <a:r>
              <a:rPr lang="en-US" sz="759" kern="0" spc="30" dirty="0">
                <a:solidFill>
                  <a:srgbClr val="64748B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ML → DL → LLM/RAG · </a:t>
            </a:r>
            <a:r>
              <a:rPr lang="en-US" sz="759" kern="0" spc="3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개인형 출근 비서</a:t>
            </a:r>
            <a:endParaRPr lang="en-US" sz="759" dirty="0"/>
          </a:p>
        </p:txBody>
      </p:sp>
      <p:sp>
        <p:nvSpPr>
          <p:cNvPr id="14" name="Text 11"/>
          <p:cNvSpPr/>
          <p:nvPr/>
        </p:nvSpPr>
        <p:spPr>
          <a:xfrm>
            <a:off x="5535290" y="2312119"/>
            <a:ext cx="185738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75134" y="2548756"/>
            <a:ext cx="2259769" cy="828229"/>
          </a:xfrm>
          <a:prstGeom prst="roundRect">
            <a:avLst>
              <a:gd name="adj" fmla="val 1380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06" y="2552328"/>
            <a:ext cx="285750" cy="2143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02732" y="26523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▿</a:t>
            </a:r>
            <a:endParaRPr lang="en-US" sz="1266" dirty="0"/>
          </a:p>
        </p:txBody>
      </p:sp>
      <p:sp>
        <p:nvSpPr>
          <p:cNvPr id="18" name="Text 14"/>
          <p:cNvSpPr/>
          <p:nvPr/>
        </p:nvSpPr>
        <p:spPr>
          <a:xfrm>
            <a:off x="1193006" y="2652340"/>
            <a:ext cx="2024025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8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LESSON 01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193006" y="2793429"/>
            <a:ext cx="20240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학습 여정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93006" y="3007742"/>
            <a:ext cx="2024025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ML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→</a:t>
            </a: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→</a:t>
            </a: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LLM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을 한 테마로 연결하니 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각 단계가 자연스럽게 다음 단계의 재료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가 됨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3442060" y="2548756"/>
            <a:ext cx="2259769" cy="828229"/>
          </a:xfrm>
          <a:prstGeom prst="roundRect">
            <a:avLst>
              <a:gd name="adj" fmla="val 1380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632" y="2552328"/>
            <a:ext cx="285750" cy="2143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69657" y="26523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1266" dirty="0"/>
          </a:p>
        </p:txBody>
      </p:sp>
      <p:sp>
        <p:nvSpPr>
          <p:cNvPr id="24" name="Text 19"/>
          <p:cNvSpPr/>
          <p:nvPr/>
        </p:nvSpPr>
        <p:spPr>
          <a:xfrm>
            <a:off x="3559932" y="2652340"/>
            <a:ext cx="2024025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8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LESSON 02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3559932" y="2793429"/>
            <a:ext cx="20240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데이터의 힘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559932" y="3007742"/>
            <a:ext cx="2024025" cy="14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/>
                <a:cs typeface="Calibri" pitchFamily="34"/>
              </a:rPr>
              <a:t>DL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은 데이터 충분해야 진가. </a:t>
            </a:r>
            <a:r>
              <a:rPr lang="en-US" sz="700" dirty="0">
                <a:solidFill>
                  <a:srgbClr val="0F172A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10.5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년 확장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이 결정적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5808985" y="2548756"/>
            <a:ext cx="2259881" cy="828229"/>
          </a:xfrm>
          <a:prstGeom prst="roundRect">
            <a:avLst>
              <a:gd name="adj" fmla="val 1380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557" y="2552328"/>
            <a:ext cx="285750" cy="2143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836694" y="265234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▦</a:t>
            </a:r>
            <a:endParaRPr lang="en-US" sz="1266" dirty="0"/>
          </a:p>
        </p:txBody>
      </p:sp>
      <p:sp>
        <p:nvSpPr>
          <p:cNvPr id="30" name="Text 24"/>
          <p:cNvSpPr/>
          <p:nvPr/>
        </p:nvSpPr>
        <p:spPr>
          <a:xfrm>
            <a:off x="5926857" y="2652340"/>
            <a:ext cx="2024137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83" dirty="0">
                <a:solidFill>
                  <a:srgbClr val="0E7490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LESSON 03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926857" y="2793429"/>
            <a:ext cx="202413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-9" dirty="0">
                <a:solidFill>
                  <a:srgbClr val="0F172A"/>
                </a:solidFill>
                <a:latin typeface="Calibri" pitchFamily="34" charset="0"/>
                <a:ea typeface="Calibri" pitchFamily="34"/>
                <a:cs typeface="Calibri" pitchFamily="34"/>
              </a:rPr>
              <a:t>sLLM</a:t>
            </a:r>
            <a:r>
              <a:rPr lang="en-US" sz="900" b="1" kern="0" spc="-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운용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926857" y="3007742"/>
            <a:ext cx="2024137" cy="148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로컬에서 끝까지 돌려보니 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비용·지연·프라이버시</a:t>
            </a:r>
            <a:r>
              <a:rPr lang="en-US" sz="700" dirty="0">
                <a:solidFill>
                  <a:srgbClr val="334155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이점 체감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2907752" y="3553492"/>
            <a:ext cx="642446" cy="243488"/>
          </a:xfrm>
          <a:prstGeom prst="roundRect">
            <a:avLst>
              <a:gd name="adj" fmla="val 39079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3187787" y="3623444"/>
            <a:ext cx="2395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b="1" kern="0" spc="99" dirty="0">
                <a:solidFill>
                  <a:srgbClr val="FFFFFF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NEXT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3030624" y="362523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4" dirty="0">
                <a:solidFill>
                  <a:srgbClr val="06B6D4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→</a:t>
            </a:r>
            <a:endParaRPr lang="en-US" sz="984" dirty="0"/>
          </a:p>
        </p:txBody>
      </p:sp>
      <p:sp>
        <p:nvSpPr>
          <p:cNvPr id="36" name="Text 30"/>
          <p:cNvSpPr/>
          <p:nvPr/>
        </p:nvSpPr>
        <p:spPr>
          <a:xfrm>
            <a:off x="3613063" y="3602906"/>
            <a:ext cx="2314575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캘린더 연동 </a:t>
            </a: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/>
                <a:cs typeface="Calibri" pitchFamily="34"/>
              </a:rPr>
              <a:t>·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니치 확장(배달 라이더) </a:t>
            </a: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/>
                <a:cs typeface="Calibri" pitchFamily="34"/>
              </a:rPr>
              <a:t>·</a:t>
            </a:r>
            <a:r>
              <a:rPr lang="en-US" sz="759" dirty="0">
                <a:solidFill>
                  <a:srgbClr val="0F172A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옷차림 캐릭터 추천</a:t>
            </a:r>
            <a:endParaRPr lang="en-US" sz="759" dirty="0"/>
          </a:p>
        </p:txBody>
      </p:sp>
      <p:sp>
        <p:nvSpPr>
          <p:cNvPr id="37" name="Text 31"/>
          <p:cNvSpPr/>
          <p:nvPr/>
        </p:nvSpPr>
        <p:spPr>
          <a:xfrm>
            <a:off x="6027651" y="3582367"/>
            <a:ext cx="185738" cy="185738"/>
          </a:xfrm>
          <a:prstGeom prst="ellipse">
            <a:avLst/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6037652" y="359236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✦</a:t>
            </a:r>
            <a:endParaRPr lang="en-US" sz="1125" dirty="0"/>
          </a:p>
        </p:txBody>
      </p:sp>
      <p:sp>
        <p:nvSpPr>
          <p:cNvPr id="39" name="Text 33"/>
          <p:cNvSpPr/>
          <p:nvPr/>
        </p:nvSpPr>
        <p:spPr>
          <a:xfrm>
            <a:off x="428625" y="4662190"/>
            <a:ext cx="72366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26" dirty="0">
                <a:solidFill>
                  <a:srgbClr val="64748B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github.com/50seok/WeatherCheck </a:t>
            </a:r>
            <a:r>
              <a:rPr lang="en-US" sz="800" kern="0" spc="26" dirty="0">
                <a:solidFill>
                  <a:srgbClr val="06B6D4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·</a:t>
            </a:r>
            <a:r>
              <a:rPr lang="en-US" sz="800" kern="0" spc="26" dirty="0">
                <a:solidFill>
                  <a:srgbClr val="64748B"/>
                </a:solidFill>
                <a:latin typeface="Courier New" pitchFamily="34" charset="0"/>
                <a:ea typeface="Courier New" pitchFamily="34"/>
                <a:cs typeface="Courier New" pitchFamily="34"/>
              </a:rPr>
              <a:t> </a:t>
            </a:r>
            <a:r>
              <a:rPr lang="en-US" sz="800" kern="0" spc="26" dirty="0">
                <a:solidFill>
                  <a:srgbClr val="334155"/>
                </a:solidFill>
                <a:latin typeface="Arial Narrow" pitchFamily="34" charset="0"/>
                <a:ea typeface="Arial Narrow" pitchFamily="34"/>
                <a:cs typeface="Arial Narrow" pitchFamily="34"/>
              </a:rPr>
              <a:t>2026-07-07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7656671" y="4577058"/>
            <a:ext cx="1081564" cy="293494"/>
          </a:xfrm>
          <a:prstGeom prst="roundRect">
            <a:avLst>
              <a:gd name="adj" fmla="val 3242136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7972425" y="4668441"/>
            <a:ext cx="6215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Q</a:t>
            </a:r>
            <a:r>
              <a:rPr lang="en-US" sz="731" b="1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&amp;</a:t>
            </a:r>
            <a:r>
              <a:rPr lang="en-US" sz="731" b="1" dirty="0">
                <a:solidFill>
                  <a:srgbClr val="0E7490"/>
                </a:solidFill>
                <a:latin typeface="Calibri" pitchFamily="34" charset="0"/>
                <a:ea typeface="Calibri" pitchFamily="34"/>
                <a:cs typeface="Calibri" pitchFamily="34"/>
              </a:rPr>
              <a:t>A</a:t>
            </a:r>
            <a:r>
              <a:rPr lang="en-US" sz="731" b="1" dirty="0">
                <a:solidFill>
                  <a:srgbClr val="0E7490"/>
                </a:solidFill>
                <a:latin typeface="맑은 고딕" pitchFamily="34" charset="0"/>
                <a:ea typeface="맑은 고딕" pitchFamily="34"/>
                <a:cs typeface="맑은 고딕" pitchFamily="34"/>
              </a:rPr>
              <a:t> 환영합니다</a:t>
            </a:r>
            <a:endParaRPr lang="en-US" sz="731" dirty="0"/>
          </a:p>
        </p:txBody>
      </p:sp>
      <p:sp>
        <p:nvSpPr>
          <p:cNvPr id="42" name="Text 36"/>
          <p:cNvSpPr/>
          <p:nvPr/>
        </p:nvSpPr>
        <p:spPr>
          <a:xfrm>
            <a:off x="7800975" y="466665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/>
                <a:cs typeface="Segoe UI Symbol" pitchFamily="34"/>
              </a:rPr>
              <a:t>◌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4461</Words>
  <Application>Microsoft Office PowerPoint</Application>
  <PresentationFormat>화면 슬라이드 쇼(16:9)</PresentationFormat>
  <Paragraphs>593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맑은 고딕</vt:lpstr>
      <vt:lpstr>Arial</vt:lpstr>
      <vt:lpstr>Arial Narrow</vt:lpstr>
      <vt:lpstr>Calibri</vt:lpstr>
      <vt:lpstr>Courier New</vt:lpstr>
      <vt:lpstr>Segoe UI Symbol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YEONGSEOK OH</cp:lastModifiedBy>
  <cp:revision>2</cp:revision>
  <dcterms:created xsi:type="dcterms:W3CDTF">2026-07-05T08:56:16Z</dcterms:created>
  <dcterms:modified xsi:type="dcterms:W3CDTF">2026-07-06T06:11:56Z</dcterms:modified>
</cp:coreProperties>
</file>