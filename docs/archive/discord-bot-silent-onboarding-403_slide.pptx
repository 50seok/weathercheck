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file" ContentType="image/file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3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코드 리뷰 셋째 장 — 디스코드 봇 메인 앱과 피드백/교통 보조 모듈의 실용적 설계.
- 디스코드 봇은 sLLM 11라벨 분류(키워드 X), 3분 전 프리페치 캐싱으로 LLM 지연 숨기기, 버튼으로 LLM 호출 절약, defer 패턴이 핵심.
- 피드백은 라벨 평균(+2.5/0/-2.5°C)으로 회귀 대신 단순화 — 표본 적을 땐 회귀보다 평균이 신뢰성 높다는 의도적 판단.
- save_last_weather로 발송 시점 날씨 저장 — 없으면 record_feedback False 반환해 모순 상태 방지.
- traffic은 geocode 통일 재사용, 환경변수 없으면 즉시 KeyError, 경로 없으면 None+error 명시적 반환.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oubleshoot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514350" y="667941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2" name="Text"/>
          <p:cNvSpPr txBox="1"/>
          <p:nvPr/>
        </p:nvSpPr>
        <p:spPr>
          <a:xfrm>
            <a:off x="514350" y="400050"/>
            <a:ext cx="65956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spc="60" kern="0" dirty="0">
                <a:solidFill>
                  <a:srgbClr val="0E7490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05 · TROUBLESHOOTING</a:t>
            </a:r>
            <a:endParaRPr lang="en-US" sz="800" dirty="0"/>
          </a:p>
        </p:txBody>
      </p:sp>
      <p:sp>
        <p:nvSpPr>
          <p:cNvPr id="103" name="Text"/>
          <p:cNvSpPr txBox="1"/>
          <p:nvPr/>
        </p:nvSpPr>
        <p:spPr>
          <a:xfrm>
            <a:off x="7124328" y="400050"/>
            <a:ext cx="150532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800" spc="20" kern="0" dirty="0">
                <a:solidFill>
                  <a:srgbClr val="64748B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PR #3 · 4ac440b</a:t>
            </a:r>
            <a:endParaRPr lang="en-US" sz="800" dirty="0"/>
          </a:p>
        </p:txBody>
      </p:sp>
      <p:sp>
        <p:nvSpPr>
          <p:cNvPr id="104" name="Shape"/>
          <p:cNvSpPr/>
          <p:nvPr/>
        </p:nvSpPr>
        <p:spPr>
          <a:xfrm>
            <a:off x="7136606" y="1080046"/>
            <a:ext cx="1493044" cy="175022"/>
          </a:xfrm>
          <a:prstGeom prst="roundRect">
            <a:avLst>
              <a:gd name="adj" fmla="val 2455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"/>
          <p:cNvSpPr txBox="1"/>
          <p:nvPr/>
        </p:nvSpPr>
        <p:spPr>
          <a:xfrm>
            <a:off x="7208044" y="112112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4" kern="0" dirty="0">
                <a:solidFill>
                  <a:srgbClr val="0E7490"/>
                </a:solidFill>
                <a:latin typeface="Segoe UI Symbol" pitchFamily="34" charset="0"/>
                <a:ea typeface="Segoe UI Symbol" pitchFamily="34" charset="1"/>
                <a:cs typeface="Segoe UI Symbol" pitchFamily="34" charset="1"/>
              </a:rPr>
              <a:t>◉</a:t>
            </a:r>
            <a:endParaRPr lang="en-US" sz="800" dirty="0"/>
          </a:p>
        </p:txBody>
      </p:sp>
      <p:sp>
        <p:nvSpPr>
          <p:cNvPr id="106" name="Text"/>
          <p:cNvSpPr txBox="1"/>
          <p:nvPr/>
        </p:nvSpPr>
        <p:spPr>
          <a:xfrm>
            <a:off x="7343775" y="1115764"/>
            <a:ext cx="1285875" cy="129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5" kern="0" dirty="0">
                <a:solidFill>
                  <a:srgbClr val="0E7490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1 MODULE · 4 POINTS</a:t>
            </a:r>
            <a:endParaRPr lang="en-US" sz="800" dirty="0"/>
          </a:p>
        </p:txBody>
      </p:sp>
      <p:sp>
        <p:nvSpPr>
          <p:cNvPr id="107" name="Text"/>
          <p:cNvSpPr txBox="1"/>
          <p:nvPr/>
        </p:nvSpPr>
        <p:spPr>
          <a:xfrm>
            <a:off x="514350" y="871538"/>
            <a:ext cx="8115300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디스코드 봇 무응답 근본원인</a:t>
            </a:r>
            <a:r>
              <a:rPr lang="en-US" sz="1575" b="1" spc="-16" kern="0" dirty="0">
                <a:solidFill>
                  <a:srgbClr val="0E7490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 — 온보딩 403 → on_message 전체 중단</a:t>
            </a:r>
            <a:endParaRPr lang="en-US" sz="800" dirty="0"/>
          </a:p>
        </p:txBody>
      </p:sp>
      <p:sp>
        <p:nvSpPr>
          <p:cNvPr id="108" name="Text"/>
          <p:cNvSpPr txBox="1"/>
          <p:nvPr/>
        </p:nvSpPr>
        <p:spPr>
          <a:xfrm>
            <a:off x="514350" y="1130052"/>
            <a:ext cx="8115300" cy="13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68"/>
              </a:lnSpc>
              <a:buNone/>
            </a:pPr>
            <a:r>
              <a:rPr lang="en-US" sz="7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2026-07-04 (PR#3, </a:t>
            </a:r>
            <a:r>
              <a:rPr lang="en-US" sz="700" kern="0" dirty="0">
                <a:solidFill>
                  <a:srgbClr val="64748B"/>
                </a:solidFill>
                <a:latin typeface="Courier New" pitchFamily="34" charset="0"/>
                <a:ea typeface="Courier New" pitchFamily="34" charset="1"/>
                <a:cs typeface="Courier New" pitchFamily="34" charset="1"/>
              </a:rPr>
              <a:t>4ac440b</a:t>
            </a:r>
            <a:r>
              <a:rPr lang="en-US" sz="70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 머지) · </a:t>
            </a:r>
            <a:r>
              <a:rPr lang="en-US" sz="700" kern="0" dirty="0">
                <a:solidFill>
                  <a:srgbClr val="64748B"/>
                </a:solidFill>
                <a:latin typeface="Courier New" pitchFamily="34" charset="0"/>
                <a:ea typeface="Courier New" pitchFamily="34" charset="1"/>
                <a:cs typeface="Courier New" pitchFamily="34" charset="1"/>
              </a:rPr>
              <a:t>src/discord_chat_bot.py</a:t>
            </a:r>
            <a:endParaRPr lang="en-US" sz="800" dirty="0"/>
          </a:p>
        </p:txBody>
      </p:sp>
      <p:sp>
        <p:nvSpPr>
          <p:cNvPr id="109" name="Shape"/>
          <p:cNvSpPr/>
          <p:nvPr/>
        </p:nvSpPr>
        <p:spPr>
          <a:xfrm>
            <a:off x="514350" y="1420000"/>
            <a:ext cx="3980000" cy="139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Shape"/>
          <p:cNvSpPr/>
          <p:nvPr/>
        </p:nvSpPr>
        <p:spPr>
          <a:xfrm>
            <a:off x="525066" y="1440000"/>
            <a:ext cx="0" cy="135000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11" name="Shape"/>
          <p:cNvSpPr/>
          <p:nvPr/>
        </p:nvSpPr>
        <p:spPr>
          <a:xfrm>
            <a:off x="569350" y="1465000"/>
            <a:ext cx="178594" cy="17859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2" name="Text"/>
          <p:cNvSpPr txBox="1"/>
          <p:nvPr/>
        </p:nvSpPr>
        <p:spPr>
          <a:xfrm>
            <a:off x="603283" y="1498933"/>
            <a:ext cx="1107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kern="0" dirty="0">
                <a:solidFill>
                  <a:srgbClr val="0E7490"/>
                </a:solidFill>
                <a:latin typeface="Segoe UI Symbol" pitchFamily="34" charset="0"/>
                <a:ea typeface="Segoe UI Symbol" pitchFamily="34" charset="1"/>
                <a:cs typeface="Segoe UI Symbol" pitchFamily="34" charset="1"/>
              </a:rPr>
              <a:t>⚠</a:t>
            </a:r>
            <a:endParaRPr lang="en-US" sz="800" dirty="0"/>
          </a:p>
        </p:txBody>
      </p:sp>
      <p:sp>
        <p:nvSpPr>
          <p:cNvPr id="113" name="Text"/>
          <p:cNvSpPr txBox="1"/>
          <p:nvPr/>
        </p:nvSpPr>
        <p:spPr>
          <a:xfrm>
            <a:off x="794350" y="1485000"/>
            <a:ext cx="342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900" b="1" spc="-6" kern="0" dirty="0">
                <a:solidFill>
                  <a:srgbClr val="0F172A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표면 증상</a:t>
            </a:r>
            <a:endParaRPr lang="en-US" sz="800" dirty="0"/>
          </a:p>
        </p:txBody>
      </p:sp>
      <p:sp>
        <p:nvSpPr>
          <p:cNvPr id="114" name="Shape"/>
          <p:cNvSpPr/>
          <p:nvPr/>
        </p:nvSpPr>
        <p:spPr>
          <a:xfrm>
            <a:off x="4169350" y="1475000"/>
            <a:ext cx="280000" cy="145000"/>
          </a:xfrm>
          <a:prstGeom prst="roundRect">
            <a:avLst>
              <a:gd name="adj" fmla="val 27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"/>
          <p:cNvSpPr txBox="1"/>
          <p:nvPr/>
        </p:nvSpPr>
        <p:spPr>
          <a:xfrm>
            <a:off x="4169350" y="1482000"/>
            <a:ext cx="280000" cy="13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20" kern="0" dirty="0">
                <a:solidFill>
                  <a:srgbClr val="64748B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ISSUE</a:t>
            </a:r>
            <a:endParaRPr lang="en-US" sz="800" dirty="0"/>
          </a:p>
        </p:txBody>
      </p:sp>
      <p:sp>
        <p:nvSpPr>
          <p:cNvPr id="116" name="Text"/>
          <p:cNvSpPr txBox="1"/>
          <p:nvPr/>
        </p:nvSpPr>
        <p:spPr>
          <a:xfrm>
            <a:off x="569350" y="1670000"/>
            <a:ext cx="3870000" cy="10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kern="0" dirty="0">
                <a:solidFill>
                  <a:srgbClr val="334155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① 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압축 표현(</a:t>
            </a: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1"/>
                <a:cs typeface="Courier New" pitchFamily="34" charset="1"/>
              </a:rPr>
              <a:t>"알림설정 2019"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)을 </a:t>
            </a:r>
            <a:r>
              <a:rPr lang="en-US" sz="750" kern="0" dirty="0">
                <a:solidFill>
                  <a:srgbClr val="334155"/>
                </a:solidFill>
                <a:latin typeface="Courier New" pitchFamily="34" charset="0"/>
                <a:ea typeface="Courier New" pitchFamily="34" charset="1"/>
                <a:cs typeface="Courier New" pitchFamily="34" charset="1"/>
              </a:rPr>
              <a:t>classify_message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가 </a:t>
            </a: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1"/>
                <a:cs typeface="Courier New" pitchFamily="34" charset="1"/>
              </a:rPr>
              <a:t>NONE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으로 오분류.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 ② 메시지가 4자리 숫자뿐이면(</a:t>
            </a:r>
            <a:r>
              <a:rPr lang="en-US" sz="750" kern="0" dirty="0">
                <a:solidFill>
                  <a:srgbClr val="334155"/>
                </a:solidFill>
                <a:latin typeface="Courier New" pitchFamily="34" charset="0"/>
                <a:ea typeface="Courier New" pitchFamily="34" charset="1"/>
                <a:cs typeface="Courier New" pitchFamily="34" charset="1"/>
              </a:rPr>
              <a:t>"2015"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) 시각 추출 실패.</a:t>
            </a:r>
            <a:endParaRPr lang="en-US" sz="800" dirty="0"/>
          </a:p>
        </p:txBody>
      </p:sp>
      <p:sp>
        <p:nvSpPr>
          <p:cNvPr id="117" name="Shape"/>
          <p:cNvSpPr/>
          <p:nvPr/>
        </p:nvSpPr>
        <p:spPr>
          <a:xfrm>
            <a:off x="4644350" y="1420000"/>
            <a:ext cx="3980000" cy="139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Shape"/>
          <p:cNvSpPr/>
          <p:nvPr/>
        </p:nvSpPr>
        <p:spPr>
          <a:xfrm>
            <a:off x="4655066" y="1440000"/>
            <a:ext cx="0" cy="135000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19" name="Shape"/>
          <p:cNvSpPr/>
          <p:nvPr/>
        </p:nvSpPr>
        <p:spPr>
          <a:xfrm>
            <a:off x="4699350" y="1465000"/>
            <a:ext cx="178594" cy="17859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"/>
          <p:cNvSpPr txBox="1"/>
          <p:nvPr/>
        </p:nvSpPr>
        <p:spPr>
          <a:xfrm>
            <a:off x="4733283" y="1498933"/>
            <a:ext cx="1107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kern="0" dirty="0">
                <a:solidFill>
                  <a:srgbClr val="0E7490"/>
                </a:solidFill>
                <a:latin typeface="Segoe UI Symbol" pitchFamily="34" charset="0"/>
                <a:ea typeface="Segoe UI Symbol" pitchFamily="34" charset="1"/>
                <a:cs typeface="Segoe UI Symbol" pitchFamily="34" charset="1"/>
              </a:rPr>
              <a:t>⊘</a:t>
            </a:r>
            <a:endParaRPr lang="en-US" sz="800" dirty="0"/>
          </a:p>
        </p:txBody>
      </p:sp>
      <p:sp>
        <p:nvSpPr>
          <p:cNvPr id="121" name="Text"/>
          <p:cNvSpPr txBox="1"/>
          <p:nvPr/>
        </p:nvSpPr>
        <p:spPr>
          <a:xfrm>
            <a:off x="4924350" y="1485000"/>
            <a:ext cx="342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900" b="1" spc="-6" kern="0" dirty="0">
                <a:solidFill>
                  <a:srgbClr val="0F172A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근본원인</a:t>
            </a:r>
            <a:endParaRPr lang="en-US" sz="800" dirty="0"/>
          </a:p>
        </p:txBody>
      </p:sp>
      <p:sp>
        <p:nvSpPr>
          <p:cNvPr id="122" name="Shape"/>
          <p:cNvSpPr/>
          <p:nvPr/>
        </p:nvSpPr>
        <p:spPr>
          <a:xfrm>
            <a:off x="8029350" y="1475000"/>
            <a:ext cx="550000" cy="145000"/>
          </a:xfrm>
          <a:prstGeom prst="roundRect">
            <a:avLst>
              <a:gd name="adj" fmla="val 27000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Text"/>
          <p:cNvSpPr txBox="1"/>
          <p:nvPr/>
        </p:nvSpPr>
        <p:spPr>
          <a:xfrm>
            <a:off x="8029350" y="1482000"/>
            <a:ext cx="550000" cy="13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20" kern="0" dirty="0">
                <a:solidFill>
                  <a:srgbClr val="0E7490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CAUSE · KEY</a:t>
            </a:r>
            <a:endParaRPr lang="en-US" sz="800" dirty="0"/>
          </a:p>
        </p:txBody>
      </p:sp>
      <p:sp>
        <p:nvSpPr>
          <p:cNvPr id="124" name="Text"/>
          <p:cNvSpPr txBox="1"/>
          <p:nvPr/>
        </p:nvSpPr>
        <p:spPr>
          <a:xfrm>
            <a:off x="4699350" y="1670000"/>
            <a:ext cx="3870000" cy="10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온보딩 패널 전송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이 권한 부족 채널에서 </a:t>
            </a: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1"/>
                <a:cs typeface="Courier New" pitchFamily="34" charset="1"/>
              </a:rPr>
              <a:t>403 Forbidden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을 반환할 때 예외처리가 없어 </a:t>
            </a: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1"/>
                <a:cs typeface="Courier New" pitchFamily="34" charset="1"/>
              </a:rPr>
              <a:t>on_message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 핸들러 전체가 중단됨 — 이후 실제 메시지가 분류·응답 단계까지 도달하지 못함.</a:t>
            </a:r>
            <a:endParaRPr lang="en-US" sz="800" dirty="0"/>
          </a:p>
        </p:txBody>
      </p:sp>
      <p:sp>
        <p:nvSpPr>
          <p:cNvPr id="125" name="Shape"/>
          <p:cNvSpPr/>
          <p:nvPr/>
        </p:nvSpPr>
        <p:spPr>
          <a:xfrm>
            <a:off x="514350" y="2960000"/>
            <a:ext cx="3980000" cy="139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6" name="Shape"/>
          <p:cNvSpPr/>
          <p:nvPr/>
        </p:nvSpPr>
        <p:spPr>
          <a:xfrm>
            <a:off x="525066" y="2980000"/>
            <a:ext cx="0" cy="135000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27" name="Shape"/>
          <p:cNvSpPr/>
          <p:nvPr/>
        </p:nvSpPr>
        <p:spPr>
          <a:xfrm>
            <a:off x="569350" y="3005000"/>
            <a:ext cx="178594" cy="17859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8" name="Text"/>
          <p:cNvSpPr txBox="1"/>
          <p:nvPr/>
        </p:nvSpPr>
        <p:spPr>
          <a:xfrm>
            <a:off x="603283" y="3038933"/>
            <a:ext cx="1107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kern="0" dirty="0">
                <a:solidFill>
                  <a:srgbClr val="0E7490"/>
                </a:solidFill>
                <a:latin typeface="Segoe UI Symbol" pitchFamily="34" charset="0"/>
                <a:ea typeface="Segoe UI Symbol" pitchFamily="34" charset="1"/>
                <a:cs typeface="Segoe UI Symbol" pitchFamily="34" charset="1"/>
              </a:rPr>
              <a:t>✓</a:t>
            </a:r>
            <a:endParaRPr lang="en-US" sz="800" dirty="0"/>
          </a:p>
        </p:txBody>
      </p:sp>
      <p:sp>
        <p:nvSpPr>
          <p:cNvPr id="129" name="Text"/>
          <p:cNvSpPr txBox="1"/>
          <p:nvPr/>
        </p:nvSpPr>
        <p:spPr>
          <a:xfrm>
            <a:off x="794350" y="3025000"/>
            <a:ext cx="342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900" b="1" spc="-6" kern="0" dirty="0">
                <a:solidFill>
                  <a:srgbClr val="0F172A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해결</a:t>
            </a:r>
            <a:endParaRPr lang="en-US" sz="800" dirty="0"/>
          </a:p>
        </p:txBody>
      </p:sp>
      <p:sp>
        <p:nvSpPr>
          <p:cNvPr id="130" name="Shape"/>
          <p:cNvSpPr/>
          <p:nvPr/>
        </p:nvSpPr>
        <p:spPr>
          <a:xfrm>
            <a:off x="4169350" y="3015000"/>
            <a:ext cx="280000" cy="145000"/>
          </a:xfrm>
          <a:prstGeom prst="roundRect">
            <a:avLst>
              <a:gd name="adj" fmla="val 27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"/>
          <p:cNvSpPr txBox="1"/>
          <p:nvPr/>
        </p:nvSpPr>
        <p:spPr>
          <a:xfrm>
            <a:off x="4169350" y="3022000"/>
            <a:ext cx="280000" cy="13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20" kern="0" dirty="0">
                <a:solidFill>
                  <a:srgbClr val="64748B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FIX</a:t>
            </a:r>
            <a:endParaRPr lang="en-US" sz="800" dirty="0"/>
          </a:p>
        </p:txBody>
      </p:sp>
      <p:sp>
        <p:nvSpPr>
          <p:cNvPr id="132" name="Text"/>
          <p:cNvSpPr txBox="1"/>
          <p:nvPr/>
        </p:nvSpPr>
        <p:spPr>
          <a:xfrm>
            <a:off x="569350" y="3210000"/>
            <a:ext cx="3870000" cy="10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온보딩 전송을 </a:t>
            </a: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Courier New" pitchFamily="34" charset="0"/>
                <a:ea typeface="Courier New" pitchFamily="34" charset="1"/>
                <a:cs typeface="Courier New" pitchFamily="34" charset="1"/>
              </a:rPr>
              <a:t>try/except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로 감싸 실패해도 </a:t>
            </a:r>
            <a:r>
              <a:rPr lang="en-US" sz="750" kern="0" dirty="0">
                <a:solidFill>
                  <a:srgbClr val="334155"/>
                </a:solidFill>
                <a:latin typeface="Courier New" pitchFamily="34" charset="0"/>
                <a:ea typeface="Courier New" pitchFamily="34" charset="1"/>
                <a:cs typeface="Courier New" pitchFamily="34" charset="1"/>
              </a:rPr>
              <a:t>on_message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 처리가 계속되도록 수정. 시각 인식은 LLM 호출 전 </a:t>
            </a: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정규식으로 선(先)체크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. 진단 로그 1줄 추가.</a:t>
            </a:r>
            <a:endParaRPr lang="en-US" sz="800" dirty="0"/>
          </a:p>
        </p:txBody>
      </p:sp>
      <p:sp>
        <p:nvSpPr>
          <p:cNvPr id="133" name="Shape"/>
          <p:cNvSpPr/>
          <p:nvPr/>
        </p:nvSpPr>
        <p:spPr>
          <a:xfrm>
            <a:off x="4644350" y="2960000"/>
            <a:ext cx="3980000" cy="1390000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4" name="Shape"/>
          <p:cNvSpPr/>
          <p:nvPr/>
        </p:nvSpPr>
        <p:spPr>
          <a:xfrm>
            <a:off x="4655066" y="2980000"/>
            <a:ext cx="0" cy="1350000"/>
          </a:xfrm>
          <a:prstGeom prst="line">
            <a:avLst/>
          </a:prstGeom>
          <a:noFill/>
          <a:ln w="21431">
            <a:solidFill>
              <a:srgbClr val="06B6D4"/>
            </a:solidFill>
            <a:prstDash val="solid"/>
          </a:ln>
        </p:spPr>
      </p:sp>
      <p:sp>
        <p:nvSpPr>
          <p:cNvPr id="135" name="Shape"/>
          <p:cNvSpPr/>
          <p:nvPr/>
        </p:nvSpPr>
        <p:spPr>
          <a:xfrm>
            <a:off x="4699350" y="3005000"/>
            <a:ext cx="178594" cy="17859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Text"/>
          <p:cNvSpPr txBox="1"/>
          <p:nvPr/>
        </p:nvSpPr>
        <p:spPr>
          <a:xfrm>
            <a:off x="4733283" y="3038933"/>
            <a:ext cx="1107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kern="0" dirty="0">
                <a:solidFill>
                  <a:srgbClr val="0E7490"/>
                </a:solidFill>
                <a:latin typeface="Segoe UI Symbol" pitchFamily="34" charset="0"/>
                <a:ea typeface="Segoe UI Symbol" pitchFamily="34" charset="1"/>
                <a:cs typeface="Segoe UI Symbol" pitchFamily="34" charset="1"/>
              </a:rPr>
              <a:t>✦</a:t>
            </a:r>
            <a:endParaRPr lang="en-US" sz="800" dirty="0"/>
          </a:p>
        </p:txBody>
      </p:sp>
      <p:sp>
        <p:nvSpPr>
          <p:cNvPr id="137" name="Text"/>
          <p:cNvSpPr txBox="1"/>
          <p:nvPr/>
        </p:nvSpPr>
        <p:spPr>
          <a:xfrm>
            <a:off x="4924350" y="3025000"/>
            <a:ext cx="342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900" b="1" spc="-6" kern="0" dirty="0">
                <a:solidFill>
                  <a:srgbClr val="0F172A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재발 방지</a:t>
            </a:r>
            <a:endParaRPr lang="en-US" sz="800" dirty="0"/>
          </a:p>
        </p:txBody>
      </p:sp>
      <p:sp>
        <p:nvSpPr>
          <p:cNvPr id="138" name="Shape"/>
          <p:cNvSpPr/>
          <p:nvPr/>
        </p:nvSpPr>
        <p:spPr>
          <a:xfrm>
            <a:off x="8299350" y="3015000"/>
            <a:ext cx="280000" cy="145000"/>
          </a:xfrm>
          <a:prstGeom prst="roundRect">
            <a:avLst>
              <a:gd name="adj" fmla="val 2700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Text"/>
          <p:cNvSpPr txBox="1"/>
          <p:nvPr/>
        </p:nvSpPr>
        <p:spPr>
          <a:xfrm>
            <a:off x="8299350" y="3022000"/>
            <a:ext cx="280000" cy="1300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20" kern="0" dirty="0">
                <a:solidFill>
                  <a:srgbClr val="64748B"/>
                </a:solidFill>
                <a:latin typeface="Arial Narrow" pitchFamily="34" charset="0"/>
                <a:ea typeface="Arial Narrow" pitchFamily="34" charset="1"/>
                <a:cs typeface="Arial Narrow" pitchFamily="34" charset="1"/>
              </a:rPr>
              <a:t>LESSON</a:t>
            </a:r>
            <a:endParaRPr lang="en-US" sz="800" dirty="0"/>
          </a:p>
        </p:txBody>
      </p:sp>
      <p:sp>
        <p:nvSpPr>
          <p:cNvPr id="140" name="Text"/>
          <p:cNvSpPr txBox="1"/>
          <p:nvPr/>
        </p:nvSpPr>
        <p:spPr>
          <a:xfrm>
            <a:off x="4699350" y="3210000"/>
            <a:ext cx="3870000" cy="10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부가 기능(로깅·알림·온보딩)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은 반드시 자체 예외처리 — 실패 격리(fail isolation) 원칙. "무응답" 리포트는 분류 로직보다 </a:t>
            </a:r>
            <a:r>
              <a:rPr lang="en-US" sz="750" kern="0" dirty="0">
                <a:solidFill>
                  <a:srgbClr val="334155"/>
                </a:solidFill>
                <a:highlight>
                  <a:srgbClr val="CFFAFE"/>
                </a:highlight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핸들러 진입 자체가 막혔는지</a:t>
            </a:r>
            <a:r>
              <a:rPr lang="en-US" sz="75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 로그로 먼저 확인.</a:t>
            </a:r>
            <a:endParaRPr lang="en-US" sz="800" dirty="0"/>
          </a:p>
        </p:txBody>
      </p:sp>
      <p:sp>
        <p:nvSpPr>
          <p:cNvPr id="141" name="Shape"/>
          <p:cNvSpPr/>
          <p:nvPr/>
        </p:nvSpPr>
        <p:spPr>
          <a:xfrm>
            <a:off x="514350" y="4480000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2" name="Shape"/>
          <p:cNvSpPr/>
          <p:nvPr/>
        </p:nvSpPr>
        <p:spPr>
          <a:xfrm>
            <a:off x="514350" y="4498000"/>
            <a:ext cx="28575" cy="28575"/>
          </a:xfrm>
          <a:prstGeom prst="roundRect">
            <a:avLst>
              <a:gd name="adj" fmla="val 166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Text"/>
          <p:cNvSpPr txBox="1"/>
          <p:nvPr/>
        </p:nvSpPr>
        <p:spPr>
          <a:xfrm>
            <a:off x="560000" y="4490000"/>
            <a:ext cx="806965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kern="0" dirty="0">
                <a:solidFill>
                  <a:srgbClr val="0E7490"/>
                </a:solidFill>
                <a:latin typeface="Segoe UI Symbol" pitchFamily="34" charset="0"/>
                <a:ea typeface="Segoe UI Symbol" pitchFamily="34" charset="1"/>
                <a:cs typeface="Segoe UI Symbol" pitchFamily="34" charset="1"/>
              </a:rPr>
              <a:t>◆ </a:t>
            </a:r>
            <a:r>
              <a:rPr lang="en-US" sz="800" b="1" kern="0" dirty="0">
                <a:solidFill>
                  <a:srgbClr val="0F172A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부가 기능 하나의 실패가 핵심 로직 전체를 막아서는 안 된다</a:t>
            </a:r>
            <a:r>
              <a:rPr lang="en-US" sz="800" kern="0" dirty="0">
                <a:solidFill>
                  <a:srgbClr val="334155"/>
                </a:solidFill>
                <a:latin typeface="맑은 고딕" pitchFamily="34" charset="0"/>
                <a:ea typeface="맑은 고딕" pitchFamily="34" charset="1"/>
                <a:cs typeface="맑은 고딕" pitchFamily="34" charset="1"/>
              </a:rPr>
              <a:t> — 실패 격리(fail isolation)가 원칙.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2026-07-05T08:56:16Z</dcterms:created>
  <dcterms:modified xsi:type="dcterms:W3CDTF">2026-07-05T08:56:16Z</dcterms:modified>
</cp:coreProperties>
</file>