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926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안녕하세요, 학습 프로젝트 WeatherCheck를 발표하겠습니다.
- 한 줄 피치: 기상청은 날씨를 알려주지만, 제 비서는 '내가 뭘 해야 할지'를 알려줍니다.
- ML → DL → LLM/RAG 순서로 한 테마를 점진 확장하며 풀스택으로 구현한 여정입니다.
- 총 18장, 약 15분 진행 예정입니다.
- 끝에 Q&amp;A 시간을 갖겠습니다.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전체는 4개 챕터로 구성됩니다 — 시작하며, Phase 1 ML, Phase 2 DL, Phase 3 LLM/RAG.
- ML → DL → LLM 순서로 한 테마를 점진 확장한 여정을 보여드립니다.
- 마지막 챕터에 핵심 성과와 회고를 묶어 담았습니다.
- 발표 소요 시간은 약 15분입니다.
- 마지막에 질의응답 시간을 갖겠습니다.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첫 번째 챕터로 넘어갑니다.
- "먼저 프로젝트 배경과 목표부터 이야기하겠습니다."라고 전환하세요.
- 기존 날씨 앱의 한계와 우리가 풀고자 한 진짜 문제를 짚어주세요.
- 4장 중 1장 — 차별화 포인트를 강조하며 시작하세요.
- 이 챕터는 총 4장(슬라이드 3–6)으로 구성됩니다.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기존 날씨 앱은 '18°C, 강수확률 70%' 같은 숫자만 던져줍니다.
- 사용자가 진짜 원하는 건 '우산 챙길까, 자전거 타도 될까' 같은 행동 지침입니다.
- 기상청 예보는 정확하지만 '그래서 뭘 해야 하나'가 빠져 있습니다.
- 일반 날씨봇은 누구에게나 같은 답을 줍니다 — 내 체감과 출근 루트를 모릅니다.
- 그래서 '공개 날씨 예측'이 아니라 '나의 출근 결정 예측'으로 문제를 다시 정의했습니다 — 이게 차별화입니다.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가장 중요한 차별화는 ① 개인 체감 학습 — 피드백 버튼으로 내 체감온도를 학습하는 루프입니다.
- ② 니치 타겟은 모두를 위한 날씨가 아니라 자전거 통근족 같은 특정 상황 전용으로 좁힌 전략입니다.
- ③ 출근지 등록하면 날씨와 출퇴근 소요시간을 한 번에 브리핑합니다.
- 세 가지를 합치면 '나만의 출근 비서'가 완성됩니다.
- 시그니처 기능은 단연 피드백 루프 — 회고에서도 핵심으로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핵심은 하나의 테마 — 날씨 — 를 ML, DL, LLM/RAG 세 단계로 점진 확장했다는 점입니다.
- Phase 1 ML 결과물(MAE 2.50°C)이 Phase 2 DL의 입력이 되고, DL 예측이 Phase 3 LLM/RAG의 입력이 됩니다.
- 각 단계는 학습 여정과 1:1로 매핑됩니다 — 학습 목표와 제품 목표가 같은 선상에 있습니다.
- Phase 2에서 DL이 ML을 역전한 게 핵심 학습 포인트입니다.
- Phase 3에서 자연어 브리핑 + 디스코드 알림으로 end-to-end 자동 발송을 완성합니다.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이제 첫 단계 ML부터 보겠습니다.
- scikit-learn 기반으로 회귀와 분류 기본기를 다졌습니다.
- LR → RF → XGB 순서로 점진 적용한 흐름을 짚어주세요.
- Phase 1의 핵심 결과(MAE 2.50°C)를 한 줄로 언급하세요.
- 다음 슬라이드에서 데이터 수집과 EDA를 자세히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처음엔 합성 데이터로 프로토타입을 만들었습니다.
- 이후 10.5년 실데이터(기상청 ASOS 서울 108)로 교체했습니다.
- 이 데이터 확장이 뒤의 DL이 ML을 역전하는 결정적 계기가 됩니다.
- 피처는 7개 — 기온/습도/기압/풍속/강수량을 기본으로 사용했습니다.
- 입력 X는 오늘 값, 정답 y는 내일 기온(회귀)과 비 여부(분류)입니다.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수치형 피처 7개 간 Pearson 상관계수 히트맵을 그려 타깃 설계와 다중공선성을 점검했습니다.
- temp_avg·max·min 세 기온 피처는 0.95 이상 거의 완벽한 양의 상관 — 일교차 패턴이 안정적이라 타깃으로 신뢰 가능.
- pressure와 temp_avg는 약 -0.7 음의 상관으로 기상 물리패턴이 데이터에 그대로 드러남을 확인.
- wind_speed는 다른 피처와 상관이 0.3 이하로 낮아 독립 정보원 — 분류 모델에서 정보 이득을 기대하며 킵.
- 상관관계 분석 결과를 토대로 회귀 타깃을 temp_max/min로, 분류 입력에 풍속을 유지하는 설계 결정을 내렸습니다.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모델은 단순한 것부터 적용했습니다 — LinearRegression → RandomForest → XGBoost.
- LinearRegression이 회귀 MAE 2.50°C로 가장 좋았습니다.
- XGBoost는 과적합 경향이 보여 이 데이터에는 부적합 판단했습니다.
- 잔차가 0 주변에 무작위 분포 → 체계적 편향이 없음을 확인했습니다.
- 다음 슬라이드에서 시계열 특성을 잡기 위해 DL로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회귀 MAE만 보면 모델을 과신하기 쉬워 분류 성능(혼동행렬)과 피처 기여도(중요도)로 교차 검증했습니다.
- 혼동행렬: LogisticRegression 강수 이진분류 Accuracy 0.71 — TN·TP 비율은 높지만 FN(비를 못 맞춤)이 주요 오차.
- 즉 강수 분류는 기온 회귀보다 어려운 문제라는 점을 정량으로 확인했습니다.
- 피처 중요도: RandomForest 기준 어제 강수량·현재 습도가 상위 — 도메인 직관과 일치.
- 풍속·기압은 중요도가 낮지만 분류에는 기여하는 바가 있어 입력에서 제외하지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ML 다음 단계로, 날씨 데이터의 시계열 특성을 잡기 위해 DL을 도입했습니다.
- ML은 행 단위 학습이라 순서를 잘 보지 못합니다.
- LSTM은 7일 시퀀스를 입력받아 흐름을 기억합니다.
- Keras로 단층 LSTM부터 시작해 멀티헤드 출력까지 확장합니다.
- 다음 슬라이드에서 설계 배경과 학습 구조를 보여드립니다.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날씨는 순서가 중요한 시계열 데이터입니다 — 어제·그제 흐름이 내일에 영향.
- ML은 행 단위로 학습해서 순서를 잘 잡지 못합니다.
- LSTM은 7일 시퀀스를 입력받아 흐름을 기억합니다.
- 단층 LSTM(32) + 멀티헤드로 회귀(최고/최저기온)와 분류(비 여부)를 동시에 학습합니다.
- 손실 곡선 그래프에서 과적합 없이 깔끔하게 수렴한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같은 10.5년 데이터로 ML(LR)과 LSTM을 정량 비교했습니다.
- 회귀 MAE — LSTM 2.41°C vs ML 2.50°C, LSTM이 근소하게 역전했습니다.
- 분류 Accuracy — 거의 동률(0.706 vs 0.714)로 DL 우위는 아니었습니다.
- 핵심 학습 포인트: 데이터가 2.5년일 때는 DL이 ML을 못 이겼지만 10.5년이 되자 역전했습니다.
- "DL은 데이터 충분해야 진가 발휘" — 이 한 줄을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시계열 예측 결과 차트입니다 — 파란 선이 예측, 회색 점이 실측입니다.
- 과거 7일 시퀀스로 향후 며칠의 기온 흐름을 한 번에 예측합니다.
- 예측선이 실측선의 흐름을 잘 따라가는 것을 확인하세요.
- 학습된 모델은 .keras 파일로 저장해 Phase 3에서 재사용합니다.
- contract.md 스키마로 Track B(LLM/RAG)에 source=lstm으로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마지막 단계인 Phase 3로 넘어갑니다 — LLM과 RAG를 결합해 출근 비서를 완성합니다.
 - 지금까지 만든 DL 예측 결과를 사람이 읽기 쉬운 자연어로 번역하는 것이 핵심입니다.
 - 매일 아침 디스코드로 폰에 자동 발송되는 구조를 만들어 사용자 경험을 완성합니다.
 - 로컬 sLLM으로 운용해 비용·지연·프라이버시 이점까지 챙긴 점을 강조하겠습니다.
 - 전환점: 외부 API → 로컬 Ollama EXAONE 3.5 7.8B (과제 취지에 부합).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- 5단계 파이프라인: DL 예측 → 교통 API → RAG 검색 → 로컬 sLLM → 디스코드 알림.
 - 임베딩 전환: Chroma ONNX 79MB 다운로드 timeout 문제로 TF-IDF로 교체 — 문서 수가 적어 즉시 처리 가능.
 - sLLM 전환 배경: 선생님 과제 취지(외부 API 대신 직접 운용 학습) + 비용·프라이버시 이점.
 - temperature=0 고정으로 의도 분류 비결정적 문제 해결, 분류 완전 일치.
 - RTX 4060 8GB에서 8~12초 응답, keep_alive=30m 설정으로 상시 로드해 첫 응답 지연 방지.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디스코드 봇은 자연어 의도 분류(15+ 인텐트)로 한 채널에서 모든 기능을 처리 — 복수 명령어 불필요.
 - 니치 타겟(자전거 통근족)은 별도 지식 폴더 1:1 직접 읽기로 오검색 방지, 전용 섹션 분리 생성.
 - 체감 피드백 루프(🥶/👍/🥵)가 핵심 시그니처 PRD 기능 — 누적 평균으로 체감온도 보정치 계산해 자동 반영.
 - 출근지 등록 한 번이면 날씨+소요시간 같이 발송, 자전거 니치일 땐 자동 생략해 UX 일관성 유지.
 - 자연어 시각 설정(매일 8시에 알려줘) + @멘션 푸시 + 도움말 자동 핀으로 사용성 완성.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베이스는 20개 모듈로 책임 분리 — 데이터/예측/서비스 3계층 + Track A·B·인프라·테스트 4축으로 정리.
- 데이터 계층: KMA CSV → import_kma.py로 정제, generate_data.py는 합성 폴백.
- 예측 계층: ML(src/ml/predict.py)과 DL(src/dl/predict.py)을 src/predictor.py 파사드로 통합 → contract.md 스키마 반환.
- 서비스 계층: predictor.py → briefing.py(RAG+LLM) + app.py(Streamlit) → discord_chat_bot.py(15+ 인텐트).
- 핵심은 predictor.py 파사드 — Track B는 ML/DL 내부를 몰라도 get_prediction() 한 번으로 예측값을 가져가 결합도를 분리.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리뷰 첫 장 — Track A(ML/DL)의 핵심 설계를 PR 리뷰 시선으로 뜯어보는 슬라이드.
- ML 측은 시계열 분할(shuffle=False)로 누수 방지, 배포 모델은 train+test 합쳐 재학습하는 의도적 설계가 포인트.
- DL 측은 SEQ_LEN=7 슬라이딩 윈도우로 시계열 → 지도학습 텐서 변환, MinMaxScaler leakage를 ponytail 주석으로 솔직히 남긴 점 강조.
- Keras 버전 불일치 이슈는 try/except 재학습 폴백으로 구조적 회피 — 단점을 솔직히 드러내고 회피책까지 기록.
- 두 모듈 모두 load_models() → predict_tomorrow() 공통 인터페이스로 app.py·predictor.py가 동일 코드로 다룰 수 있음이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리뷰 둘째 장 — Track B의 RAG 검색 + sLLM 호출 + 브리핑 생성을 잇는 파이프라인.
- RAG는 Chroma ONNX 79MB timeout 문제를 TF-IDF 교체로 해결 — 문서 수 적어 매 호출 재구축해도 즉시 처리되는 실용적 선택.
- sLLM은 Ollama EXAONE 3.5 7.8B, 분류 temperature=0으로 결정적 동작 보장, keep_alive=30m으로 재로딩 지연 방지.
- 브리핑은 _build_query()로 규칙 기반 검색어 구성해 설명가능성 확보, [문서명] 근거 인용 프롬프트로 환각 최소화.
- 니치(자전거)는 검색 생략하고 1:1 직접 read로 오염 방지, personal_offset으로 체감 보정치를 옷차림 조언에 주입.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리뷰 셋째 장 — 디스코드 봇 메인 앱과 피드백/교통 보조 모듈의 실용적 설계.
- 디스코드 봇은 sLLM 11라벨 분류(키워드 X), 3분 전 프리페치 캐싱으로 LLM 지연 숨기기, 버튼으로 LLM 호출 절약, defer 패턴이 핵심.
- 피드백은 라벨 평균(+2.5/0/-2.5°C)으로 회귀 대신 단순화 — 표본 적을 땐 회귀보다 평균이 신뢰성 높다는 의도적 판단.
- save_last_weather로 발송 시점 날씨 저장 — 없으면 record_feedback False 반환해 모순 상태 방지.
- traffic은 geocode 통일 재사용, 환경변수 없으면 즉시 KeyError, 경로 없으면 None+error 명시적 반환.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- 4개 디버깅 사가 모델·시스템 신뢰성을 만들었다 — 데이터 확장(2.5→10.5년), 임베딩 TF-IDF 교체, sLLM temperature=0, User-Agent 헤더.
- 가장 좋아하는 스토리 2~3개만 시간 가면서 풀기 — 데이터 확장과 temperature=0이 임팩트 컸음.
- 핵심 성과 4개: 회귀 MAE 2.41°C(LSTM 최고), 15+ 인텐트(로컬 sLLM 분류), end-to-end 검증(전 파이프라인 자동 발송), 4/4 차별화(교통·출근지·니치·피드백).
- 차별화 4/4는 PRD에 적어둔 시그니처 기능이 전부 구현 완료됐다는 의미 — 학습 프로젝트지만 스펙 완성도 강조.
- end-to-end는 ML→DL→RAG→sLLM→디스코드가 한 줄로 자동 발송된다는 것 — 각 단계가 서로를 부르는 연쇄 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발표 끝 — 선생님과 청중에게 감사 인사, 24장 발표 마무리.
- 3가지 회고 강조: 학습 여정(ML→DL→LLM이 한 테마로 연결), 데이터의 힘(10.5년 확장이 DL 진가를 만듦), sLLM 운용(로컬에서 비용·지연·프라이버시 이점 체감).
- 다음 스텝 3가지: 캘린더 연동, 니치 확장(배달 라이더), 옷차림 캐릭터 추천.
- github.com/50seok/WeatherCheck 링크 안내, 코드 전체 공개.
- Q&amp;A 환영 메시지로 질문 유도 — 자유롭게 질문해달라고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490" y="389549"/>
            <a:ext cx="1375350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00050"/>
            <a:ext cx="13296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PROJECT SHOWCASE ·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68556" y="412552"/>
            <a:ext cx="5777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9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1780803"/>
            <a:ext cx="6229121" cy="791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71"/>
              </a:lnSpc>
              <a:buNone/>
            </a:pPr>
            <a:r>
              <a:rPr lang="en-US" sz="6075" b="1" kern="0" spc="-27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WeatherCheck</a:t>
            </a:r>
            <a:endParaRPr lang="en-US" sz="6075" dirty="0"/>
          </a:p>
        </p:txBody>
      </p:sp>
      <p:sp>
        <p:nvSpPr>
          <p:cNvPr id="6" name="Text 4"/>
          <p:cNvSpPr/>
          <p:nvPr/>
        </p:nvSpPr>
        <p:spPr>
          <a:xfrm>
            <a:off x="514350" y="2699445"/>
            <a:ext cx="5740146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6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16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16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16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16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16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6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16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로 만드는 개인형 출근 비서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514350" y="3078063"/>
            <a:ext cx="4629150" cy="203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기상청은 날씨를 알려주지만, 내 비서는 내가 뭘 해야 할지를 알려준다.</a:t>
            </a:r>
            <a:endParaRPr lang="en-US" sz="956" dirty="0"/>
          </a:p>
        </p:txBody>
      </p:sp>
      <p:sp>
        <p:nvSpPr>
          <p:cNvPr id="8" name="Text 6"/>
          <p:cNvSpPr/>
          <p:nvPr/>
        </p:nvSpPr>
        <p:spPr>
          <a:xfrm>
            <a:off x="6115050" y="985838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72213" y="1114425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72213" y="1260872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kern="0" spc="-4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6657417" y="1396603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1069" dirty="0"/>
          </a:p>
        </p:txBody>
      </p:sp>
      <p:sp>
        <p:nvSpPr>
          <p:cNvPr id="12" name="Text 10"/>
          <p:cNvSpPr/>
          <p:nvPr/>
        </p:nvSpPr>
        <p:spPr>
          <a:xfrm>
            <a:off x="6272213" y="1675209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scikit-learn</a:t>
            </a: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기본기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6115050" y="2039541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72213" y="2168128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0E7490">
                    <a:alpha val="7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72213" y="2314575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kern="0" spc="-4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6657417" y="2450306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6272213" y="2728913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88" dirty="0">
                <a:solidFill>
                  <a:srgbClr val="0E7490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시계열 딥러닝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6115050" y="3093244"/>
            <a:ext cx="2514600" cy="967978"/>
          </a:xfrm>
          <a:prstGeom prst="roundRect">
            <a:avLst>
              <a:gd name="adj" fmla="val 11808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72213" y="3221831"/>
            <a:ext cx="22002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99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72213" y="3368278"/>
            <a:ext cx="479167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kern="0" spc="-4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6657417" y="3504009"/>
            <a:ext cx="1815071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LLM/RAG</a:t>
            </a:r>
            <a:endParaRPr lang="en-US" sz="1069" dirty="0"/>
          </a:p>
        </p:txBody>
      </p:sp>
      <p:sp>
        <p:nvSpPr>
          <p:cNvPr id="22" name="Text 20"/>
          <p:cNvSpPr/>
          <p:nvPr/>
        </p:nvSpPr>
        <p:spPr>
          <a:xfrm>
            <a:off x="6272213" y="3782616"/>
            <a:ext cx="2200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로컬 </a:t>
            </a: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788" dirty="0">
                <a:solidFill>
                  <a:srgbClr val="FFFFFF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출근 비서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514350" y="4414838"/>
            <a:ext cx="219456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8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발표자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14350" y="4561284"/>
            <a:ext cx="160751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학습 프로젝트 (</a:t>
            </a:r>
            <a:r>
              <a:rPr lang="en-US" sz="95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en-US" sz="95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en-US" sz="95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2228850" y="4414838"/>
            <a:ext cx="219456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8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제출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28850" y="4561284"/>
            <a:ext cx="171724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2026-07-07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7210276" y="4625578"/>
            <a:ext cx="15329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github.com/50seok/WeatherCheck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13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목차 </a:t>
            </a:r>
            <a:r>
              <a:rPr lang="en-US" sz="2475" b="1" kern="0" spc="-4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(Agenda)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164431"/>
            <a:ext cx="457200" cy="21431"/>
          </a:xfrm>
          <a:prstGeom prst="roundRect">
            <a:avLst>
              <a:gd name="adj" fmla="val 8889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14350" y="140821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157140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371600" y="1554659"/>
            <a:ext cx="6732091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시작하며 · 프로젝트 개요</a:t>
            </a:r>
            <a:endParaRPr lang="en-US" sz="1463" dirty="0"/>
          </a:p>
        </p:txBody>
      </p:sp>
      <p:sp>
        <p:nvSpPr>
          <p:cNvPr id="8" name="Text 6"/>
          <p:cNvSpPr/>
          <p:nvPr/>
        </p:nvSpPr>
        <p:spPr>
          <a:xfrm>
            <a:off x="1371600" y="1806029"/>
            <a:ext cx="6924437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배경·문제 정의 / 목표·차별화 전략 / 전체 아키텍처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7960281" y="1673415"/>
            <a:ext cx="692229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83141" y="1683916"/>
            <a:ext cx="6465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4350" y="213464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4350" y="229783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371600" y="2281089"/>
            <a:ext cx="6682398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</a:t>
            </a: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63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날씨 예측 모델</a:t>
            </a:r>
            <a:endParaRPr lang="en-US" sz="1463" dirty="0"/>
          </a:p>
        </p:txBody>
      </p:sp>
      <p:sp>
        <p:nvSpPr>
          <p:cNvPr id="14" name="Text 12"/>
          <p:cNvSpPr/>
          <p:nvPr/>
        </p:nvSpPr>
        <p:spPr>
          <a:xfrm>
            <a:off x="1371600" y="2532459"/>
            <a:ext cx="687332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수집·</a:t>
            </a: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EDA</a:t>
            </a: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상관관계 / 모델 </a:t>
            </a:r>
            <a:r>
              <a:rPr lang="en-US" sz="95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종 비교 / 분류 평가·피처 중요도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7912953" y="2399845"/>
            <a:ext cx="739557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35813" y="2410346"/>
            <a:ext cx="6938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14350" y="286107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350" y="302426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371600" y="3007519"/>
            <a:ext cx="6632704" cy="223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</a:t>
            </a: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63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시계열 딥러닝</a:t>
            </a:r>
            <a:endParaRPr lang="en-US" sz="1463" dirty="0"/>
          </a:p>
        </p:txBody>
      </p:sp>
      <p:sp>
        <p:nvSpPr>
          <p:cNvPr id="20" name="Text 18"/>
          <p:cNvSpPr/>
          <p:nvPr/>
        </p:nvSpPr>
        <p:spPr>
          <a:xfrm>
            <a:off x="1371600" y="3258889"/>
            <a:ext cx="682221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도입·학습 구조 / </a:t>
            </a: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</a:t>
            </a: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정확도 / 시계열 예측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7865626" y="3126275"/>
            <a:ext cx="786884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88486" y="3136776"/>
            <a:ext cx="7411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14350" y="358750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4350" y="431393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350" y="3750692"/>
            <a:ext cx="1051560" cy="416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kern="0" spc="-63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371600" y="3733949"/>
            <a:ext cx="6822210" cy="223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</a:t>
            </a: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463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46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1463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출근 비서 + 코드 구조 + 회고</a:t>
            </a:r>
            <a:endParaRPr lang="en-US" sz="1463" dirty="0"/>
          </a:p>
        </p:txBody>
      </p:sp>
      <p:sp>
        <p:nvSpPr>
          <p:cNvPr id="27" name="Text 25"/>
          <p:cNvSpPr/>
          <p:nvPr/>
        </p:nvSpPr>
        <p:spPr>
          <a:xfrm>
            <a:off x="1371600" y="3985320"/>
            <a:ext cx="682221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파이프라인 / 디스코드 봇 / 코드 리뷰 </a:t>
            </a:r>
            <a:r>
              <a:rPr lang="en-US" sz="95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lang="en-US" sz="95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장 / 성과·회고</a:t>
            </a:r>
            <a:endParaRPr lang="en-US" sz="956" dirty="0"/>
          </a:p>
        </p:txBody>
      </p:sp>
      <p:sp>
        <p:nvSpPr>
          <p:cNvPr id="28" name="Text 26"/>
          <p:cNvSpPr/>
          <p:nvPr/>
        </p:nvSpPr>
        <p:spPr>
          <a:xfrm>
            <a:off x="7865626" y="3852705"/>
            <a:ext cx="786884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88486" y="3863206"/>
            <a:ext cx="7411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슬라이드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–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4350" y="461129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85800" y="4593431"/>
            <a:ext cx="7943850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전체 발표 약 </a:t>
            </a:r>
            <a:r>
              <a:rPr lang="en-US" sz="78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분 · 마지막에 </a:t>
            </a: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</a:t>
            </a: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를 받습니다</a:t>
            </a:r>
            <a:endParaRPr lang="en-US" sz="7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67365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11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DIVIDER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265194" y="41790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❏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7436644" y="400050"/>
            <a:ext cx="1312307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WeatherCheck</a:t>
            </a: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78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장 중 </a:t>
            </a:r>
            <a:r>
              <a:rPr lang="en-US" sz="78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장</a:t>
            </a:r>
            <a:endParaRPr lang="en-US" sz="788" dirty="0"/>
          </a:p>
        </p:txBody>
      </p:sp>
      <p:sp>
        <p:nvSpPr>
          <p:cNvPr id="5" name="Text 3"/>
          <p:cNvSpPr/>
          <p:nvPr/>
        </p:nvSpPr>
        <p:spPr>
          <a:xfrm>
            <a:off x="514350" y="1807665"/>
            <a:ext cx="5143500" cy="156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85"/>
              </a:lnSpc>
              <a:buNone/>
            </a:pPr>
            <a:r>
              <a:rPr lang="en-US" sz="12375" b="1" kern="0" spc="-619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375" dirty="0"/>
          </a:p>
        </p:txBody>
      </p:sp>
      <p:sp>
        <p:nvSpPr>
          <p:cNvPr id="8" name="Shape 6"/>
          <p:cNvSpPr/>
          <p:nvPr/>
        </p:nvSpPr>
        <p:spPr>
          <a:xfrm>
            <a:off x="4018359" y="1648867"/>
            <a:ext cx="0" cy="156716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07681" y="1648867"/>
            <a:ext cx="4321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11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 &amp; STRATEGY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7681" y="1884611"/>
            <a:ext cx="4321969" cy="648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25"/>
              </a:lnSpc>
              <a:buNone/>
            </a:pPr>
            <a:r>
              <a:rPr lang="en-US" sz="4725" b="1" kern="0" spc="-165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시작하며</a:t>
            </a:r>
            <a:endParaRPr lang="en-US" sz="4725" dirty="0"/>
          </a:p>
        </p:txBody>
      </p:sp>
      <p:sp>
        <p:nvSpPr>
          <p:cNvPr id="11" name="Text 9"/>
          <p:cNvSpPr/>
          <p:nvPr/>
        </p:nvSpPr>
        <p:spPr>
          <a:xfrm>
            <a:off x="4307681" y="2684711"/>
            <a:ext cx="4321969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왜 이 프로젝트를 시작했는지,</a:t>
            </a:r>
            <a:endParaRPr lang="en-US" sz="1350" dirty="0"/>
          </a:p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무엇을 차별화했는지.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4350" y="4489847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775" y="4607719"/>
            <a:ext cx="83046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배경 &amp; 문제 정의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514350" y="4593431"/>
            <a:ext cx="7817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85020" y="4607719"/>
            <a:ext cx="937617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목표 &amp; 차별화 전략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1467594" y="4593431"/>
            <a:ext cx="8675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23989" y="4607719"/>
            <a:ext cx="776383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전체 아키텍처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2506563" y="4593431"/>
            <a:ext cx="6603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31361" y="4609505"/>
            <a:ext cx="598289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슬라이드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–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WHY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13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배경 &amp; 문제 정의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3180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66" dirty="0"/>
          </a:p>
        </p:txBody>
      </p:sp>
      <p:sp>
        <p:nvSpPr>
          <p:cNvPr id="5" name="Text 3"/>
          <p:cNvSpPr/>
          <p:nvPr/>
        </p:nvSpPr>
        <p:spPr>
          <a:xfrm>
            <a:off x="728663" y="1264444"/>
            <a:ext cx="440055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기존 솔루션 한계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517922" y="1589484"/>
            <a:ext cx="4607719" cy="1582341"/>
          </a:xfrm>
          <a:prstGeom prst="roundRect">
            <a:avLst>
              <a:gd name="adj" fmla="val 7223"/>
            </a:avLst>
          </a:prstGeom>
          <a:noFill/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593056"/>
            <a:ext cx="4600575" cy="328613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1494" y="1918097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944" y="1678781"/>
            <a:ext cx="2270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kern="0" spc="95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이름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2112094" y="1678781"/>
            <a:ext cx="283852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kern="0" spc="95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한계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521494" y="2336006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944" y="20556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892969" y="2035969"/>
            <a:ext cx="121912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날씨 앱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2112094" y="2035969"/>
            <a:ext cx="283852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숫자만 줌, 해석은 내 몫</a:t>
            </a:r>
            <a:endParaRPr lang="en-US" sz="956" dirty="0"/>
          </a:p>
        </p:txBody>
      </p:sp>
      <p:sp>
        <p:nvSpPr>
          <p:cNvPr id="15" name="Shape 13"/>
          <p:cNvSpPr/>
          <p:nvPr/>
        </p:nvSpPr>
        <p:spPr>
          <a:xfrm>
            <a:off x="521494" y="2753916"/>
            <a:ext cx="46005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944" y="24735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892969" y="2453878"/>
            <a:ext cx="121912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기상청 예보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2112094" y="2453878"/>
            <a:ext cx="283852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정확하지만 '그래서 뭘 해야 하나' 없음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692944" y="289143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892969" y="2871788"/>
            <a:ext cx="1219126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일반 날씨봇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2112094" y="2871788"/>
            <a:ext cx="2980451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누구에게나 똑같음 (내 체감/루트 무시)</a:t>
            </a:r>
            <a:endParaRPr lang="en-US" sz="956" dirty="0"/>
          </a:p>
        </p:txBody>
      </p:sp>
      <p:sp>
        <p:nvSpPr>
          <p:cNvPr id="22" name="Text 20"/>
          <p:cNvSpPr/>
          <p:nvPr/>
        </p:nvSpPr>
        <p:spPr>
          <a:xfrm>
            <a:off x="514350" y="3289697"/>
            <a:ext cx="4614863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세 접근 모두 '정보 전달'에 머물고, '결정 지원'은 빠져 있다.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5414963" y="2198489"/>
            <a:ext cx="3214688" cy="1014413"/>
          </a:xfrm>
          <a:prstGeom prst="roundRect">
            <a:avLst>
              <a:gd name="adj" fmla="val 93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14963" y="2202061"/>
            <a:ext cx="3214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26078" y="2198489"/>
            <a:ext cx="0" cy="10144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14963" y="3209330"/>
            <a:ext cx="32146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29250" y="2198489"/>
            <a:ext cx="0" cy="1014413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00700" y="233422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5815013" y="2337792"/>
            <a:ext cx="2650331" cy="162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kern="0" spc="11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결론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5600700" y="2605683"/>
            <a:ext cx="286464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 err="1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날씨</a:t>
            </a:r>
            <a:r>
              <a:rPr lang="en-US" sz="12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예측이 아니라, </a:t>
            </a:r>
            <a:r>
              <a:rPr lang="ko-KR" altLang="en-US" sz="1238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나의 출근 브리핑</a:t>
            </a:r>
            <a:r>
              <a:rPr lang="en-US" sz="1238" dirty="0" err="1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</a:t>
            </a:r>
            <a:r>
              <a:rPr lang="en-US" sz="12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풀어야 의미 있고 차별화된다.</a:t>
            </a:r>
            <a:endParaRPr lang="en-US" sz="1238" dirty="0"/>
          </a:p>
        </p:txBody>
      </p:sp>
      <p:sp>
        <p:nvSpPr>
          <p:cNvPr id="31" name="Text 29"/>
          <p:cNvSpPr/>
          <p:nvPr/>
        </p:nvSpPr>
        <p:spPr>
          <a:xfrm>
            <a:off x="5418534" y="3330773"/>
            <a:ext cx="1557338" cy="475059"/>
          </a:xfrm>
          <a:prstGeom prst="roundRect">
            <a:avLst>
              <a:gd name="adj" fmla="val 2807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22119" y="3420070"/>
            <a:ext cx="135016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22119" y="3566517"/>
            <a:ext cx="13501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공개 날씨 예측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7068741" y="3330773"/>
            <a:ext cx="1557338" cy="475059"/>
          </a:xfrm>
          <a:prstGeom prst="roundRect">
            <a:avLst>
              <a:gd name="adj" fmla="val 28070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72325" y="3420070"/>
            <a:ext cx="135016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172325" y="3566517"/>
            <a:ext cx="13501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 err="1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나의</a:t>
            </a:r>
            <a:r>
              <a:rPr lang="en-US" sz="78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88" dirty="0" err="1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출근</a:t>
            </a:r>
            <a:r>
              <a:rPr lang="en-US" sz="78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ko-KR" altLang="en-US" sz="78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브리핑</a:t>
            </a:r>
            <a:endParaRPr lang="en-US" sz="7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GOAL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629650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13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목표 &amp; 차별화 전략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491490" y="1251642"/>
            <a:ext cx="1645920" cy="289922"/>
          </a:xfrm>
          <a:prstGeom prst="roundRect">
            <a:avLst>
              <a:gd name="adj" fmla="val 328208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21556" y="1335881"/>
            <a:ext cx="9929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78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맞춤 행동 지침 자동 발송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614363" y="1321594"/>
            <a:ext cx="14001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핵심 목표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2177415" y="1251642"/>
            <a:ext cx="1638776" cy="289922"/>
          </a:xfrm>
          <a:prstGeom prst="roundRect">
            <a:avLst>
              <a:gd name="adj" fmla="val 328208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07481" y="1335881"/>
            <a:ext cx="9858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r>
              <a:rPr lang="en-US" sz="7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r>
              <a:rPr lang="en-US" sz="7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r>
              <a:rPr lang="en-US" sz="7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풀스택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2300288" y="1321594"/>
            <a:ext cx="1393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학습 목표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3856196" y="1251642"/>
            <a:ext cx="1131570" cy="289922"/>
          </a:xfrm>
          <a:prstGeom prst="roundRect">
            <a:avLst>
              <a:gd name="adj" fmla="val 328208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79106" y="1335881"/>
            <a:ext cx="5857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나만의 데이터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3979069" y="1321594"/>
            <a:ext cx="8858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차별화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514350" y="1728788"/>
            <a:ext cx="140974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차별화 전략 </a:t>
            </a:r>
            <a:r>
              <a:rPr lang="en-US" sz="1238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12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종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1585913" y="1843088"/>
            <a:ext cx="6447346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18983" y="1787723"/>
            <a:ext cx="7010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PILLARS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4350" y="2107406"/>
            <a:ext cx="2609813" cy="2636044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14350" y="2110978"/>
            <a:ext cx="26098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0591" y="2107406"/>
            <a:ext cx="0" cy="263604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350" y="4739878"/>
            <a:ext cx="26098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8638" y="2107406"/>
            <a:ext cx="0" cy="2636044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088" y="2243138"/>
            <a:ext cx="1710454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개인 체감 학습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2322857" y="2262997"/>
            <a:ext cx="659859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45717" y="2273498"/>
            <a:ext cx="6141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SIGNATURE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0088" y="2593181"/>
            <a:ext cx="2259769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피드백 버튼으로 나의 체감온도 학습 → 옷차림 조언에 반영. 프로젝트 시그니처 기능.</a:t>
            </a:r>
            <a:endParaRPr lang="en-US" sz="956" dirty="0"/>
          </a:p>
        </p:txBody>
      </p:sp>
      <p:sp>
        <p:nvSpPr>
          <p:cNvPr id="25" name="Shape 23"/>
          <p:cNvSpPr/>
          <p:nvPr/>
        </p:nvSpPr>
        <p:spPr>
          <a:xfrm>
            <a:off x="700088" y="4371975"/>
            <a:ext cx="2259769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088" y="449163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71538" y="4489847"/>
            <a:ext cx="20883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 LOOP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70610" y="2110978"/>
            <a:ext cx="2602669" cy="2628900"/>
          </a:xfrm>
          <a:prstGeom prst="roundRect">
            <a:avLst>
              <a:gd name="adj" fmla="val 512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31344" y="2257425"/>
            <a:ext cx="228120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니치 타겟</a:t>
            </a:r>
            <a:endParaRPr lang="en-US" sz="1238" dirty="0"/>
          </a:p>
        </p:txBody>
      </p:sp>
      <p:sp>
        <p:nvSpPr>
          <p:cNvPr id="30" name="Text 28"/>
          <p:cNvSpPr/>
          <p:nvPr/>
        </p:nvSpPr>
        <p:spPr>
          <a:xfrm>
            <a:off x="3431344" y="2607469"/>
            <a:ext cx="2281200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모두의 날씨 → 특정 상황 전용 비서. </a:t>
            </a:r>
            <a:r>
              <a:rPr lang="en-US" sz="956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차: 자전거 통근족.</a:t>
            </a:r>
            <a:endParaRPr lang="en-US" sz="956" dirty="0"/>
          </a:p>
        </p:txBody>
      </p:sp>
      <p:sp>
        <p:nvSpPr>
          <p:cNvPr id="31" name="Shape 29"/>
          <p:cNvSpPr/>
          <p:nvPr/>
        </p:nvSpPr>
        <p:spPr>
          <a:xfrm>
            <a:off x="3431344" y="4357688"/>
            <a:ext cx="22812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31344" y="44773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3602794" y="4475559"/>
            <a:ext cx="21097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NICHE TARGET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23297" y="2110978"/>
            <a:ext cx="2602781" cy="2628900"/>
          </a:xfrm>
          <a:prstGeom prst="roundRect">
            <a:avLst>
              <a:gd name="adj" fmla="val 512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4032" y="2257425"/>
            <a:ext cx="2281312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kern="0" spc="-12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내 루틴 결합</a:t>
            </a:r>
            <a:endParaRPr lang="en-US" sz="1238" dirty="0"/>
          </a:p>
        </p:txBody>
      </p:sp>
      <p:sp>
        <p:nvSpPr>
          <p:cNvPr id="36" name="Text 34"/>
          <p:cNvSpPr/>
          <p:nvPr/>
        </p:nvSpPr>
        <p:spPr>
          <a:xfrm>
            <a:off x="6184032" y="2607469"/>
            <a:ext cx="2281312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95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출근지 등록 → 날씨 + 출퇴근 소요시간을 같이 브리핑.</a:t>
            </a:r>
            <a:endParaRPr lang="en-US" sz="956" dirty="0"/>
          </a:p>
        </p:txBody>
      </p:sp>
      <p:sp>
        <p:nvSpPr>
          <p:cNvPr id="37" name="Shape 35"/>
          <p:cNvSpPr/>
          <p:nvPr/>
        </p:nvSpPr>
        <p:spPr>
          <a:xfrm>
            <a:off x="6184032" y="4357688"/>
            <a:ext cx="228131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84032" y="44773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6355482" y="4475559"/>
            <a:ext cx="210986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ROUTINE FUSION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92931"/>
            <a:ext cx="8115300" cy="390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46"/>
              </a:lnSpc>
              <a:buNone/>
            </a:pPr>
            <a:r>
              <a:rPr lang="en-US" sz="2475" b="1" kern="0" spc="-4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전체 아키텍처 — </a:t>
            </a:r>
            <a:r>
              <a:rPr lang="en-US" sz="2475" b="1" kern="0" spc="-49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하나의 테마로 쌓아올린 </a:t>
            </a:r>
            <a:r>
              <a:rPr lang="en-US" sz="2475" b="1" kern="0" spc="-4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3-Phase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800560"/>
            <a:ext cx="2533576" cy="1821656"/>
          </a:xfrm>
          <a:prstGeom prst="roundRect">
            <a:avLst>
              <a:gd name="adj" fmla="val 732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14350" y="1814847"/>
            <a:ext cx="2533576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4354" y="1800560"/>
            <a:ext cx="0" cy="182165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" y="3618644"/>
            <a:ext cx="25335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922" y="1800560"/>
            <a:ext cx="0" cy="182165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194" y="1944506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1954150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47366" y="1943435"/>
            <a:ext cx="163625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ML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678656" y="2211325"/>
            <a:ext cx="220496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날씨 예측 모델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678656" y="2493504"/>
            <a:ext cx="2204963" cy="40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과거 날씨 </a:t>
            </a: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CSV</a:t>
            </a: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내일 기온/비 예측 모델 </a:t>
            </a: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(LR→RF→XGB)</a:t>
            </a: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scikit-learn.</a:t>
            </a:r>
            <a:endParaRPr lang="en-US" sz="956" dirty="0"/>
          </a:p>
        </p:txBody>
      </p:sp>
      <p:sp>
        <p:nvSpPr>
          <p:cNvPr id="14" name="Shape 12"/>
          <p:cNvSpPr/>
          <p:nvPr/>
        </p:nvSpPr>
        <p:spPr>
          <a:xfrm>
            <a:off x="678656" y="2936416"/>
            <a:ext cx="22049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8656" y="3025713"/>
            <a:ext cx="220496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결과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78656" y="3172160"/>
            <a:ext cx="22049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kern="0" spc="-16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MAE 2.50°C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3047926" y="258280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3305101" y="1800560"/>
            <a:ext cx="2533687" cy="1821656"/>
          </a:xfrm>
          <a:prstGeom prst="roundRect">
            <a:avLst>
              <a:gd name="adj" fmla="val 732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05101" y="1814847"/>
            <a:ext cx="2533687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5216" y="1800560"/>
            <a:ext cx="0" cy="182165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05101" y="3618644"/>
            <a:ext cx="253368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08672" y="1800560"/>
            <a:ext cx="0" cy="182165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8944" y="1944506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469407" y="1954150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038116" y="1943435"/>
            <a:ext cx="163636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DL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3469407" y="2211325"/>
            <a:ext cx="2205075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딥러닝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3469407" y="2493504"/>
            <a:ext cx="2205075" cy="40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같은 데이터, </a:t>
            </a: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정교화. </a:t>
            </a:r>
            <a:r>
              <a:rPr lang="en-US" sz="788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r>
              <a:rPr lang="en-US" sz="78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 시퀀스</a:t>
            </a: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며칠치 예보. </a:t>
            </a: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Keras</a:t>
            </a: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956" dirty="0"/>
          </a:p>
        </p:txBody>
      </p:sp>
      <p:sp>
        <p:nvSpPr>
          <p:cNvPr id="28" name="Shape 26"/>
          <p:cNvSpPr/>
          <p:nvPr/>
        </p:nvSpPr>
        <p:spPr>
          <a:xfrm>
            <a:off x="3469407" y="2936416"/>
            <a:ext cx="220507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9407" y="3025713"/>
            <a:ext cx="220507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결과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69407" y="3172160"/>
            <a:ext cx="14803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kern="0" spc="-16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MAE 2.41°C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4699884" y="3284817"/>
            <a:ext cx="271196" cy="164021"/>
          </a:xfrm>
          <a:prstGeom prst="roundRect">
            <a:avLst>
              <a:gd name="adj" fmla="val 5801376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10857" y="3293604"/>
            <a:ext cx="2492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역전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838788" y="258280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969" dirty="0"/>
          </a:p>
        </p:txBody>
      </p:sp>
      <p:sp>
        <p:nvSpPr>
          <p:cNvPr id="34" name="Text 32"/>
          <p:cNvSpPr/>
          <p:nvPr/>
        </p:nvSpPr>
        <p:spPr>
          <a:xfrm>
            <a:off x="6095963" y="1800560"/>
            <a:ext cx="2533576" cy="1821656"/>
          </a:xfrm>
          <a:prstGeom prst="roundRect">
            <a:avLst>
              <a:gd name="adj" fmla="val 732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095963" y="1814847"/>
            <a:ext cx="2533576" cy="0"/>
          </a:xfrm>
          <a:prstGeom prst="line">
            <a:avLst/>
          </a:prstGeom>
          <a:noFill/>
          <a:ln w="28575">
            <a:solidFill>
              <a:srgbClr val="0E74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25967" y="1800560"/>
            <a:ext cx="0" cy="182165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5963" y="3618644"/>
            <a:ext cx="25335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9535" y="1800560"/>
            <a:ext cx="0" cy="182165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9807" y="1944506"/>
            <a:ext cx="552484" cy="180023"/>
          </a:xfrm>
          <a:prstGeom prst="roundRect">
            <a:avLst>
              <a:gd name="adj" fmla="val 21164"/>
            </a:avLst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60269" y="1954150"/>
            <a:ext cx="5115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28979" y="1943435"/>
            <a:ext cx="163625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LLM/RAG</a:t>
            </a:r>
            <a:endParaRPr lang="en-US" sz="956" dirty="0"/>
          </a:p>
        </p:txBody>
      </p:sp>
      <p:sp>
        <p:nvSpPr>
          <p:cNvPr id="42" name="Text 40"/>
          <p:cNvSpPr/>
          <p:nvPr/>
        </p:nvSpPr>
        <p:spPr>
          <a:xfrm>
            <a:off x="6260269" y="2211325"/>
            <a:ext cx="2204963" cy="212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출근 비서</a:t>
            </a:r>
            <a:endParaRPr lang="en-US" sz="1238" dirty="0"/>
          </a:p>
        </p:txBody>
      </p:sp>
      <p:sp>
        <p:nvSpPr>
          <p:cNvPr id="43" name="Text 41"/>
          <p:cNvSpPr/>
          <p:nvPr/>
        </p:nvSpPr>
        <p:spPr>
          <a:xfrm>
            <a:off x="6260269" y="2493504"/>
            <a:ext cx="2204963" cy="51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예측 + 교통 </a:t>
            </a: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로컬 </a:t>
            </a:r>
            <a:r>
              <a:rPr lang="en-US" sz="95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95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자연어 브리핑 → 디스코드 알림. </a:t>
            </a: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Ollama EXAONE 3.5</a:t>
            </a:r>
            <a:endParaRPr lang="en-US" sz="956" dirty="0"/>
          </a:p>
        </p:txBody>
      </p:sp>
      <p:sp>
        <p:nvSpPr>
          <p:cNvPr id="44" name="Shape 42"/>
          <p:cNvSpPr/>
          <p:nvPr/>
        </p:nvSpPr>
        <p:spPr>
          <a:xfrm>
            <a:off x="6260269" y="3043572"/>
            <a:ext cx="22049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0269" y="3132869"/>
            <a:ext cx="220496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결과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260269" y="3279316"/>
            <a:ext cx="22049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-10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</a:t>
            </a:r>
            <a:r>
              <a:rPr lang="en-US" sz="1013" kern="0" spc="-1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자동 발송</a:t>
            </a:r>
            <a:endParaRPr lang="en-US" sz="1013" dirty="0"/>
          </a:p>
        </p:txBody>
      </p:sp>
      <p:sp>
        <p:nvSpPr>
          <p:cNvPr id="47" name="Shape 45"/>
          <p:cNvSpPr/>
          <p:nvPr/>
        </p:nvSpPr>
        <p:spPr>
          <a:xfrm>
            <a:off x="514350" y="444341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4350" y="45880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49" name="Text 47"/>
          <p:cNvSpPr/>
          <p:nvPr/>
        </p:nvSpPr>
        <p:spPr>
          <a:xfrm>
            <a:off x="728663" y="4561284"/>
            <a:ext cx="79009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전 단계 결과물이 다음 단계의 입력 재료로 사용됨 — 점진적 확장 전략.</a:t>
            </a:r>
            <a:endParaRPr lang="en-US" sz="95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76794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· 02 OF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08057" y="400050"/>
            <a:ext cx="42159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24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333046" y="3214688"/>
            <a:ext cx="2810954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0"/>
              </a:lnSpc>
              <a:buNone/>
            </a:pPr>
            <a:r>
              <a:rPr lang="en-US" sz="202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20250" dirty="0"/>
          </a:p>
        </p:txBody>
      </p:sp>
      <p:sp>
        <p:nvSpPr>
          <p:cNvPr id="6" name="Text 4"/>
          <p:cNvSpPr/>
          <p:nvPr/>
        </p:nvSpPr>
        <p:spPr>
          <a:xfrm>
            <a:off x="571500" y="1933699"/>
            <a:ext cx="3028771" cy="1515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1475"/>
              </a:lnSpc>
              <a:buNone/>
            </a:pPr>
            <a:r>
              <a:rPr lang="en-US" sz="13500" kern="0" spc="-675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3500" dirty="0"/>
          </a:p>
        </p:txBody>
      </p:sp>
      <p:sp>
        <p:nvSpPr>
          <p:cNvPr id="10" name="Text 8"/>
          <p:cNvSpPr/>
          <p:nvPr/>
        </p:nvSpPr>
        <p:spPr>
          <a:xfrm>
            <a:off x="2921682" y="164842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86026" y="1629556"/>
            <a:ext cx="57579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88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· MACHINE LEARNING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86026" y="1911734"/>
            <a:ext cx="5705122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— ML: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날씨 예측 모델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3386026" y="2991780"/>
            <a:ext cx="5601392" cy="263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8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scikit-learn</a:t>
            </a:r>
            <a:r>
              <a:rPr lang="en-US" sz="123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회귀/분류 기본기 다지기.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3363166" y="3482011"/>
            <a:ext cx="848722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00338" y="3528231"/>
            <a:ext cx="51725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REGRESSION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57463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984" dirty="0"/>
          </a:p>
        </p:txBody>
      </p:sp>
      <p:sp>
        <p:nvSpPr>
          <p:cNvPr id="17" name="Text 15"/>
          <p:cNvSpPr/>
          <p:nvPr/>
        </p:nvSpPr>
        <p:spPr>
          <a:xfrm>
            <a:off x="4251893" y="3482011"/>
            <a:ext cx="1025642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89066" y="3528231"/>
            <a:ext cx="69417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46191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984" dirty="0"/>
          </a:p>
        </p:txBody>
      </p:sp>
      <p:sp>
        <p:nvSpPr>
          <p:cNvPr id="20" name="Text 18"/>
          <p:cNvSpPr/>
          <p:nvPr/>
        </p:nvSpPr>
        <p:spPr>
          <a:xfrm>
            <a:off x="5317540" y="3482011"/>
            <a:ext cx="912123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54712" y="3528231"/>
            <a:ext cx="58065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SCIKIT-LEARN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11837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984" dirty="0"/>
          </a:p>
        </p:txBody>
      </p:sp>
      <p:sp>
        <p:nvSpPr>
          <p:cNvPr id="23" name="Shape 21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350" y="4604147"/>
            <a:ext cx="6072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WeatherCheck · Phase 1 ML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00825" y="4604147"/>
            <a:ext cx="213855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LinearRegression → RandomForest → XGBoost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24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131306" cy="2968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329"/>
              </a:lnSpc>
              <a:buNone/>
            </a:pPr>
            <a:r>
              <a:rPr lang="en-US" sz="2025" b="1" kern="0" spc="-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수집 &amp; </a:t>
            </a:r>
            <a:r>
              <a:rPr lang="en-US" sz="2025" b="1" kern="0" spc="-2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EDA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195797"/>
            <a:ext cx="2885504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r>
              <a:rPr lang="en-US" sz="844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실데이터를 모으고, </a:t>
            </a:r>
            <a:r>
              <a:rPr lang="en-US" sz="84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844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입력·정답 스키마를 설계한 과정.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7303949" y="1171008"/>
            <a:ext cx="1348561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41121" y="1217228"/>
            <a:ext cx="101709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REAL-WORLD KMA DATA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98246" y="121901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499406"/>
            <a:ext cx="1943100" cy="11642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7922" y="1502978"/>
            <a:ext cx="1935956" cy="1157064"/>
          </a:xfrm>
          <a:prstGeom prst="roundRect">
            <a:avLst>
              <a:gd name="adj" fmla="val 11525"/>
            </a:avLst>
          </a:prstGeom>
          <a:noFill/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643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2105509" y="1676214"/>
            <a:ext cx="2019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643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3,836</a:t>
            </a:r>
            <a:r>
              <a:rPr lang="en-US" sz="1013" kern="0" spc="-3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</a:t>
            </a:r>
            <a:endParaRPr lang="en-US" sz="1913" dirty="0"/>
          </a:p>
        </p:txBody>
      </p:sp>
      <p:sp>
        <p:nvSpPr>
          <p:cNvPr id="15" name="Text 12"/>
          <p:cNvSpPr/>
          <p:nvPr/>
        </p:nvSpPr>
        <p:spPr>
          <a:xfrm>
            <a:off x="6643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실데이터 (</a:t>
            </a:r>
            <a:r>
              <a:rPr lang="en-US" sz="73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년)</a:t>
            </a:r>
            <a:endParaRPr lang="en-US" sz="731" dirty="0"/>
          </a:p>
        </p:txBody>
      </p:sp>
      <p:sp>
        <p:nvSpPr>
          <p:cNvPr id="16" name="Text 13"/>
          <p:cNvSpPr/>
          <p:nvPr/>
        </p:nvSpPr>
        <p:spPr>
          <a:xfrm>
            <a:off x="2575322" y="1502978"/>
            <a:ext cx="1935956" cy="1157064"/>
          </a:xfrm>
          <a:prstGeom prst="roundRect">
            <a:avLst>
              <a:gd name="adj" fmla="val 1152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7217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3961098" y="1676214"/>
            <a:ext cx="403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217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r>
              <a:rPr lang="en-US" sz="1013" kern="0" spc="-3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</a:t>
            </a:r>
            <a:endParaRPr lang="en-US" sz="1913" dirty="0"/>
          </a:p>
        </p:txBody>
      </p:sp>
      <p:sp>
        <p:nvSpPr>
          <p:cNvPr id="20" name="Text 17"/>
          <p:cNvSpPr/>
          <p:nvPr/>
        </p:nvSpPr>
        <p:spPr>
          <a:xfrm>
            <a:off x="27217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피처 — 기온·습도·기압·풍속·강수량</a:t>
            </a:r>
            <a:endParaRPr lang="en-US" sz="731" dirty="0"/>
          </a:p>
        </p:txBody>
      </p:sp>
      <p:sp>
        <p:nvSpPr>
          <p:cNvPr id="21" name="Text 18"/>
          <p:cNvSpPr/>
          <p:nvPr/>
        </p:nvSpPr>
        <p:spPr>
          <a:xfrm>
            <a:off x="4632722" y="1502978"/>
            <a:ext cx="1935956" cy="1157064"/>
          </a:xfrm>
          <a:prstGeom prst="roundRect">
            <a:avLst>
              <a:gd name="adj" fmla="val 1152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7791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6068950" y="1676214"/>
            <a:ext cx="35328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779169" y="2102272"/>
            <a:ext cx="1643063" cy="2682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서울(</a:t>
            </a:r>
            <a:r>
              <a:rPr lang="en-US" sz="1913" kern="0" spc="-38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108</a:t>
            </a:r>
            <a:r>
              <a:rPr lang="en-US" sz="1913" kern="0" spc="-3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1913" dirty="0"/>
          </a:p>
        </p:txBody>
      </p:sp>
      <p:sp>
        <p:nvSpPr>
          <p:cNvPr id="25" name="Text 22"/>
          <p:cNvSpPr/>
          <p:nvPr/>
        </p:nvSpPr>
        <p:spPr>
          <a:xfrm>
            <a:off x="47791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기상청 </a:t>
            </a:r>
            <a:r>
              <a:rPr lang="en-US" sz="731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ASOS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일자료</a:t>
            </a:r>
            <a:endParaRPr lang="en-US" sz="731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1499406"/>
            <a:ext cx="1943100" cy="11642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90122" y="1502978"/>
            <a:ext cx="1935956" cy="1157064"/>
          </a:xfrm>
          <a:prstGeom prst="roundRect">
            <a:avLst>
              <a:gd name="adj" fmla="val 11525"/>
            </a:avLst>
          </a:prstGeom>
          <a:noFill/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836569" y="1635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8075898" y="1676214"/>
            <a:ext cx="4037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SCALE-UP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836569" y="1835162"/>
            <a:ext cx="1643063" cy="5353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kern="0" spc="-38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</a:t>
            </a:r>
            <a:r>
              <a:rPr lang="en-US" sz="1913" kern="0" spc="-3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</a:t>
            </a:r>
            <a:r>
              <a:rPr lang="en-US" sz="1913" kern="0" spc="-3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1913" kern="0" spc="-3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913" kern="0" spc="-38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r>
              <a:rPr lang="en-US" sz="1913" kern="0" spc="-3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</a:t>
            </a:r>
            <a:endParaRPr lang="en-US" sz="1913" dirty="0"/>
          </a:p>
        </p:txBody>
      </p:sp>
      <p:sp>
        <p:nvSpPr>
          <p:cNvPr id="31" name="Text 27"/>
          <p:cNvSpPr/>
          <p:nvPr/>
        </p:nvSpPr>
        <p:spPr>
          <a:xfrm>
            <a:off x="6836569" y="2397956"/>
            <a:ext cx="1643063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확장 — </a:t>
            </a:r>
            <a:r>
              <a:rPr lang="en-US" sz="731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역전의 결정적 계기</a:t>
            </a:r>
            <a:endParaRPr lang="en-US" sz="731" dirty="0"/>
          </a:p>
        </p:txBody>
      </p:sp>
      <p:sp>
        <p:nvSpPr>
          <p:cNvPr id="32" name="Text 28"/>
          <p:cNvSpPr/>
          <p:nvPr/>
        </p:nvSpPr>
        <p:spPr>
          <a:xfrm>
            <a:off x="517922" y="2810061"/>
            <a:ext cx="3993356" cy="1651211"/>
          </a:xfrm>
          <a:prstGeom prst="roundRect">
            <a:avLst>
              <a:gd name="adj" fmla="val 807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850106" y="2956508"/>
            <a:ext cx="11850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파이프라인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64369" y="3188680"/>
            <a:ext cx="3700463" cy="0"/>
          </a:xfrm>
          <a:prstGeom prst="line">
            <a:avLst/>
          </a:prstGeom>
          <a:noFill/>
          <a:ln w="7144">
            <a:solidFill>
              <a:srgbClr val="0F172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64369" y="3327983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1478756" y="3299408"/>
            <a:ext cx="808360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771525" y="3277977"/>
            <a:ext cx="3593306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기상자료개방포털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data.kma.go.kr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수동 다운로드</a:t>
            </a:r>
            <a:endParaRPr lang="en-US" sz="759" dirty="0"/>
          </a:p>
        </p:txBody>
      </p:sp>
      <p:sp>
        <p:nvSpPr>
          <p:cNvPr id="38" name="Text 34"/>
          <p:cNvSpPr/>
          <p:nvPr/>
        </p:nvSpPr>
        <p:spPr>
          <a:xfrm>
            <a:off x="664369" y="3544081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771525" y="3515506"/>
            <a:ext cx="756679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771525" y="3494075"/>
            <a:ext cx="3593306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import_kma.py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</a:t>
            </a:r>
            <a:r>
              <a:rPr lang="en-US" sz="759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EUC-KR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59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CSV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를 스키마 변환</a:t>
            </a:r>
            <a:endParaRPr lang="en-US" sz="759" dirty="0"/>
          </a:p>
        </p:txBody>
      </p:sp>
      <p:sp>
        <p:nvSpPr>
          <p:cNvPr id="41" name="Text 37"/>
          <p:cNvSpPr/>
          <p:nvPr/>
        </p:nvSpPr>
        <p:spPr>
          <a:xfrm>
            <a:off x="664369" y="3760180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771525" y="3710174"/>
            <a:ext cx="3593306" cy="15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합성 데이터 → 실데이터로 교체 (폴백 유지)</a:t>
            </a:r>
            <a:endParaRPr lang="en-US" sz="759" dirty="0"/>
          </a:p>
        </p:txBody>
      </p:sp>
      <p:sp>
        <p:nvSpPr>
          <p:cNvPr id="43" name="Text 39"/>
          <p:cNvSpPr/>
          <p:nvPr/>
        </p:nvSpPr>
        <p:spPr>
          <a:xfrm>
            <a:off x="4629150" y="2806489"/>
            <a:ext cx="4000500" cy="1658355"/>
          </a:xfrm>
          <a:prstGeom prst="roundRect">
            <a:avLst>
              <a:gd name="adj" fmla="val 80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0"/>
          <p:cNvSpPr/>
          <p:nvPr/>
        </p:nvSpPr>
        <p:spPr>
          <a:xfrm>
            <a:off x="4629150" y="281006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626078" y="2806489"/>
            <a:ext cx="0" cy="165835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629150" y="4461272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639866" y="2806489"/>
            <a:ext cx="0" cy="165835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979194" y="2956508"/>
            <a:ext cx="93983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입력·정답 설계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4793456" y="3188680"/>
            <a:ext cx="3686175" cy="0"/>
          </a:xfrm>
          <a:prstGeom prst="line">
            <a:avLst/>
          </a:prstGeom>
          <a:noFill/>
          <a:ln w="7144">
            <a:solidFill>
              <a:srgbClr val="0F172A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793456" y="3327983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4900613" y="3277977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입력 </a:t>
            </a: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오늘 기온·습도·기압·어제 강수량</a:t>
            </a:r>
            <a:endParaRPr lang="en-US" sz="759" dirty="0"/>
          </a:p>
        </p:txBody>
      </p:sp>
      <p:sp>
        <p:nvSpPr>
          <p:cNvPr id="52" name="Text 48"/>
          <p:cNvSpPr/>
          <p:nvPr/>
        </p:nvSpPr>
        <p:spPr>
          <a:xfrm>
            <a:off x="4793456" y="3544081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4900613" y="3494075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정답 </a:t>
            </a: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내일 기온 (회귀) · 비 여부 (분류)</a:t>
            </a:r>
            <a:endParaRPr lang="en-US" sz="759" dirty="0"/>
          </a:p>
        </p:txBody>
      </p:sp>
      <p:sp>
        <p:nvSpPr>
          <p:cNvPr id="54" name="Text 50"/>
          <p:cNvSpPr/>
          <p:nvPr/>
        </p:nvSpPr>
        <p:spPr>
          <a:xfrm>
            <a:off x="4793456" y="3760180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4900613" y="3731605"/>
            <a:ext cx="911498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4900613" y="3710174"/>
            <a:ext cx="3579019" cy="1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시계열 순서 보존</a:t>
            </a:r>
            <a:endParaRPr lang="en-US" sz="759" dirty="0"/>
          </a:p>
        </p:txBody>
      </p:sp>
      <p:sp>
        <p:nvSpPr>
          <p:cNvPr id="57" name="Shape 53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14350" y="4614863"/>
            <a:ext cx="70151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기상청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ASOS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서울(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108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·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2014-01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~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2024-06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7543800" y="4614863"/>
            <a:ext cx="10858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→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=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4x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규모 확장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24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495437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EDA</a:t>
            </a:r>
            <a:r>
              <a:rPr lang="en-US" sz="1913" b="1" kern="0" spc="-1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피처 상관관계 분석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595307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수치형 </a:t>
            </a:r>
            <a:r>
              <a:rPr lang="en-US" sz="816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피처 간 </a:t>
            </a: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Pearson</a:t>
            </a: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상관관계 히트맵 — 타깃 설계와 다중공선성 점검.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350048" y="1149242"/>
            <a:ext cx="1302462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7221" y="1195462"/>
            <a:ext cx="97099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SEABORN · COOLWARM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44346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4350" y="1449065"/>
            <a:ext cx="3651796" cy="1196578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14350" y="1452637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2574" y="1449065"/>
            <a:ext cx="0" cy="119657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4350" y="2642071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066" y="1449065"/>
            <a:ext cx="0" cy="1196578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956" y="1556221"/>
            <a:ext cx="750806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54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주요 인사이트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50081" y="1777678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7238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60091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62944" y="1741959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7238" y="1727671"/>
            <a:ext cx="3287464" cy="300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temp_avg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temp_max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temp_min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거의 완벽한 양의 상관 </a:t>
            </a: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(≥0.95)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일교차 패턴 안정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650081" y="2099146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7238" y="2063428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02966" y="2063428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7238" y="2049140"/>
            <a:ext cx="3287464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pressure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↔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temp_avg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음의 상관 </a:t>
            </a: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(~ -0.7)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기온↑ 기압↓ 물리패턴 확인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650081" y="2281312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7238" y="2245593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02966" y="2245593"/>
            <a:ext cx="382525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7238" y="2231306"/>
            <a:ext cx="3287464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humidity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↔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precip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양의 상관 — 비 오는 날 습도↑ 검증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650081" y="2463478"/>
            <a:ext cx="35719" cy="35719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57238" y="2427759"/>
            <a:ext cx="580430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7238" y="2413471"/>
            <a:ext cx="328746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wind_speed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 타 피처와 낮은 상관 </a:t>
            </a: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(≤0.3)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독립 정보원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517922" y="2734940"/>
            <a:ext cx="3644652" cy="493923"/>
          </a:xfrm>
          <a:prstGeom prst="roundRect">
            <a:avLst>
              <a:gd name="adj" fmla="val 1928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78669" y="2838524"/>
            <a:ext cx="532745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4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설계 결정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35794" y="2995687"/>
            <a:ext cx="3408908" cy="14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temp_max/min</a:t>
            </a: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타깃은 일교차 일관성 확보, 풍속은 분류 모델에서 정보 이득 기대.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4312593" y="1452637"/>
            <a:ext cx="4313486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01889" y="1513359"/>
            <a:ext cx="36948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FEATURES · 7 × 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11058" y="1513359"/>
            <a:ext cx="4542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Pearson r</a:t>
            </a:r>
            <a:endParaRPr lang="en-US" sz="800" dirty="0"/>
          </a:p>
        </p:txBody>
      </p:sp>
      <p:pic>
        <p:nvPicPr>
          <p:cNvPr id="38" name="Image 0" descr="/tmp/h2p-fit-1783165724537-z3cl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314" y="1649090"/>
            <a:ext cx="4192042" cy="257175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373314" y="4277990"/>
            <a:ext cx="4192042" cy="122560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수치형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피처 상관관계 히트맵 (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seaborn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coolwarm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중심값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614863"/>
            <a:ext cx="65151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· EDA · pandas + seaborn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043738" y="4614863"/>
            <a:ext cx="15859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다중공선성 점검 → 타깃 &amp; 입력 피처 설계로 직결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MODELING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24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8521065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모델 </a:t>
            </a:r>
            <a:r>
              <a:rPr lang="en-US" sz="1913" b="1" kern="0" spc="-19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1913" b="1" kern="0" spc="-1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종 비교 &amp; 잔차 분석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811530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쉬운 모델부터 점진 적용 — </a:t>
            </a: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LinearRegression</a:t>
            </a: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RandomForest</a:t>
            </a: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XGBoost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514350" y="1449065"/>
            <a:ext cx="264396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62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</a:t>
            </a:r>
            <a:r>
              <a:rPr lang="en-US" sz="700" kern="0" spc="62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회귀 </a:t>
            </a:r>
            <a:r>
              <a:rPr lang="en-US" sz="700" kern="0" spc="62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r>
              <a:rPr lang="en-US" sz="700" kern="0" spc="62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(°</a:t>
            </a:r>
            <a:r>
              <a:rPr lang="en-US" sz="700" kern="0" spc="62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r>
              <a:rPr lang="en-US" sz="700" kern="0" spc="62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172606" y="1449065"/>
            <a:ext cx="11644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models · 3,836 days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1624087"/>
          <a:ext cx="3637508" cy="1093948"/>
        </p:xfrm>
        <a:graphic>
          <a:graphicData uri="http://schemas.openxmlformats.org/drawingml/2006/table">
            <a:tbl>
              <a:tblPr/>
              <a:tblGrid>
                <a:gridCol w="1509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모델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회귀 MAE(°C)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33415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비고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294" marR="85725" marT="85725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LinearRegression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E749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2.50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♛최고 (회귀)</a:t>
                      </a:r>
                      <a:endParaRPr lang="en-US" sz="759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RandomForest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2.6x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중간</a:t>
                      </a:r>
                      <a:endParaRPr lang="en-US" sz="759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XGBoost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2.7x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9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과적합 경향</a:t>
                      </a:r>
                      <a:endParaRPr lang="en-US" sz="759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1438" marR="85725" marT="85725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14350" y="2897237"/>
            <a:ext cx="3651796" cy="641821"/>
          </a:xfrm>
          <a:prstGeom prst="roundRect">
            <a:avLst>
              <a:gd name="adj" fmla="val 148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8"/>
          <p:cNvSpPr/>
          <p:nvPr/>
        </p:nvSpPr>
        <p:spPr>
          <a:xfrm>
            <a:off x="514350" y="2900809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2574" y="2897237"/>
            <a:ext cx="0" cy="64182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4350" y="3535487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5066" y="2897237"/>
            <a:ext cx="0" cy="64182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2956" y="3004393"/>
            <a:ext cx="906451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54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잔차 분석 인사이트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0081" y="3147268"/>
            <a:ext cx="3394621" cy="298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잔차 분석으로 모델별 편향 패턴 확인 — 큰 편차 없이 무작위 분포 → 모델이 체계적 오차 없이 학습됨.</a:t>
            </a:r>
            <a:endParaRPr lang="en-US" sz="759" dirty="0"/>
          </a:p>
        </p:txBody>
      </p:sp>
      <p:sp>
        <p:nvSpPr>
          <p:cNvPr id="17" name="Text 14"/>
          <p:cNvSpPr/>
          <p:nvPr/>
        </p:nvSpPr>
        <p:spPr>
          <a:xfrm>
            <a:off x="4312593" y="1452637"/>
            <a:ext cx="4313486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0" descr="/home/z/my-project/download/slides/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314" y="1513359"/>
            <a:ext cx="4192042" cy="152429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373314" y="3094806"/>
            <a:ext cx="4192042" cy="134392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잔차 분포 — 예측 오차가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주변에 무작위 분포함을 확인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4350" y="4614863"/>
            <a:ext cx="61936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1 · Modeling · scikit-learn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722269" y="4614863"/>
            <a:ext cx="190738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최종 선택 —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LinearRegression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(회귀) ·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2.50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°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24 · Phase 1 ML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825595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1800" b="1" kern="0" spc="-1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평가 심화 — 분류 성능 &amp; 피처 중요도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77743" y="948882"/>
            <a:ext cx="1174767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4915" y="995102"/>
            <a:ext cx="84329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CROSS-VALIDATION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72040" y="99688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9" name="Text 7"/>
          <p:cNvSpPr/>
          <p:nvPr/>
        </p:nvSpPr>
        <p:spPr>
          <a:xfrm>
            <a:off x="517922" y="1223702"/>
            <a:ext cx="8108156" cy="285750"/>
          </a:xfrm>
          <a:prstGeom prst="roundRect">
            <a:avLst>
              <a:gd name="adj" fmla="val 266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130942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92956" y="1291568"/>
            <a:ext cx="77295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회귀 </a:t>
            </a: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만 보지 않고 분류 성능(혼동행렬)과 피처 기여도(중요도)로 모델 신뢰성 교차 검증.</a:t>
            </a:r>
            <a:endParaRPr lang="en-US" sz="788" dirty="0"/>
          </a:p>
        </p:txBody>
      </p:sp>
      <p:sp>
        <p:nvSpPr>
          <p:cNvPr id="12" name="Text 10"/>
          <p:cNvSpPr/>
          <p:nvPr/>
        </p:nvSpPr>
        <p:spPr>
          <a:xfrm>
            <a:off x="517922" y="1602321"/>
            <a:ext cx="3993356" cy="3261792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4381" y="1708584"/>
            <a:ext cx="231435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CONFUSION MATRIX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5794" y="170144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15" name="Text 13"/>
          <p:cNvSpPr/>
          <p:nvPr/>
        </p:nvSpPr>
        <p:spPr>
          <a:xfrm>
            <a:off x="3093021" y="1691618"/>
            <a:ext cx="14044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2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 · Binary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0791" y="1879141"/>
            <a:ext cx="3807619" cy="2200275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0" descr="/tmp/h2p-fit-1783165722743-2fzs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925575"/>
            <a:ext cx="3714750" cy="210740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7219" y="4154425"/>
            <a:ext cx="3814763" cy="134365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marL="0" indent="0" algn="ctr">
              <a:lnSpc>
                <a:spcPts val="10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혼동행렬 —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LogisticRegression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강수 이진분류 (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0.71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07219" y="4340833"/>
            <a:ext cx="3814763" cy="433983"/>
          </a:xfrm>
          <a:prstGeom prst="roundRect">
            <a:avLst>
              <a:gd name="adj" fmla="val 175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607219" y="4344405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18409" y="4340833"/>
            <a:ext cx="0" cy="43398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7219" y="4771244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7934" y="4340833"/>
            <a:ext cx="0" cy="433983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7219" y="4340833"/>
            <a:ext cx="3814763" cy="433983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00" kern="0" spc="47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TAKEAWAY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TN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TP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비율 높음, </a:t>
            </a:r>
            <a:r>
              <a:rPr lang="en-US" sz="703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FN</a:t>
            </a:r>
            <a:r>
              <a:rPr lang="en-US" sz="703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(비를 못 맞춤)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주요 오차 — 강수 분류는 회귀보다 어려움 확인</a:t>
            </a:r>
            <a:endParaRPr lang="en-US" sz="703" dirty="0"/>
          </a:p>
        </p:txBody>
      </p:sp>
      <p:sp>
        <p:nvSpPr>
          <p:cNvPr id="25" name="Text 22"/>
          <p:cNvSpPr/>
          <p:nvPr/>
        </p:nvSpPr>
        <p:spPr>
          <a:xfrm>
            <a:off x="4632722" y="1602321"/>
            <a:ext cx="3993356" cy="3261792"/>
          </a:xfrm>
          <a:prstGeom prst="roundRect">
            <a:avLst>
              <a:gd name="adj" fmla="val 35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79181" y="1708584"/>
            <a:ext cx="269966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IMPORTANCE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0594" y="170144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28" name="Text 25"/>
          <p:cNvSpPr/>
          <p:nvPr/>
        </p:nvSpPr>
        <p:spPr>
          <a:xfrm>
            <a:off x="7593137" y="1691618"/>
            <a:ext cx="9436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2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 · Gini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25591" y="1879141"/>
            <a:ext cx="3807619" cy="1443596"/>
          </a:xfrm>
          <a:prstGeom prst="roundRect">
            <a:avLst>
              <a:gd name="adj" fmla="val 527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1" descr="/tmp/h2p-fit-1783165722744-d1mjc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1925575"/>
            <a:ext cx="3714750" cy="1350727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722019" y="3397746"/>
            <a:ext cx="3814763" cy="134365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marL="0" indent="0" algn="ctr">
              <a:lnSpc>
                <a:spcPts val="90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피처 중요도 —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RandomForest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기준, 타깃 예측 기여도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4722019" y="3584153"/>
            <a:ext cx="3814763" cy="295573"/>
          </a:xfrm>
          <a:prstGeom prst="roundRect">
            <a:avLst>
              <a:gd name="adj" fmla="val 257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29"/>
          <p:cNvSpPr/>
          <p:nvPr/>
        </p:nvSpPr>
        <p:spPr>
          <a:xfrm>
            <a:off x="4722019" y="3587725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533209" y="3584153"/>
            <a:ext cx="0" cy="29557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722019" y="3876154"/>
            <a:ext cx="38147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732734" y="3584153"/>
            <a:ext cx="0" cy="295573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22019" y="3584153"/>
            <a:ext cx="3814763" cy="319218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00" kern="0" spc="47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TAKEAWAY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어제 강수량·현재 습도가 상위 — 직관과 일치. 풍속·기압은 낮지만 분류엔 기여</a:t>
            </a:r>
            <a:endParaRPr lang="en-US" sz="703" dirty="0"/>
          </a:p>
        </p:txBody>
      </p:sp>
      <p:sp>
        <p:nvSpPr>
          <p:cNvPr id="38" name="Shape 34"/>
          <p:cNvSpPr/>
          <p:nvPr/>
        </p:nvSpPr>
        <p:spPr>
          <a:xfrm>
            <a:off x="514350" y="495698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14350" y="5017703"/>
            <a:ext cx="6150769" cy="12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Evaluation · scikit-learn metrics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6679406" y="5017703"/>
            <a:ext cx="1950244" cy="125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정성(직관) · 정량(지표) 양쪽 교차 검증으로 모델 신뢰성 확보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14688"/>
            <a:ext cx="4607042" cy="1928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0"/>
              </a:lnSpc>
              <a:buNone/>
            </a:pPr>
            <a:r>
              <a:rPr lang="en-US" sz="202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</a:t>
            </a:r>
            <a:endParaRPr lang="en-US" sz="20250" dirty="0"/>
          </a:p>
        </p:txBody>
      </p:sp>
      <p:pic>
        <p:nvPicPr>
          <p:cNvPr id="3" name="Image 0" descr="/tmp/h2p-svg-1783165725751-p67jf7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412955" y="336582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4350" y="400050"/>
            <a:ext cx="76794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· 03 OF 04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08057" y="400050"/>
            <a:ext cx="42159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24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71500" y="1629556"/>
            <a:ext cx="64648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88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DEEP LEARNING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1911734"/>
            <a:ext cx="5878614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— DL: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딥러닝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571500" y="2991780"/>
            <a:ext cx="5611404" cy="263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18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123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순서를 기억하게 만들기.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548640" y="3482011"/>
            <a:ext cx="858991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85813" y="3528231"/>
            <a:ext cx="52752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TIME-SERIES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42938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984" dirty="0"/>
          </a:p>
        </p:txBody>
      </p:sp>
      <p:sp>
        <p:nvSpPr>
          <p:cNvPr id="13" name="Text 10"/>
          <p:cNvSpPr/>
          <p:nvPr/>
        </p:nvSpPr>
        <p:spPr>
          <a:xfrm>
            <a:off x="1447636" y="3482011"/>
            <a:ext cx="926410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684809" y="3528231"/>
            <a:ext cx="59494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LSTM (SEQ=7)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541934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16" name="Text 13"/>
          <p:cNvSpPr/>
          <p:nvPr/>
        </p:nvSpPr>
        <p:spPr>
          <a:xfrm>
            <a:off x="2414851" y="3482011"/>
            <a:ext cx="595641" cy="196025"/>
          </a:xfrm>
          <a:prstGeom prst="roundRect">
            <a:avLst>
              <a:gd name="adj" fmla="val 48542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51224" y="3528231"/>
            <a:ext cx="26577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KERAS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508349" y="353001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9" name="Text 16"/>
          <p:cNvSpPr/>
          <p:nvPr/>
        </p:nvSpPr>
        <p:spPr>
          <a:xfrm>
            <a:off x="6372895" y="1648420"/>
            <a:ext cx="7144" cy="200025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37238" y="1810624"/>
            <a:ext cx="2306762" cy="13941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10519"/>
              </a:lnSpc>
              <a:buNone/>
            </a:pPr>
            <a:r>
              <a:rPr lang="en-US" sz="12375" kern="0" spc="-619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375" dirty="0"/>
          </a:p>
        </p:txBody>
      </p:sp>
      <p:sp>
        <p:nvSpPr>
          <p:cNvPr id="24" name="Shape 21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4350" y="4604147"/>
            <a:ext cx="62150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WeatherCheck · Phase 2 DL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743700" y="4604147"/>
            <a:ext cx="18859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Keras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7-day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sequence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며칠치 예보</a:t>
            </a:r>
            <a:endParaRPr lang="en-US" sz="73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DL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24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120390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1913" b="1" kern="0" spc="-1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도입 배경 &amp; 학습 구조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209544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흐름을 학습하기 위해 단층 </a:t>
            </a: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멀티헤드 출력 구조를 채택.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577755" y="1149242"/>
            <a:ext cx="1074755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14928" y="1195462"/>
            <a:ext cx="74328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KERAS · LSTM(32)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72053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4350" y="1449065"/>
            <a:ext cx="3986213" cy="737815"/>
          </a:xfrm>
          <a:prstGeom prst="roundRect">
            <a:avLst>
              <a:gd name="adj" fmla="val 129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14350" y="145263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6991" y="1449065"/>
            <a:ext cx="0" cy="73781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4350" y="218330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066" y="1449065"/>
            <a:ext cx="0" cy="73781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531" y="1570509"/>
            <a:ext cx="746853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kern="0" spc="17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왜 </a:t>
            </a:r>
            <a:r>
              <a:rPr lang="en-US" sz="844" b="1" kern="0" spc="17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844" b="1" kern="0" spc="17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인가?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664369" y="1759818"/>
            <a:ext cx="3700463" cy="31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날씨는 순서가 중요 — 어제·그제 흐름이 내일에 영향. </a:t>
            </a:r>
            <a:r>
              <a:rPr lang="en-US" sz="788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은 순서를 잘 못 보지만 </a:t>
            </a:r>
            <a:r>
              <a:rPr lang="en-US" sz="788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8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은 순서를 기억</a:t>
            </a:r>
            <a:r>
              <a:rPr lang="en-US" sz="78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한다.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517922" y="2276177"/>
            <a:ext cx="3979069" cy="2185095"/>
          </a:xfrm>
          <a:prstGeom prst="roundRect">
            <a:avLst>
              <a:gd name="adj" fmla="val 43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1531" y="2394049"/>
            <a:ext cx="90189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844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모델 구조</a:t>
            </a:r>
            <a:endParaRPr lang="en-US" sz="844" dirty="0"/>
          </a:p>
        </p:txBody>
      </p:sp>
      <p:sp>
        <p:nvSpPr>
          <p:cNvPr id="19" name="Shape 17"/>
          <p:cNvSpPr/>
          <p:nvPr/>
        </p:nvSpPr>
        <p:spPr>
          <a:xfrm>
            <a:off x="650081" y="2829818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50081" y="263336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14" dirty="0"/>
          </a:p>
        </p:txBody>
      </p:sp>
      <p:sp>
        <p:nvSpPr>
          <p:cNvPr id="21" name="Text 19"/>
          <p:cNvSpPr/>
          <p:nvPr/>
        </p:nvSpPr>
        <p:spPr>
          <a:xfrm>
            <a:off x="1693069" y="2640509"/>
            <a:ext cx="530870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78681" y="2633365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입력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지난 </a:t>
            </a:r>
            <a:r>
              <a:rPr lang="en-US" sz="73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 시퀀스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SEQ_LEN=7</a:t>
            </a:r>
            <a:endParaRPr lang="en-US" sz="731" dirty="0"/>
          </a:p>
        </p:txBody>
      </p:sp>
      <p:sp>
        <p:nvSpPr>
          <p:cNvPr id="23" name="Shape 21"/>
          <p:cNvSpPr/>
          <p:nvPr/>
        </p:nvSpPr>
        <p:spPr>
          <a:xfrm>
            <a:off x="650081" y="3065562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50081" y="286910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14" dirty="0"/>
          </a:p>
        </p:txBody>
      </p:sp>
      <p:sp>
        <p:nvSpPr>
          <p:cNvPr id="25" name="Text 23"/>
          <p:cNvSpPr/>
          <p:nvPr/>
        </p:nvSpPr>
        <p:spPr>
          <a:xfrm>
            <a:off x="1178719" y="2876252"/>
            <a:ext cx="679326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78681" y="2869109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정규화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</a:t>
            </a:r>
            <a:endParaRPr lang="en-US" sz="731" dirty="0"/>
          </a:p>
        </p:txBody>
      </p:sp>
      <p:sp>
        <p:nvSpPr>
          <p:cNvPr id="27" name="Shape 25"/>
          <p:cNvSpPr/>
          <p:nvPr/>
        </p:nvSpPr>
        <p:spPr>
          <a:xfrm>
            <a:off x="650081" y="3301305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50081" y="31048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14" dirty="0"/>
          </a:p>
        </p:txBody>
      </p:sp>
      <p:sp>
        <p:nvSpPr>
          <p:cNvPr id="29" name="Text 27"/>
          <p:cNvSpPr/>
          <p:nvPr/>
        </p:nvSpPr>
        <p:spPr>
          <a:xfrm>
            <a:off x="1178719" y="3111996"/>
            <a:ext cx="481422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78681" y="3104852"/>
            <a:ext cx="3486150" cy="14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레이어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LSTM(32)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단층 + 멀티헤드 출력</a:t>
            </a:r>
            <a:endParaRPr lang="en-US" sz="731" dirty="0"/>
          </a:p>
        </p:txBody>
      </p:sp>
      <p:sp>
        <p:nvSpPr>
          <p:cNvPr id="31" name="Shape 29"/>
          <p:cNvSpPr/>
          <p:nvPr/>
        </p:nvSpPr>
        <p:spPr>
          <a:xfrm>
            <a:off x="650081" y="3537049"/>
            <a:ext cx="371475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50081" y="334059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14" dirty="0"/>
          </a:p>
        </p:txBody>
      </p:sp>
      <p:sp>
        <p:nvSpPr>
          <p:cNvPr id="33" name="Text 31"/>
          <p:cNvSpPr/>
          <p:nvPr/>
        </p:nvSpPr>
        <p:spPr>
          <a:xfrm>
            <a:off x="878681" y="3340596"/>
            <a:ext cx="3486150" cy="14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출력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회귀 </a:t>
            </a:r>
            <a:r>
              <a:rPr lang="en-US" sz="73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출력 (최고/최저기온) + 분류 </a:t>
            </a:r>
            <a:r>
              <a:rPr lang="en-US" sz="73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출력 (비 여부)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650081" y="357634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914" dirty="0"/>
          </a:p>
        </p:txBody>
      </p:sp>
      <p:sp>
        <p:nvSpPr>
          <p:cNvPr id="35" name="Text 33"/>
          <p:cNvSpPr/>
          <p:nvPr/>
        </p:nvSpPr>
        <p:spPr>
          <a:xfrm>
            <a:off x="1100138" y="3583484"/>
            <a:ext cx="234181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434331" y="3583484"/>
            <a:ext cx="1025575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78681" y="3576340"/>
            <a:ext cx="3486150" cy="14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손실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800" dirty="0">
                <a:solidFill>
                  <a:srgbClr val="0F172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binary_crossentropy</a:t>
            </a:r>
            <a:r>
              <a:rPr lang="en-US" sz="73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가중합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4647009" y="1452637"/>
            <a:ext cx="3979069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707731" y="4280557"/>
            <a:ext cx="3857625" cy="119993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LSTM </a:t>
            </a:r>
            <a:r>
              <a:rPr lang="ko-KR" alt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학습</a:t>
            </a:r>
            <a:r>
              <a:rPr lang="en-US" altLang="ko-KR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ko-KR" alt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검증 손실 곡선 </a:t>
            </a:r>
            <a:r>
              <a:rPr lang="en-US" altLang="ko-KR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</a:t>
            </a:r>
            <a:r>
              <a:rPr lang="en-US" altLang="ko-KR" sz="7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train.val</a:t>
            </a:r>
            <a:r>
              <a:rPr lang="ko-KR" alt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격차가 없이 함께 수렴</a:t>
            </a:r>
            <a:r>
              <a:rPr lang="en-US" altLang="ko-KR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r>
              <a:rPr lang="ko-KR" altLang="en-US" sz="7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과적합</a:t>
            </a:r>
            <a:r>
              <a:rPr lang="ko-KR" alt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없음</a:t>
            </a:r>
            <a:r>
              <a:rPr lang="en-US" altLang="ko-KR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4350" y="4614863"/>
            <a:ext cx="62436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DL Design · Keras LSTM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772275" y="4614863"/>
            <a:ext cx="18573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단층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시작 → 멀티태스크 회귀+분류 동시 학습</a:t>
            </a:r>
            <a:endParaRPr lang="en-US" sz="70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5914F6B4-3894-4F0A-85E6-6177643B4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743" y="1651138"/>
            <a:ext cx="3410319" cy="24359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RESULT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24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060383" cy="28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199"/>
              </a:lnSpc>
              <a:buNone/>
            </a:pPr>
            <a:r>
              <a:rPr lang="en-US" sz="1913" b="1" kern="0" spc="-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1913" b="1" kern="0" spc="-1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913" b="1" kern="0" spc="-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</a:t>
            </a:r>
            <a:r>
              <a:rPr lang="en-US" sz="1913" b="1" kern="0" spc="-1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913" b="1" kern="0" spc="-1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1913" b="1" kern="0" spc="-1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정확도 비교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514350" y="1179388"/>
            <a:ext cx="3147822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같은 데이터로 학습한 </a:t>
            </a: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LR</a:t>
            </a: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)과 </a:t>
            </a:r>
            <a:r>
              <a:rPr lang="en-US" sz="816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816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의 회귀·분류 성능을 정량 비교.</a:t>
            </a:r>
            <a:endParaRPr lang="en-US" sz="816" dirty="0"/>
          </a:p>
        </p:txBody>
      </p:sp>
      <p:sp>
        <p:nvSpPr>
          <p:cNvPr id="7" name="Text 5"/>
          <p:cNvSpPr/>
          <p:nvPr/>
        </p:nvSpPr>
        <p:spPr>
          <a:xfrm>
            <a:off x="7821201" y="1149242"/>
            <a:ext cx="831309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58373" y="1195462"/>
            <a:ext cx="4998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r>
              <a:rPr lang="en-US" sz="700" kern="0" spc="25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데이터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915498" y="119724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7922" y="1452637"/>
            <a:ext cx="3979069" cy="830461"/>
          </a:xfrm>
          <a:prstGeom prst="roundRect">
            <a:avLst>
              <a:gd name="adj" fmla="val 137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794" y="1586582"/>
            <a:ext cx="30289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kern="0" spc="2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회귀 </a:t>
            </a:r>
            <a:r>
              <a:rPr lang="en-US" sz="731" kern="0" spc="29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r>
              <a:rPr lang="en-US" sz="731" kern="0" spc="2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(°</a:t>
            </a:r>
            <a:r>
              <a:rPr lang="en-US" sz="731" kern="0" spc="29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r>
              <a:rPr lang="en-US" sz="731" kern="0" spc="2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· 낮을수록 좋음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3656171" y="1544220"/>
            <a:ext cx="745808" cy="224028"/>
          </a:xfrm>
          <a:prstGeom prst="roundRect">
            <a:avLst>
              <a:gd name="adj" fmla="val 4247449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886200" y="1606228"/>
            <a:ext cx="4143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역전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757613" y="160979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914" dirty="0"/>
          </a:p>
        </p:txBody>
      </p:sp>
      <p:sp>
        <p:nvSpPr>
          <p:cNvPr id="15" name="Text 13"/>
          <p:cNvSpPr/>
          <p:nvPr/>
        </p:nvSpPr>
        <p:spPr>
          <a:xfrm>
            <a:off x="635794" y="1827684"/>
            <a:ext cx="2328322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794" y="1965201"/>
            <a:ext cx="18862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2.41</a:t>
            </a:r>
            <a:r>
              <a:rPr lang="en-US" sz="900" b="1" kern="0" spc="-3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°C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2195140" y="1928589"/>
            <a:ext cx="177589" cy="164592"/>
          </a:xfrm>
          <a:prstGeom prst="rect">
            <a:avLst/>
          </a:prstGeom>
          <a:noFill/>
          <a:ln/>
        </p:spPr>
        <p:txBody>
          <a:bodyPr wrap="none" lIns="28575" tIns="0" rIns="28575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458455" y="1827684"/>
            <a:ext cx="1886236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 (LR)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58455" y="1965201"/>
            <a:ext cx="18862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2.50</a:t>
            </a:r>
            <a:r>
              <a:rPr lang="en-US" sz="900" b="1" kern="0" spc="-3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°C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4017801" y="1939305"/>
            <a:ext cx="3613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Δ -0.09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922" y="2375967"/>
            <a:ext cx="3979069" cy="830461"/>
          </a:xfrm>
          <a:prstGeom prst="roundRect">
            <a:avLst>
              <a:gd name="adj" fmla="val 1376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2509912"/>
            <a:ext cx="3136106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kern="0" spc="2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분류 </a:t>
            </a:r>
            <a:r>
              <a:rPr lang="en-US" sz="731" kern="0" spc="29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</a:t>
            </a:r>
            <a:r>
              <a:rPr lang="en-US" sz="731" kern="0" spc="2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높을수록 좋음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3763327" y="2467549"/>
            <a:ext cx="638651" cy="224028"/>
          </a:xfrm>
          <a:prstGeom prst="roundRect">
            <a:avLst>
              <a:gd name="adj" fmla="val 42474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93356" y="2529557"/>
            <a:ext cx="30718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거의 동률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64769" y="2533129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914" dirty="0"/>
          </a:p>
        </p:txBody>
      </p:sp>
      <p:sp>
        <p:nvSpPr>
          <p:cNvPr id="26" name="Text 24"/>
          <p:cNvSpPr/>
          <p:nvPr/>
        </p:nvSpPr>
        <p:spPr>
          <a:xfrm>
            <a:off x="635794" y="2751013"/>
            <a:ext cx="2287583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5794" y="2888531"/>
            <a:ext cx="231654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0.706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2169356" y="2851919"/>
            <a:ext cx="177589" cy="164592"/>
          </a:xfrm>
          <a:prstGeom prst="rect">
            <a:avLst/>
          </a:prstGeom>
          <a:noFill/>
          <a:ln/>
        </p:spPr>
        <p:txBody>
          <a:bodyPr wrap="none" lIns="28575" tIns="0" rIns="28575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32670" y="2751013"/>
            <a:ext cx="1946449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kern="0" spc="1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32670" y="2888531"/>
            <a:ext cx="19464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0.714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3966232" y="2862635"/>
            <a:ext cx="4128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Δ -0.008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4350" y="3295724"/>
            <a:ext cx="3986213" cy="1169119"/>
          </a:xfrm>
          <a:prstGeom prst="roundRect">
            <a:avLst>
              <a:gd name="adj" fmla="val 814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14350" y="329929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96991" y="3295724"/>
            <a:ext cx="0" cy="1169119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4350" y="446127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066" y="3295724"/>
            <a:ext cx="0" cy="1169119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956" y="3410024"/>
            <a:ext cx="1735871" cy="11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kern="0" spc="54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</a:t>
            </a:r>
            <a:r>
              <a:rPr lang="en-US" sz="700" kern="0" spc="54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kern="0" spc="54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INSIGHT</a:t>
            </a:r>
            <a:r>
              <a:rPr lang="en-US" sz="700" kern="0" spc="54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핵심 학습 포인트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50081" y="3560043"/>
            <a:ext cx="3729038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</a:t>
            </a:r>
            <a:r>
              <a:rPr lang="en-US" sz="759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</a:t>
            </a: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→ </a:t>
            </a:r>
            <a:r>
              <a:rPr lang="en-US" sz="759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확장 후 </a:t>
            </a:r>
            <a:r>
              <a:rPr lang="en-US" sz="759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우위. </a:t>
            </a:r>
            <a:r>
              <a:rPr lang="en-US" sz="759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759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은 데이터 충분해야 진가 발휘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핵심 학습 포인트.</a:t>
            </a:r>
            <a:endParaRPr lang="en-US" sz="759" dirty="0"/>
          </a:p>
        </p:txBody>
      </p:sp>
      <p:sp>
        <p:nvSpPr>
          <p:cNvPr id="39" name="Text 37"/>
          <p:cNvSpPr/>
          <p:nvPr/>
        </p:nvSpPr>
        <p:spPr>
          <a:xfrm>
            <a:off x="4647009" y="1452637"/>
            <a:ext cx="3979069" cy="300863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0" descr="/tmp/h2p-fit-1783165726443-jxzbl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731" y="1513359"/>
            <a:ext cx="3857625" cy="2710049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4707731" y="4280557"/>
            <a:ext cx="3857625" cy="119993"/>
          </a:xfrm>
          <a:prstGeom prst="rect">
            <a:avLst/>
          </a:prstGeom>
          <a:noFill/>
          <a:ln/>
        </p:spPr>
        <p:txBody>
          <a:bodyPr wrap="square" lIns="28575" tIns="0" rIns="28575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그림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예측 오차 비교 —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을 근소하게 역전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514350" y="45541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4350" y="4614863"/>
            <a:ext cx="58864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Result · ML vs DL Benchmark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415088" y="4614863"/>
            <a:ext cx="22145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회귀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↓ · 분류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≈ 동률 · 데이터 스케일이 성능 역전의 핵심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8967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FORECAST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5370" y="400050"/>
            <a:ext cx="120428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24 · Phase 2 DL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902949" cy="264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예측 결과 — 며칠치 예보를 한 번에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162980"/>
            <a:ext cx="3717094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모델이 </a:t>
            </a:r>
            <a:r>
              <a:rPr lang="en-US" sz="788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 시퀀스를 입력받아 향후 며칠의 기온 흐름을 한 번에 예측.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7615706" y="1127476"/>
            <a:ext cx="1036804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52879" y="1173696"/>
            <a:ext cx="70533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FORECAST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10004" y="117548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984" dirty="0"/>
          </a:p>
        </p:txBody>
      </p:sp>
      <p:sp>
        <p:nvSpPr>
          <p:cNvPr id="10" name="Text 8"/>
          <p:cNvSpPr/>
          <p:nvPr/>
        </p:nvSpPr>
        <p:spPr>
          <a:xfrm>
            <a:off x="517922" y="1402296"/>
            <a:ext cx="8108156" cy="2622649"/>
          </a:xfrm>
          <a:prstGeom prst="roundRect">
            <a:avLst>
              <a:gd name="adj" fmla="val 435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/tmp/h2p-fit-1783165725127-om5to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1" y="1477305"/>
            <a:ext cx="7958138" cy="2286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302533" y="3820455"/>
            <a:ext cx="2538822" cy="12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60"/>
              </a:lnSpc>
              <a:buNone/>
            </a:pPr>
            <a:r>
              <a:rPr lang="en-US" sz="800" kern="0" spc="31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FIGURE 7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예측 — 과거 </a:t>
            </a:r>
            <a:r>
              <a:rPr lang="en-US" sz="70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 시퀀스로 향후 예측, 실측값과 비교</a:t>
            </a:r>
            <a:endParaRPr lang="en-US" sz="703" dirty="0"/>
          </a:p>
        </p:txBody>
      </p:sp>
      <p:sp>
        <p:nvSpPr>
          <p:cNvPr id="13" name="Text 10"/>
          <p:cNvSpPr/>
          <p:nvPr/>
        </p:nvSpPr>
        <p:spPr>
          <a:xfrm>
            <a:off x="514350" y="4142817"/>
            <a:ext cx="2647876" cy="627757"/>
          </a:xfrm>
          <a:prstGeom prst="roundRect">
            <a:avLst>
              <a:gd name="adj" fmla="val 182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14350" y="4146389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58654" y="4142817"/>
            <a:ext cx="0" cy="62775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4350" y="4767002"/>
            <a:ext cx="264787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5066" y="4142817"/>
            <a:ext cx="0" cy="627757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0081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50081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64419" y="4257117"/>
            <a:ext cx="533370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50119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44" dirty="0"/>
          </a:p>
        </p:txBody>
      </p:sp>
      <p:sp>
        <p:nvSpPr>
          <p:cNvPr id="22" name="Text 19"/>
          <p:cNvSpPr/>
          <p:nvPr/>
        </p:nvSpPr>
        <p:spPr>
          <a:xfrm>
            <a:off x="950119" y="4383918"/>
            <a:ext cx="2090663" cy="15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충분한 데이터 → </a:t>
            </a: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우위 확인</a:t>
            </a:r>
            <a:endParaRPr lang="en-US" sz="759" dirty="0"/>
          </a:p>
        </p:txBody>
      </p:sp>
      <p:sp>
        <p:nvSpPr>
          <p:cNvPr id="23" name="Text 20"/>
          <p:cNvSpPr/>
          <p:nvPr/>
        </p:nvSpPr>
        <p:spPr>
          <a:xfrm>
            <a:off x="3251522" y="4146389"/>
            <a:ext cx="2640843" cy="620613"/>
          </a:xfrm>
          <a:prstGeom prst="roundRect">
            <a:avLst>
              <a:gd name="adj" fmla="val 1841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369394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369394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783732" y="4257117"/>
            <a:ext cx="409337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669432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133776" y="4398206"/>
            <a:ext cx="381186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669432" y="4383918"/>
            <a:ext cx="2105062" cy="150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모델 </a:t>
            </a: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.keras</a:t>
            </a: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저장·재사용</a:t>
            </a:r>
            <a:endParaRPr lang="en-US" sz="759" dirty="0"/>
          </a:p>
        </p:txBody>
      </p:sp>
      <p:sp>
        <p:nvSpPr>
          <p:cNvPr id="30" name="Text 27"/>
          <p:cNvSpPr/>
          <p:nvPr/>
        </p:nvSpPr>
        <p:spPr>
          <a:xfrm>
            <a:off x="5985235" y="4146389"/>
            <a:ext cx="2640732" cy="620613"/>
          </a:xfrm>
          <a:prstGeom prst="roundRect">
            <a:avLst>
              <a:gd name="adj" fmla="val 1841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03107" y="4249973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103107" y="4249973"/>
            <a:ext cx="2571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517444" y="4257117"/>
            <a:ext cx="533370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0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HANDOFF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403144" y="426336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844" dirty="0"/>
          </a:p>
        </p:txBody>
      </p:sp>
      <p:sp>
        <p:nvSpPr>
          <p:cNvPr id="35" name="Text 32"/>
          <p:cNvSpPr/>
          <p:nvPr/>
        </p:nvSpPr>
        <p:spPr>
          <a:xfrm>
            <a:off x="6403144" y="4398206"/>
            <a:ext cx="639254" cy="1143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403144" y="4383918"/>
            <a:ext cx="2104951" cy="279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00" dirty="0">
                <a:solidFill>
                  <a:srgbClr val="0F172A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contract.md</a:t>
            </a: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스키마로 </a:t>
            </a: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r>
              <a:rPr lang="en-US" sz="75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에 전달 </a:t>
            </a: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(source: lstm)</a:t>
            </a:r>
            <a:endParaRPr lang="en-US" sz="759" dirty="0"/>
          </a:p>
        </p:txBody>
      </p:sp>
      <p:sp>
        <p:nvSpPr>
          <p:cNvPr id="37" name="Text 34"/>
          <p:cNvSpPr/>
          <p:nvPr/>
        </p:nvSpPr>
        <p:spPr>
          <a:xfrm>
            <a:off x="514350" y="4884874"/>
            <a:ext cx="6743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2 · Output → Phase 3 Input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272338" y="4884874"/>
            <a:ext cx="1493044" cy="144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저장된 모델이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호출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2712" y="1714500"/>
            <a:ext cx="4051288" cy="342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0"/>
              </a:lnSpc>
              <a:buNone/>
            </a:pPr>
            <a:r>
              <a:rPr lang="en-US" sz="31500" b="1" kern="0" spc="-189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31500" dirty="0"/>
          </a:p>
        </p:txBody>
      </p:sp>
      <p:sp>
        <p:nvSpPr>
          <p:cNvPr id="3" name="Shape 1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4350" y="400050"/>
            <a:ext cx="640883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SECTION · PHASE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937474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117631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74806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54962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12137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92294" y="467916"/>
            <a:ext cx="200025" cy="14288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49469" y="405408"/>
            <a:ext cx="19681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429625" y="467916"/>
            <a:ext cx="200025" cy="14288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50" y="1712651"/>
            <a:ext cx="3214688" cy="128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56"/>
              </a:lnSpc>
              <a:buNone/>
            </a:pPr>
            <a:r>
              <a:rPr lang="en-US" sz="12375" b="1" kern="0" spc="-495" dirty="0">
                <a:solidFill>
                  <a:srgbClr val="06B6D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375" dirty="0"/>
          </a:p>
        </p:txBody>
      </p:sp>
      <p:sp>
        <p:nvSpPr>
          <p:cNvPr id="14" name="Text 12"/>
          <p:cNvSpPr/>
          <p:nvPr/>
        </p:nvSpPr>
        <p:spPr>
          <a:xfrm>
            <a:off x="626440" y="3053976"/>
            <a:ext cx="628650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71938" y="1437010"/>
            <a:ext cx="507206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kern="0" spc="15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04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4071938" y="1740619"/>
            <a:ext cx="5013484" cy="95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3 — LLM/RAG:</a:t>
            </a:r>
            <a:endParaRPr lang="en-US" sz="3150" dirty="0"/>
          </a:p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6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출근 비서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4071938" y="2792090"/>
            <a:ext cx="328612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예측을 사람 말로 번역하고,</a:t>
            </a:r>
            <a:endParaRPr lang="en-US" sz="1238" dirty="0"/>
          </a:p>
          <a:p>
            <a:pPr marL="0" indent="0" algn="l">
              <a:lnSpc>
                <a:spcPts val="1856"/>
              </a:lnSpc>
              <a:buNone/>
            </a:pPr>
            <a:r>
              <a:rPr lang="en-US" sz="1238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매일 아침 폰으로 보낸다.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4050939" y="3536526"/>
            <a:ext cx="566950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71938" y="3549328"/>
            <a:ext cx="52495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73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73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예측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4682617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4883360" y="3536526"/>
            <a:ext cx="366354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96929" y="3549328"/>
            <a:ext cx="339217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21871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520377" y="3536526"/>
            <a:ext cx="426750" cy="250631"/>
          </a:xfrm>
          <a:prstGeom prst="roundRect">
            <a:avLst>
              <a:gd name="adj" fmla="val 2280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36183" y="3549328"/>
            <a:ext cx="39513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sLLM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17047" y="35975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6208843" y="3536526"/>
            <a:ext cx="607938" cy="250631"/>
          </a:xfrm>
          <a:prstGeom prst="roundRect">
            <a:avLst>
              <a:gd name="adj" fmla="val 22802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31359" y="3549328"/>
            <a:ext cx="562905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4350" y="4486275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350" y="4604147"/>
            <a:ext cx="770955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WeatherCheck · Learning Project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38195" y="4604147"/>
            <a:ext cx="39145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24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5938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3962274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LLM/RAG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78644"/>
            <a:ext cx="3326314" cy="262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27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1800" b="1" kern="0" spc="-27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파이프라인 &amp; 로컬 </a:t>
            </a:r>
            <a:r>
              <a:rPr lang="en-US" sz="1800" b="1" kern="0" spc="-27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1800" b="1" kern="0" spc="-27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전환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08057" y="545716"/>
            <a:ext cx="4215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/ 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162980"/>
            <a:ext cx="14257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PIPELINE · 5 STEPS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9760" y="1218344"/>
            <a:ext cx="6979890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7922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506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5819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621506" y="1659471"/>
            <a:ext cx="1214438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78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예측</a:t>
            </a:r>
            <a:endParaRPr lang="en-US" sz="788" dirty="0"/>
          </a:p>
        </p:txBody>
      </p:sp>
      <p:sp>
        <p:nvSpPr>
          <p:cNvPr id="13" name="Text 11"/>
          <p:cNvSpPr/>
          <p:nvPr/>
        </p:nvSpPr>
        <p:spPr>
          <a:xfrm>
            <a:off x="621506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· .keras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기온·비 예측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985963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2189559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93144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93144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07456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2293144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교통 </a:t>
            </a:r>
            <a:r>
              <a:rPr lang="en-US" sz="78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2293144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TMAP / ODsay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소요시간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0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3861197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64781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64781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79094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3964781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78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검색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3964781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 + TF-IDF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니치 문서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329238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5532834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36419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6419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850731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636419" y="1659471"/>
            <a:ext cx="1214437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로컬 </a:t>
            </a:r>
            <a:r>
              <a:rPr lang="en-US" sz="788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5636419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EXAONE 3.5 7.8B</a:t>
            </a:r>
            <a:endParaRPr lang="en-US" sz="8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00875" y="16747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06B6D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36" name="Text 34"/>
          <p:cNvSpPr/>
          <p:nvPr/>
        </p:nvSpPr>
        <p:spPr>
          <a:xfrm>
            <a:off x="7204472" y="1355861"/>
            <a:ext cx="1421606" cy="794965"/>
          </a:xfrm>
          <a:prstGeom prst="roundRect">
            <a:avLst>
              <a:gd name="adj" fmla="val 14378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08056" y="1459446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308056" y="1459446"/>
            <a:ext cx="1857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22369" y="147373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7308056" y="1659471"/>
            <a:ext cx="1214438" cy="135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88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디스코드 알림</a:t>
            </a:r>
            <a:endParaRPr lang="en-US" sz="788" dirty="0"/>
          </a:p>
        </p:txBody>
      </p:sp>
      <p:sp>
        <p:nvSpPr>
          <p:cNvPr id="41" name="Text 39"/>
          <p:cNvSpPr/>
          <p:nvPr/>
        </p:nvSpPr>
        <p:spPr>
          <a:xfrm>
            <a:off x="7308056" y="1827349"/>
            <a:ext cx="1214438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@멘션 · 자동 발송</a:t>
            </a:r>
            <a:endParaRPr lang="en-US" sz="700" dirty="0"/>
          </a:p>
          <a:p>
            <a:pPr marL="0" indent="0" algn="l">
              <a:lnSpc>
                <a:spcPts val="866"/>
              </a:lnSpc>
              <a:buNone/>
            </a:pPr>
            <a:r>
              <a:rPr lang="en-US" sz="700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매일 아침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4350" y="2325849"/>
            <a:ext cx="4000500" cy="2417601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14350" y="232942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11278" y="2325849"/>
            <a:ext cx="0" cy="241760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4350" y="47398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066" y="2325849"/>
            <a:ext cx="0" cy="241760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4369" y="2447292"/>
            <a:ext cx="37147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CHALLENGE 01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0106" y="2625886"/>
            <a:ext cx="98226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임베딩 전환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4369" y="2868774"/>
            <a:ext cx="3714750" cy="486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Chroma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기본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ONNX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모델(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79MB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다운로드 반복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timeout</a:t>
            </a:r>
            <a:endParaRPr lang="en-US" sz="703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sklearn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)로 교체 — 문서 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규모라 매 검색마다 재구축해도 즉시 처리</a:t>
            </a:r>
            <a:endParaRPr lang="en-US" sz="703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오검색 방지: 니치 문서는 별도 폴더, 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1:1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직접 읽기</a:t>
            </a:r>
            <a:endParaRPr lang="en-US" sz="703" dirty="0"/>
          </a:p>
        </p:txBody>
      </p:sp>
      <p:sp>
        <p:nvSpPr>
          <p:cNvPr id="50" name="Text 48"/>
          <p:cNvSpPr/>
          <p:nvPr/>
        </p:nvSpPr>
        <p:spPr>
          <a:xfrm>
            <a:off x="4629150" y="2325849"/>
            <a:ext cx="4000500" cy="2417601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629150" y="2329421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26078" y="2325849"/>
            <a:ext cx="0" cy="2417601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9150" y="4739878"/>
            <a:ext cx="40005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39866" y="2325849"/>
            <a:ext cx="0" cy="2417601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9169" y="2447292"/>
            <a:ext cx="371475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CHALLENGE 02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964906" y="2625886"/>
            <a:ext cx="106263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백엔드 전환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79169" y="2868774"/>
            <a:ext cx="3714750" cy="65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Claude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로컬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Ollama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EXAONE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7.8B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4.8GB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한국어 특화)</a:t>
            </a:r>
            <a:endParaRPr lang="en-US" sz="703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r>
              <a:rPr lang="en-US" sz="703" dirty="0" err="1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외부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대신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직접 운용 학습</a:t>
            </a:r>
            <a:endParaRPr lang="en-US" sz="703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분류: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temperature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(결정적), 생성: 기본값</a:t>
            </a:r>
            <a:endParaRPr lang="en-US" sz="703" dirty="0"/>
          </a:p>
          <a:p>
            <a:pPr marL="0" indent="0" algn="l">
              <a:lnSpc>
                <a:spcPts val="1055"/>
              </a:lnSpc>
              <a:buNone/>
            </a:pPr>
            <a:r>
              <a:rPr lang="en-US" sz="6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RTX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4060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8GB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에서 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초 응답, </a:t>
            </a: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keep_alive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r>
              <a:rPr lang="en-US" sz="70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30m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상시 로드</a:t>
            </a:r>
            <a:endParaRPr lang="en-US" sz="70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959383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3113989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BOT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578644"/>
            <a:ext cx="2406395" cy="26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400" b="1" kern="0" spc="-27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디스코드 봇 &amp; 차별화 기능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08057" y="545716"/>
            <a:ext cx="4215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/ 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14550" y="1162980"/>
            <a:ext cx="592262" cy="157163"/>
          </a:xfrm>
          <a:prstGeom prst="roundRect">
            <a:avLst>
              <a:gd name="adj" fmla="val 6054526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1162980"/>
            <a:ext cx="8115300" cy="16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대화형 디스코드 봇 — 자연어 의도 분류 </a:t>
            </a: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15+</a:t>
            </a: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인텐트</a:t>
            </a:r>
            <a:r>
              <a:rPr lang="en-US" sz="788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로 모든 기능을 한 채널에서 처리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514350" y="1434443"/>
            <a:ext cx="4007644" cy="1604442"/>
          </a:xfrm>
          <a:prstGeom prst="roundRect">
            <a:avLst>
              <a:gd name="adj" fmla="val 83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14350" y="1438015"/>
            <a:ext cx="40076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18422" y="1434443"/>
            <a:ext cx="0" cy="160444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4350" y="3035312"/>
            <a:ext cx="400764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8638" y="1434443"/>
            <a:ext cx="0" cy="1604442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441586"/>
            <a:ext cx="3971925" cy="2143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64546" y="1541599"/>
            <a:ext cx="5074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NICHE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" y="1663936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63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🚲</a:t>
            </a:r>
            <a:endParaRPr lang="en-US" sz="1463" dirty="0"/>
          </a:p>
        </p:txBody>
      </p:sp>
      <p:sp>
        <p:nvSpPr>
          <p:cNvPr id="16" name="Text 13"/>
          <p:cNvSpPr/>
          <p:nvPr/>
        </p:nvSpPr>
        <p:spPr>
          <a:xfrm>
            <a:off x="985838" y="1627324"/>
            <a:ext cx="150482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85838" y="1734480"/>
            <a:ext cx="1306106" cy="16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니치 타겟 · 자전거 통근</a:t>
            </a:r>
            <a:endParaRPr lang="en-US" sz="956" dirty="0"/>
          </a:p>
        </p:txBody>
      </p:sp>
      <p:sp>
        <p:nvSpPr>
          <p:cNvPr id="18" name="Text 15"/>
          <p:cNvSpPr/>
          <p:nvPr/>
        </p:nvSpPr>
        <p:spPr>
          <a:xfrm>
            <a:off x="2007394" y="2029160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257550" y="2029160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5800" y="1972010"/>
            <a:ext cx="3686175" cy="161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별도 지식 폴더에서 </a:t>
            </a:r>
            <a:r>
              <a:rPr lang="en-US" sz="759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1:1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59" dirty="0" err="1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직접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59" dirty="0" err="1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읽기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🚲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전용 섹션으로 분리 생성  버튼 또는 채팅으로 토글</a:t>
            </a:r>
            <a:endParaRPr lang="en-US" sz="759" dirty="0"/>
          </a:p>
        </p:txBody>
      </p:sp>
      <p:sp>
        <p:nvSpPr>
          <p:cNvPr id="21" name="Text 18"/>
          <p:cNvSpPr/>
          <p:nvPr/>
        </p:nvSpPr>
        <p:spPr>
          <a:xfrm>
            <a:off x="4625578" y="1438015"/>
            <a:ext cx="4000500" cy="1597298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865046" y="1541599"/>
            <a:ext cx="6145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ROUTINE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72025" y="1663936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🏠</a:t>
            </a:r>
            <a:endParaRPr lang="en-US" sz="1463" dirty="0"/>
          </a:p>
        </p:txBody>
      </p:sp>
      <p:sp>
        <p:nvSpPr>
          <p:cNvPr id="24" name="Text 21"/>
          <p:cNvSpPr/>
          <p:nvPr/>
        </p:nvSpPr>
        <p:spPr>
          <a:xfrm>
            <a:off x="5072063" y="1627324"/>
            <a:ext cx="76205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72063" y="1734480"/>
            <a:ext cx="722376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출근지 설정</a:t>
            </a:r>
            <a:endParaRPr lang="en-US" sz="956" dirty="0"/>
          </a:p>
        </p:txBody>
      </p:sp>
      <p:sp>
        <p:nvSpPr>
          <p:cNvPr id="26" name="Text 23"/>
          <p:cNvSpPr/>
          <p:nvPr/>
        </p:nvSpPr>
        <p:spPr>
          <a:xfrm>
            <a:off x="7350919" y="2029160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72025" y="1972010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출발지·도착지 한 번 등록 → 이후 알림에 날씨+소요시간 같이 발송  자전거 니치일 땐 자동 생략</a:t>
            </a:r>
            <a:endParaRPr lang="en-US" sz="759" dirty="0"/>
          </a:p>
        </p:txBody>
      </p:sp>
      <p:sp>
        <p:nvSpPr>
          <p:cNvPr id="28" name="Text 25"/>
          <p:cNvSpPr/>
          <p:nvPr/>
        </p:nvSpPr>
        <p:spPr>
          <a:xfrm>
            <a:off x="517922" y="3142469"/>
            <a:ext cx="4000500" cy="1597409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703700" y="3246053"/>
            <a:ext cx="6682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FEEDBACK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64369" y="3368390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🌡️</a:t>
            </a:r>
            <a:endParaRPr lang="en-US" sz="1463" dirty="0"/>
          </a:p>
        </p:txBody>
      </p:sp>
      <p:sp>
        <p:nvSpPr>
          <p:cNvPr id="31" name="Text 28"/>
          <p:cNvSpPr/>
          <p:nvPr/>
        </p:nvSpPr>
        <p:spPr>
          <a:xfrm>
            <a:off x="964406" y="3331778"/>
            <a:ext cx="141800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 CORE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64406" y="3438934"/>
            <a:ext cx="1230754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개인 체감 피드백 루프</a:t>
            </a:r>
            <a:endParaRPr lang="en-US" sz="956" dirty="0"/>
          </a:p>
        </p:txBody>
      </p:sp>
      <p:sp>
        <p:nvSpPr>
          <p:cNvPr id="33" name="Text 30"/>
          <p:cNvSpPr/>
          <p:nvPr/>
        </p:nvSpPr>
        <p:spPr>
          <a:xfrm>
            <a:off x="1843088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571875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64369" y="3676464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매일 알림에 </a:t>
            </a: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🥶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759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🥵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버튼  누적 평균으로 체감온도 보정치(°</a:t>
            </a:r>
            <a:r>
              <a:rPr lang="en-US" sz="759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계산  브리핑에 자동 반영</a:t>
            </a:r>
            <a:endParaRPr lang="en-US" sz="759" dirty="0"/>
          </a:p>
        </p:txBody>
      </p:sp>
      <p:sp>
        <p:nvSpPr>
          <p:cNvPr id="36" name="Text 33"/>
          <p:cNvSpPr/>
          <p:nvPr/>
        </p:nvSpPr>
        <p:spPr>
          <a:xfrm>
            <a:off x="4625578" y="3142469"/>
            <a:ext cx="4000500" cy="1597409"/>
          </a:xfrm>
          <a:prstGeom prst="roundRect">
            <a:avLst>
              <a:gd name="adj" fmla="val 8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8132936" y="3246053"/>
            <a:ext cx="3466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UX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772025" y="3368390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63" dirty="0">
                <a:solidFill>
                  <a:srgbClr val="0F172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⏰</a:t>
            </a:r>
            <a:endParaRPr lang="en-US" sz="1463" dirty="0"/>
          </a:p>
        </p:txBody>
      </p:sp>
      <p:sp>
        <p:nvSpPr>
          <p:cNvPr id="39" name="Text 36"/>
          <p:cNvSpPr/>
          <p:nvPr/>
        </p:nvSpPr>
        <p:spPr>
          <a:xfrm>
            <a:off x="5072063" y="3331778"/>
            <a:ext cx="9584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072063" y="3438934"/>
            <a:ext cx="904227" cy="16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자동 알림 &amp; </a:t>
            </a: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</a:t>
            </a:r>
            <a:endParaRPr lang="en-US" sz="956" dirty="0"/>
          </a:p>
        </p:txBody>
      </p:sp>
      <p:sp>
        <p:nvSpPr>
          <p:cNvPr id="41" name="Text 38"/>
          <p:cNvSpPr/>
          <p:nvPr/>
        </p:nvSpPr>
        <p:spPr>
          <a:xfrm>
            <a:off x="6343650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343775" y="3733614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772025" y="3676464"/>
            <a:ext cx="3707606" cy="322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자연어로 시각 설정(매일 </a:t>
            </a:r>
            <a:r>
              <a:rPr lang="en-US" sz="759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r>
              <a:rPr lang="en-US" sz="759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시에 알려줘)  @멘션으로 푸시 보장  도움말 버튼 패널 자동 핀 고정</a:t>
            </a:r>
            <a:endParaRPr lang="en-US" sz="759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CODE 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/ 24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481255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41"/>
              </a:lnSpc>
              <a:buNone/>
            </a:pPr>
            <a:r>
              <a:rPr lang="en-US" sz="1688" b="1" kern="0" spc="-17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코드 아키텍처 — </a:t>
            </a:r>
            <a:r>
              <a:rPr lang="en-US" sz="1688" b="1" kern="0" spc="-17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r>
              <a:rPr lang="en-US" sz="1688" b="1" kern="0" spc="-17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모듈의 책임 분리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46572"/>
            <a:ext cx="3315481" cy="14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→ 예측 → 서비스 </a:t>
            </a: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계층 흐름과 </a:t>
            </a: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·인프라·테스트 </a:t>
            </a: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축 모듈 인벤토리.</a:t>
            </a:r>
            <a:endParaRPr lang="en-US" sz="731" dirty="0"/>
          </a:p>
        </p:txBody>
      </p:sp>
      <p:sp>
        <p:nvSpPr>
          <p:cNvPr id="7" name="Text 5"/>
          <p:cNvSpPr/>
          <p:nvPr/>
        </p:nvSpPr>
        <p:spPr>
          <a:xfrm>
            <a:off x="7782357" y="1090976"/>
            <a:ext cx="870153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12385" y="1137196"/>
            <a:ext cx="54582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MODULES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76654" y="11425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4350" y="1362224"/>
            <a:ext cx="14500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7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DATA FLOW · 3 LAYERS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83358" y="1414909"/>
            <a:ext cx="6946292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1490" y="1519086"/>
            <a:ext cx="674370" cy="345286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1494" y="1531888"/>
            <a:ext cx="0" cy="319683"/>
          </a:xfrm>
          <a:prstGeom prst="line">
            <a:avLst/>
          </a:prstGeom>
          <a:noFill/>
          <a:ln w="14288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788" y="1574750"/>
            <a:ext cx="50006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5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788" y="1690836"/>
            <a:ext cx="5000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계층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18009" y="1538139"/>
            <a:ext cx="2802248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85875" y="1600758"/>
            <a:ext cx="266651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KMA CSV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85875" y="1697868"/>
            <a:ext cx="266651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ASOS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일자료 ·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EUC-KR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043831" y="1613720"/>
            <a:ext cx="634745" cy="156020"/>
          </a:xfrm>
          <a:prstGeom prst="roundRect">
            <a:avLst>
              <a:gd name="adj" fmla="val 2442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66691" y="1622078"/>
            <a:ext cx="5890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import_kma.py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98578" y="163457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859313" y="1538139"/>
            <a:ext cx="2802359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27178" y="1600758"/>
            <a:ext cx="2776356" cy="1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data/raw/seoul_weather.csv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27178" y="1697868"/>
            <a:ext cx="2666628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정제된 실데이터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708106" y="1640830"/>
            <a:ext cx="921544" cy="144018"/>
          </a:xfrm>
          <a:prstGeom prst="rect">
            <a:avLst/>
          </a:prstGeom>
          <a:noFill/>
          <a:ln/>
        </p:spPr>
        <p:txBody>
          <a:bodyPr wrap="square" lIns="28575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↳ 폴백: </a:t>
            </a:r>
            <a:r>
              <a:rPr lang="en-US" sz="700" i="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generate_data</a:t>
            </a: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r>
              <a:rPr lang="en-US" sz="700" i="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</a:t>
            </a:r>
            <a:r>
              <a:rPr lang="en-US" sz="7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합성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91490" y="1895919"/>
            <a:ext cx="674370" cy="345286"/>
          </a:xfrm>
          <a:prstGeom prst="roundRect">
            <a:avLst>
              <a:gd name="adj" fmla="val 5517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21494" y="1908721"/>
            <a:ext cx="0" cy="319683"/>
          </a:xfrm>
          <a:prstGeom prst="line">
            <a:avLst/>
          </a:prstGeom>
          <a:noFill/>
          <a:ln w="14288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788" y="1951583"/>
            <a:ext cx="50006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5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5788" y="2067669"/>
            <a:ext cx="5000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예측 계층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218009" y="1914971"/>
            <a:ext cx="1712268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85875" y="1977591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src/ml/predict.py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85875" y="2074701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LR / RF / XGB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76711" y="2004268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074826" y="1914971"/>
            <a:ext cx="1712379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142692" y="1977591"/>
            <a:ext cx="1576648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src/dl/predict.py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42692" y="2074701"/>
            <a:ext cx="1576648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· .keras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33640" y="201141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802" y="1911400"/>
            <a:ext cx="1719411" cy="314325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967942" y="1898598"/>
            <a:ext cx="1765131" cy="339928"/>
          </a:xfrm>
          <a:prstGeom prst="roundRect">
            <a:avLst>
              <a:gd name="adj" fmla="val 22417"/>
            </a:avLst>
          </a:prstGeom>
          <a:noFill/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062240" y="1977591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src/predictor.py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062240" y="2074701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파사드로 통합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753076" y="201141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6887379" y="1898598"/>
            <a:ext cx="1765131" cy="339928"/>
          </a:xfrm>
          <a:prstGeom prst="roundRect">
            <a:avLst>
              <a:gd name="adj" fmla="val 22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6981676" y="1977591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contract.md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981676" y="2074701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스키마 반환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91490" y="2272752"/>
            <a:ext cx="674370" cy="345286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4"/>
          <p:cNvSpPr/>
          <p:nvPr/>
        </p:nvSpPr>
        <p:spPr>
          <a:xfrm>
            <a:off x="521494" y="2285554"/>
            <a:ext cx="0" cy="319683"/>
          </a:xfrm>
          <a:prstGeom prst="line">
            <a:avLst/>
          </a:prstGeom>
          <a:noFill/>
          <a:ln w="14288">
            <a:solidFill>
              <a:srgbClr val="0F172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85788" y="2328416"/>
            <a:ext cx="50006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53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03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85788" y="2444502"/>
            <a:ext cx="5000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25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서비스 계층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191578" y="2275431"/>
            <a:ext cx="1765131" cy="339928"/>
          </a:xfrm>
          <a:prstGeom prst="roundRect">
            <a:avLst>
              <a:gd name="adj" fmla="val 22417"/>
            </a:avLst>
          </a:prstGeom>
          <a:solidFill>
            <a:srgbClr val="0F172A"/>
          </a:solidFill>
          <a:ln w="7144">
            <a:solidFill>
              <a:srgbClr val="0F172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1285875" y="2354424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src/predictor.py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285875" y="2451534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예측값 제공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2976711" y="23882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54" name="Text 51"/>
          <p:cNvSpPr/>
          <p:nvPr/>
        </p:nvSpPr>
        <p:spPr>
          <a:xfrm>
            <a:off x="3137446" y="2291804"/>
            <a:ext cx="1712379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3205311" y="2354424"/>
            <a:ext cx="1576648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src/briefing.py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3205311" y="2451534"/>
            <a:ext cx="1576648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브리핑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4896259" y="2381101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4967942" y="2275431"/>
            <a:ext cx="1765131" cy="339928"/>
          </a:xfrm>
          <a:prstGeom prst="roundRect">
            <a:avLst>
              <a:gd name="adj" fmla="val 2241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5062240" y="2354424"/>
            <a:ext cx="1576536" cy="131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5062240" y="2451534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Streamlit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753076" y="238824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64748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62" name="Text 59"/>
          <p:cNvSpPr/>
          <p:nvPr/>
        </p:nvSpPr>
        <p:spPr>
          <a:xfrm>
            <a:off x="6913811" y="2291804"/>
            <a:ext cx="1712268" cy="307181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6981676" y="2354424"/>
            <a:ext cx="1671129" cy="13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9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src/discord_chat_bot.py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6981676" y="2451534"/>
            <a:ext cx="1576536" cy="1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15+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인텐트 분류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514350" y="2690961"/>
            <a:ext cx="18133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7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INVENTORY · 4 TRACKS × 5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2279079" y="2743646"/>
            <a:ext cx="6350571" cy="7144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350" y="2860625"/>
          <a:ext cx="8101012" cy="1424469"/>
        </p:xfrm>
        <a:graphic>
          <a:graphicData uri="http://schemas.openxmlformats.org/drawingml/2006/table">
            <a:tbl>
              <a:tblPr/>
              <a:tblGrid>
                <a:gridCol w="2025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5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5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5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Track AML / DL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Track BRAG / LLM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Infra인프라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Test테스트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006" marR="71438" marT="71438" marB="50006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import_kma / generate_data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rag.py (Chroma+TF-IDF)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app.py (Streamlit)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test_predict.py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eda.py / train.py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llm.py (Ollama EXAONE)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discord_bot.py (웹훅)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test_dl_predict.py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ml/predict.py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briefing.py (브리핑)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discord_chat_bot.py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(self-check)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dl/predict.py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traffic.py (TMAP/ODsay)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seed_feedback.py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predictor.py __main__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dl/sequences.py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feedback.py (체감 학습)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predictor.py (파사드)</a:t>
                      </a:r>
                      <a:endParaRPr lang="en-US" sz="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71438" marT="71438" marB="42863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" name="Text 64"/>
          <p:cNvSpPr/>
          <p:nvPr/>
        </p:nvSpPr>
        <p:spPr>
          <a:xfrm>
            <a:off x="514350" y="4338935"/>
            <a:ext cx="8115300" cy="260747"/>
          </a:xfrm>
          <a:prstGeom prst="roundRect">
            <a:avLst>
              <a:gd name="adj" fmla="val 292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65"/>
          <p:cNvSpPr/>
          <p:nvPr/>
        </p:nvSpPr>
        <p:spPr>
          <a:xfrm>
            <a:off x="514350" y="4342507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626078" y="4338935"/>
            <a:ext cx="0" cy="26074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514350" y="4596110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525066" y="4338935"/>
            <a:ext cx="0" cy="260747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635794" y="441215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74" name="Text 70"/>
          <p:cNvSpPr/>
          <p:nvPr/>
        </p:nvSpPr>
        <p:spPr>
          <a:xfrm>
            <a:off x="807244" y="4417516"/>
            <a:ext cx="639254" cy="107156"/>
          </a:xfrm>
          <a:prstGeom prst="roundRect">
            <a:avLst>
              <a:gd name="adj" fmla="val 355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1"/>
          <p:cNvSpPr/>
          <p:nvPr/>
        </p:nvSpPr>
        <p:spPr>
          <a:xfrm>
            <a:off x="3911092" y="4417516"/>
            <a:ext cx="828452" cy="107156"/>
          </a:xfrm>
          <a:prstGeom prst="roundRect">
            <a:avLst>
              <a:gd name="adj" fmla="val 355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2"/>
          <p:cNvSpPr/>
          <p:nvPr/>
        </p:nvSpPr>
        <p:spPr>
          <a:xfrm>
            <a:off x="807244" y="4403229"/>
            <a:ext cx="77152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7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predictor.py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결합도 분리 핵심 —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는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내부 로직을 몰라도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get_prediction()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한 번으로 예측값 획득.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CODE REVIEW 1/3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/ 24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832979" cy="231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11"/>
              </a:lnSpc>
              <a:buNone/>
            </a:pPr>
            <a:r>
              <a:rPr lang="en-US" sz="1575" b="1" kern="0" spc="-1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코드 리뷰 ① — </a:t>
            </a:r>
            <a:r>
              <a:rPr lang="en-US" sz="1575" b="1" kern="0" spc="-1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1575" b="1" kern="0" spc="-1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575" b="1" kern="0" spc="-1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1575" b="1" kern="0" spc="-1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예측 모듈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130052"/>
            <a:ext cx="365045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두 축 — </a:t>
            </a: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scikit-learn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회귀/분류 파이프라인과 </a:t>
            </a: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Keras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시계열 변환의 핵심 설계 포인트.</a:t>
            </a:r>
            <a:endParaRPr lang="en-US" sz="703" dirty="0"/>
          </a:p>
        </p:txBody>
      </p:sp>
      <p:sp>
        <p:nvSpPr>
          <p:cNvPr id="7" name="Text 5"/>
          <p:cNvSpPr/>
          <p:nvPr/>
        </p:nvSpPr>
        <p:spPr>
          <a:xfrm>
            <a:off x="7136606" y="1080046"/>
            <a:ext cx="1493044" cy="175022"/>
          </a:xfrm>
          <a:prstGeom prst="roundRect">
            <a:avLst>
              <a:gd name="adj" fmla="val 543673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43775" y="1115764"/>
            <a:ext cx="1285875" cy="12967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MODULES · 6 CODE 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08044" y="112112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7922" y="1344364"/>
            <a:ext cx="3918347" cy="333524"/>
          </a:xfrm>
          <a:prstGeom prst="roundRect">
            <a:avLst>
              <a:gd name="adj" fmla="val 228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0791" y="1414686"/>
            <a:ext cx="192881" cy="192881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364" y="142825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78681" y="1405086"/>
            <a:ext cx="291048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800" kern="0" spc="-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src/ml/predict.py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78681" y="1515033"/>
            <a:ext cx="2771887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 → 피처엔지니어링 →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종 모델 학습/비교 → 예측, 전부 포함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99145" y="1438117"/>
            <a:ext cx="670687" cy="146018"/>
          </a:xfrm>
          <a:prstGeom prst="roundRect">
            <a:avLst>
              <a:gd name="adj" fmla="val 2609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22005" y="1445940"/>
            <a:ext cx="6249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A · ML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1749326"/>
            <a:ext cx="3918347" cy="846200"/>
          </a:xfrm>
          <a:prstGeom prst="roundRect">
            <a:avLst>
              <a:gd name="adj" fmla="val 900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4461" y="1816774"/>
            <a:ext cx="614447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8669" y="1838623"/>
            <a:ext cx="34033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 분할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64369" y="184442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4110447" y="1833711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7219" y="1993218"/>
            <a:ext cx="2134530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7219" y="1978930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train_test_split(test_size=0.2, shuffle=False)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시간순 앞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80%/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뒤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분리로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미래 데이터 누수 방지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랜덤 셔플 시 시계열에 부적절.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17922" y="2666963"/>
            <a:ext cx="3918347" cy="846311"/>
          </a:xfrm>
          <a:prstGeom prst="roundRect">
            <a:avLst>
              <a:gd name="adj" fmla="val 90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4359" y="2734411"/>
            <a:ext cx="970724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78669" y="2756260"/>
            <a:ext cx="696404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배포 모델 = 전체 재학습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64369" y="276206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4110447" y="2751348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706" y="2910855"/>
            <a:ext cx="237865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238115" y="2910855"/>
            <a:ext cx="508769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7219" y="2896567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평가는 분리된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로, 배포는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모델 종류로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train+test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다시 합쳐 재학습.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평가와 배포가 다른 데이터를 쓰는 의도적 설계.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17922" y="3584711"/>
            <a:ext cx="3918347" cy="846200"/>
          </a:xfrm>
          <a:prstGeom prst="roundRect">
            <a:avLst>
              <a:gd name="adj" fmla="val 900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4359" y="3652160"/>
            <a:ext cx="761211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78669" y="3674008"/>
            <a:ext cx="48689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contract</a:t>
            </a: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준수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4369" y="367981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4110447" y="3669097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7219" y="3828604"/>
            <a:ext cx="870086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734480" y="3828604"/>
            <a:ext cx="2089435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866778" y="3828604"/>
            <a:ext cx="328166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7219" y="3814316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predict_tomorrow()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반환 =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{date, temp_max, temp_min, rain_prob, source}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는 최고 회귀 모델명 소문자 —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모델 종류를 알 수 있음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68428" y="1340793"/>
            <a:ext cx="7144" cy="309369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07731" y="1344364"/>
            <a:ext cx="3918347" cy="333524"/>
          </a:xfrm>
          <a:prstGeom prst="roundRect">
            <a:avLst>
              <a:gd name="adj" fmla="val 228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00600" y="1414686"/>
            <a:ext cx="192881" cy="192881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14173" y="142825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5068491" y="1405086"/>
            <a:ext cx="299363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800" kern="0" spc="-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src/dl/{sequences,predict}.py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68491" y="1515033"/>
            <a:ext cx="2771887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시계열 변환 — 슬라이딩 윈도우 생성 + 정규화 + 멀티헤드 출력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888955" y="1438117"/>
            <a:ext cx="670687" cy="146018"/>
          </a:xfrm>
          <a:prstGeom prst="roundRect">
            <a:avLst>
              <a:gd name="adj" fmla="val 2609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911815" y="1445940"/>
            <a:ext cx="62496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A · DL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07731" y="1749326"/>
            <a:ext cx="3918347" cy="846200"/>
          </a:xfrm>
          <a:prstGeom prst="roundRect">
            <a:avLst>
              <a:gd name="adj" fmla="val 900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774168" y="1816774"/>
            <a:ext cx="744691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68478" y="1838623"/>
            <a:ext cx="47037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슬라이딩 윈도우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854178" y="184442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844" dirty="0"/>
          </a:p>
        </p:txBody>
      </p:sp>
      <p:sp>
        <p:nvSpPr>
          <p:cNvPr id="53" name="Text 51"/>
          <p:cNvSpPr/>
          <p:nvPr/>
        </p:nvSpPr>
        <p:spPr>
          <a:xfrm>
            <a:off x="8300256" y="1833711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97028" y="1993218"/>
            <a:ext cx="46367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925196" y="1993218"/>
            <a:ext cx="46367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797028" y="1978930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SEQ_LEN=7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최근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일을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그 다음날을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묶어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차원 텐서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(N, 7, 7)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생성.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시계열을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supervised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learning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형태로 변환.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704159" y="2663391"/>
            <a:ext cx="3925491" cy="853455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4704159" y="2666963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26078" y="2663391"/>
            <a:ext cx="0" cy="85345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04159" y="3513274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14875" y="2663391"/>
            <a:ext cx="0" cy="85345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11316" y="2741972"/>
            <a:ext cx="1487016" cy="126020"/>
          </a:xfrm>
          <a:prstGeom prst="roundRect">
            <a:avLst>
              <a:gd name="adj" fmla="val 3023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982766" y="2756260"/>
            <a:ext cx="3005175" cy="118872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t"/>
          <a:lstStyle/>
          <a:p>
            <a:pPr marL="0" indent="0" algn="l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정규화 = 전체 </a:t>
            </a:r>
            <a:r>
              <a:rPr lang="en-US" sz="700" kern="0" spc="6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</a:t>
            </a:r>
            <a:r>
              <a:rPr lang="en-US" sz="700" kern="0" spc="6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</a:t>
            </a:r>
            <a:r>
              <a:rPr lang="en-US" sz="700" kern="0" spc="6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r>
              <a:rPr lang="en-US" sz="700" kern="0" spc="6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kern="0" spc="6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leakage</a:t>
            </a:r>
            <a:r>
              <a:rPr lang="en-US" sz="700" kern="0" spc="6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감수)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868466" y="276206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44" dirty="0"/>
          </a:p>
        </p:txBody>
      </p:sp>
      <p:sp>
        <p:nvSpPr>
          <p:cNvPr id="65" name="Text 63"/>
          <p:cNvSpPr/>
          <p:nvPr/>
        </p:nvSpPr>
        <p:spPr>
          <a:xfrm>
            <a:off x="8016515" y="2751348"/>
            <a:ext cx="5202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 · KEY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811316" y="2910855"/>
            <a:ext cx="599070" cy="85725"/>
          </a:xfrm>
          <a:prstGeom prst="roundRect">
            <a:avLst>
              <a:gd name="adj" fmla="val 3333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811316" y="2896567"/>
            <a:ext cx="372546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MinMaxScaler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를 전체 데이터에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914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행 데이터에 약한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leakage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감수.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ponytail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주석: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데이터 대폭 늘면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만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fit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하도록 분리해야 한다고 명시 (알려진 한계 + 업그레이드 조건 기록).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707731" y="3584711"/>
            <a:ext cx="3918347" cy="846200"/>
          </a:xfrm>
          <a:prstGeom prst="roundRect">
            <a:avLst>
              <a:gd name="adj" fmla="val 9005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774271" y="3652160"/>
            <a:ext cx="614447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968478" y="3674008"/>
            <a:ext cx="34033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재학습 폴백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854178" y="367981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844" dirty="0"/>
          </a:p>
        </p:txBody>
      </p:sp>
      <p:sp>
        <p:nvSpPr>
          <p:cNvPr id="72" name="Text 70"/>
          <p:cNvSpPr/>
          <p:nvPr/>
        </p:nvSpPr>
        <p:spPr>
          <a:xfrm>
            <a:off x="8300256" y="3669097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4797028" y="3828604"/>
            <a:ext cx="508769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797028" y="3814316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try/except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모델 로드 실패 시 그 자리에서 재학습 —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Keras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버전 불일치로 저장/로드 호환 깨지는 문제 구조적 회피.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14350" y="4505920"/>
            <a:ext cx="8115300" cy="237530"/>
          </a:xfrm>
          <a:prstGeom prst="roundRect">
            <a:avLst>
              <a:gd name="adj" fmla="val 2406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514350" y="450949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26078" y="4505920"/>
            <a:ext cx="0" cy="23753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14350" y="4739878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25066" y="4505920"/>
            <a:ext cx="0" cy="237530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506" y="457467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81" name="Text 79"/>
          <p:cNvSpPr/>
          <p:nvPr/>
        </p:nvSpPr>
        <p:spPr>
          <a:xfrm>
            <a:off x="1321594" y="4577358"/>
            <a:ext cx="65856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2101602" y="4577358"/>
            <a:ext cx="88437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3107420" y="4577358"/>
            <a:ext cx="34245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3471304" y="4577358"/>
            <a:ext cx="613358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778669" y="4563070"/>
            <a:ext cx="7758113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공통 인터페이스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load_models()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predict_tomorrow()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predictor.py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두 트랙을 동일 코드로 다룰 수 있음.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CODE REVIEW 2/3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 / 24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660458" cy="231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11"/>
              </a:lnSpc>
              <a:buNone/>
            </a:pPr>
            <a:r>
              <a:rPr lang="en-US" sz="1575" b="1" kern="0" spc="-1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코드 리뷰 ② — </a:t>
            </a:r>
            <a:r>
              <a:rPr lang="en-US" sz="1575" b="1" kern="0" spc="-1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1575" b="1" kern="0" spc="-1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</a:t>
            </a:r>
            <a:r>
              <a:rPr lang="en-US" sz="1575" b="1" kern="0" spc="-16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1575" b="1" kern="0" spc="-1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브리핑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130052"/>
            <a:ext cx="3486150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검색 + 로컬 </a:t>
            </a: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호출, 그리고 두 축을 결합해 근거 인용 브리핑을 만드는 파이프라인.</a:t>
            </a:r>
            <a:endParaRPr lang="en-US" sz="703" dirty="0"/>
          </a:p>
        </p:txBody>
      </p:sp>
      <p:sp>
        <p:nvSpPr>
          <p:cNvPr id="7" name="Text 5"/>
          <p:cNvSpPr/>
          <p:nvPr/>
        </p:nvSpPr>
        <p:spPr>
          <a:xfrm>
            <a:off x="7136606" y="1080046"/>
            <a:ext cx="1493044" cy="175022"/>
          </a:xfrm>
          <a:prstGeom prst="roundRect">
            <a:avLst>
              <a:gd name="adj" fmla="val 543673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43775" y="1115764"/>
            <a:ext cx="1285875" cy="12967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MODULES · 7 CODE 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08044" y="112112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7922" y="1344364"/>
            <a:ext cx="3918347" cy="435657"/>
          </a:xfrm>
          <a:prstGeom prst="roundRect">
            <a:avLst>
              <a:gd name="adj" fmla="val 1749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0791" y="1465697"/>
            <a:ext cx="192881" cy="192881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364" y="147927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78681" y="1405086"/>
            <a:ext cx="258020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800" kern="0" spc="-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src/{rag,llm}.py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78681" y="1515033"/>
            <a:ext cx="2457338" cy="20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검색 + 로컬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호출 —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Chroma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교체,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Ollama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EXAONE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7.8B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84597" y="1489128"/>
            <a:ext cx="985235" cy="146018"/>
          </a:xfrm>
          <a:prstGeom prst="roundRect">
            <a:avLst>
              <a:gd name="adj" fmla="val 2609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07457" y="1496950"/>
            <a:ext cx="93951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B · RETRIEVAL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4350" y="1840743"/>
            <a:ext cx="3925491" cy="826443"/>
          </a:xfrm>
          <a:prstGeom prst="roundRect">
            <a:avLst>
              <a:gd name="adj" fmla="val 922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14350" y="1844315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6269" y="1840743"/>
            <a:ext cx="0" cy="82644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350" y="2663614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066" y="1840743"/>
            <a:ext cx="0" cy="826443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503" y="1904620"/>
            <a:ext cx="891361" cy="141143"/>
          </a:xfrm>
          <a:prstGeom prst="roundRect">
            <a:avLst>
              <a:gd name="adj" fmla="val 2699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5813" y="1926468"/>
            <a:ext cx="61704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r>
              <a:rPr lang="en-US" sz="700" kern="0" spc="6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임베딩 교체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1513" y="193227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3833850" y="1921557"/>
            <a:ext cx="5202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 · KEY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35881" y="2081064"/>
            <a:ext cx="229270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472407" y="2081064"/>
            <a:ext cx="1046448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4363" y="2066776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Chroma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기본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ONNX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79MB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다운로드 반복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timeout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TfidfVectorizer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교체. 문서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개라 매 검색마다 컬렉션 재구축해도 즉시 처리. </a:t>
            </a: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ponytail: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지식베이스 커지면 실제 임베딩 모델로 교체 필요 명시.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17922" y="2727908"/>
            <a:ext cx="3918347" cy="819410"/>
          </a:xfrm>
          <a:prstGeom prst="roundRect">
            <a:avLst>
              <a:gd name="adj" fmla="val 929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7215" y="2788212"/>
            <a:ext cx="694685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71525" y="2810061"/>
            <a:ext cx="42036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매 호출 재구축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57225" y="281586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4117591" y="2805150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0075" y="2964656"/>
            <a:ext cx="788380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0075" y="2950369"/>
            <a:ext cx="375404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delete_collection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후 재생성 — 문서가 바뀌어도 항상 최신 상태 유지. 단, 검색마다 재구축 비용 발생 (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문서 수 적어 감수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17922" y="3611612"/>
            <a:ext cx="3918347" cy="819299"/>
          </a:xfrm>
          <a:prstGeom prst="roundRect">
            <a:avLst>
              <a:gd name="adj" fmla="val 930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7215" y="3671917"/>
            <a:ext cx="1022181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71525" y="3693765"/>
            <a:ext cx="74786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temperature</a:t>
            </a: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r>
              <a:rPr lang="en-US" sz="700" kern="0" spc="6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분류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57225" y="369957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40" name="Text 38"/>
          <p:cNvSpPr/>
          <p:nvPr/>
        </p:nvSpPr>
        <p:spPr>
          <a:xfrm>
            <a:off x="4117591" y="3688854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793081" y="3848360"/>
            <a:ext cx="61637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280990" y="3848360"/>
            <a:ext cx="659346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00075" y="3834073"/>
            <a:ext cx="375404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Ollama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EXAONE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7.8B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분류는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temperature=0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(결정적), 생성은 기본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0.7.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keep_alive=30m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재로딩(수십 초 지연) 방지.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실험 근거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docstring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에 명시.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68428" y="1340793"/>
            <a:ext cx="7144" cy="309369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07731" y="1344364"/>
            <a:ext cx="3918347" cy="333524"/>
          </a:xfrm>
          <a:prstGeom prst="roundRect">
            <a:avLst>
              <a:gd name="adj" fmla="val 228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00600" y="1414686"/>
            <a:ext cx="192881" cy="192881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14173" y="142825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5068491" y="1405086"/>
            <a:ext cx="276901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800" kern="0" spc="-7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src/briefing.py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68491" y="1515033"/>
            <a:ext cx="2637160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4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결합 브리핑 — 결정적 검색어 + 근거 인용 강제 + 개인화 주입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754228" y="1438117"/>
            <a:ext cx="805413" cy="146018"/>
          </a:xfrm>
          <a:prstGeom prst="roundRect">
            <a:avLst>
              <a:gd name="adj" fmla="val 2609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777088" y="1445940"/>
            <a:ext cx="75969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B · BRIEF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07731" y="1742182"/>
            <a:ext cx="3918347" cy="623962"/>
          </a:xfrm>
          <a:prstGeom prst="roundRect">
            <a:avLst>
              <a:gd name="adj" fmla="val 122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67024" y="1802486"/>
            <a:ext cx="824835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961334" y="1824335"/>
            <a:ext cx="550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결정적 검색어 구성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847034" y="183013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44" dirty="0"/>
          </a:p>
        </p:txBody>
      </p:sp>
      <p:sp>
        <p:nvSpPr>
          <p:cNvPr id="56" name="Text 54"/>
          <p:cNvSpPr/>
          <p:nvPr/>
        </p:nvSpPr>
        <p:spPr>
          <a:xfrm>
            <a:off x="8307400" y="1819424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89884" y="1978930"/>
            <a:ext cx="659346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570674" y="1978930"/>
            <a:ext cx="61637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701396" y="1978930"/>
            <a:ext cx="214647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789884" y="1964643"/>
            <a:ext cx="375404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_build_query()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rain_prob≥0.4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면 우산, 일교차 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도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면 옷차림 등 규칙 기반 검색어.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에게 자유 질의 맡기지 않아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검색 결과 일관성/설명가능성 확보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704159" y="2426866"/>
            <a:ext cx="3925491" cy="631106"/>
          </a:xfrm>
          <a:prstGeom prst="roundRect">
            <a:avLst>
              <a:gd name="adj" fmla="val 120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4704159" y="2430438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26078" y="2426866"/>
            <a:ext cx="0" cy="63110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4159" y="3054400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14875" y="2426866"/>
            <a:ext cx="0" cy="631106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81312" y="2490742"/>
            <a:ext cx="694685" cy="141143"/>
          </a:xfrm>
          <a:prstGeom prst="roundRect">
            <a:avLst>
              <a:gd name="adj" fmla="val 2699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975622" y="2512591"/>
            <a:ext cx="42036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근거 인용 강제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861322" y="251839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844" dirty="0"/>
          </a:p>
        </p:txBody>
      </p:sp>
      <p:sp>
        <p:nvSpPr>
          <p:cNvPr id="69" name="Text 67"/>
          <p:cNvSpPr/>
          <p:nvPr/>
        </p:nvSpPr>
        <p:spPr>
          <a:xfrm>
            <a:off x="8023659" y="2507679"/>
            <a:ext cx="5202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 · KEY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582841" y="2667186"/>
            <a:ext cx="357522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754875" y="2667186"/>
            <a:ext cx="444252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4804172" y="2652899"/>
            <a:ext cx="373975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프롬프트에 근거 문서를 </a:t>
            </a: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[문서명]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표시하도록 지시 —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의 확인 가능성 요구 충족.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의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브리핑은 컷 금지 항목.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4707731" y="3118693"/>
            <a:ext cx="3918347" cy="623962"/>
          </a:xfrm>
          <a:prstGeom prst="roundRect">
            <a:avLst>
              <a:gd name="adj" fmla="val 122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767024" y="3178998"/>
            <a:ext cx="775499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4961334" y="3200846"/>
            <a:ext cx="50117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니치 = 검색 안 함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847034" y="320665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44" dirty="0"/>
          </a:p>
        </p:txBody>
      </p:sp>
      <p:sp>
        <p:nvSpPr>
          <p:cNvPr id="77" name="Text 75"/>
          <p:cNvSpPr/>
          <p:nvPr/>
        </p:nvSpPr>
        <p:spPr>
          <a:xfrm>
            <a:off x="8307400" y="3195935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789884" y="3355442"/>
            <a:ext cx="1132396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4789884" y="3341154"/>
            <a:ext cx="375404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generate_niche_briefing()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자전거 니치는 검색 없이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1:1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문서 직접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(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결정적 매핑이라 검색 불필요, (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일반 풀과 섞이면 오염 방지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707731" y="3806949"/>
            <a:ext cx="3918347" cy="623962"/>
          </a:xfrm>
          <a:prstGeom prst="roundRect">
            <a:avLst>
              <a:gd name="adj" fmla="val 1221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4767127" y="3867253"/>
            <a:ext cx="614447" cy="141143"/>
          </a:xfrm>
          <a:prstGeom prst="roundRect">
            <a:avLst>
              <a:gd name="adj" fmla="val 2699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4961334" y="3889102"/>
            <a:ext cx="34033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68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개인화 주입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847034" y="389490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844" dirty="0"/>
          </a:p>
        </p:txBody>
      </p:sp>
      <p:sp>
        <p:nvSpPr>
          <p:cNvPr id="84" name="Text 82"/>
          <p:cNvSpPr/>
          <p:nvPr/>
        </p:nvSpPr>
        <p:spPr>
          <a:xfrm>
            <a:off x="8307400" y="3884191"/>
            <a:ext cx="2365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3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04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789884" y="4043697"/>
            <a:ext cx="702320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4789884" y="4029410"/>
            <a:ext cx="375404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personal_offset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(체감 보정치)를 프롬프트에 추가 —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사용자는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°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더 춥게/덥게 느낀다는 문장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옷차림 조언에 반영.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514350" y="4505920"/>
            <a:ext cx="8115300" cy="237530"/>
          </a:xfrm>
          <a:prstGeom prst="roundRect">
            <a:avLst>
              <a:gd name="adj" fmla="val 2406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Shape 86"/>
          <p:cNvSpPr/>
          <p:nvPr/>
        </p:nvSpPr>
        <p:spPr>
          <a:xfrm>
            <a:off x="514350" y="4509492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626078" y="4505920"/>
            <a:ext cx="0" cy="23753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14350" y="4739878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5066" y="4505920"/>
            <a:ext cx="0" cy="237530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506" y="457467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984" dirty="0"/>
          </a:p>
        </p:txBody>
      </p:sp>
      <p:sp>
        <p:nvSpPr>
          <p:cNvPr id="93" name="Text 91"/>
          <p:cNvSpPr/>
          <p:nvPr/>
        </p:nvSpPr>
        <p:spPr>
          <a:xfrm>
            <a:off x="1593056" y="4577358"/>
            <a:ext cx="523056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2409006" y="4577358"/>
            <a:ext cx="432755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778669" y="4563070"/>
            <a:ext cx="7758113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파이프라인 = 검색(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rag.search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+ 생성(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llm.chat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결합 — 근거 인용 프롬프트로 환각 최소화.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CODE REVIEW 3/3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 / 24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3345535" cy="2310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11"/>
              </a:lnSpc>
              <a:buNone/>
            </a:pPr>
            <a:r>
              <a:rPr lang="en-US" sz="1575" b="1" kern="0" spc="-1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코드 리뷰 ③ — 디스코드 봇 &amp; 피드백 학습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514350" y="1130052"/>
            <a:ext cx="3186224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메인 실행 앱과 보조 모듈 — </a:t>
            </a: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UX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지연 최소화 전략과 체감 학습의 의도적 단순화.</a:t>
            </a:r>
            <a:endParaRPr lang="en-US" sz="703" dirty="0"/>
          </a:p>
        </p:txBody>
      </p:sp>
      <p:sp>
        <p:nvSpPr>
          <p:cNvPr id="7" name="Text 5"/>
          <p:cNvSpPr/>
          <p:nvPr/>
        </p:nvSpPr>
        <p:spPr>
          <a:xfrm>
            <a:off x="7136606" y="1080046"/>
            <a:ext cx="1493044" cy="175022"/>
          </a:xfrm>
          <a:prstGeom prst="roundRect">
            <a:avLst>
              <a:gd name="adj" fmla="val 543673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43775" y="1115764"/>
            <a:ext cx="1285875" cy="12967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MODULES · 8 CODE 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208044" y="112112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7922" y="1344364"/>
            <a:ext cx="3918347" cy="310307"/>
          </a:xfrm>
          <a:prstGeom prst="roundRect">
            <a:avLst>
              <a:gd name="adj" fmla="val 2455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3647" y="1410221"/>
            <a:ext cx="178594" cy="17859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5255" y="1421829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55" dirty="0"/>
          </a:p>
        </p:txBody>
      </p:sp>
      <p:sp>
        <p:nvSpPr>
          <p:cNvPr id="13" name="Text 11"/>
          <p:cNvSpPr/>
          <p:nvPr/>
        </p:nvSpPr>
        <p:spPr>
          <a:xfrm>
            <a:off x="850106" y="1397943"/>
            <a:ext cx="316252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776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src/discord_chat_bot.py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0106" y="1503648"/>
            <a:ext cx="2928268" cy="97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메인 실행 앱 —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분류 + 프리페치 캐싱 + 버튼 절약 +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defer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패턴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22210" y="1429509"/>
            <a:ext cx="552364" cy="140018"/>
          </a:xfrm>
          <a:prstGeom prst="roundRect">
            <a:avLst>
              <a:gd name="adj" fmla="val 2721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42668" y="1437010"/>
            <a:ext cx="511448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· BOT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4350" y="1708249"/>
            <a:ext cx="3925491" cy="649412"/>
          </a:xfrm>
          <a:prstGeom prst="roundRect">
            <a:avLst>
              <a:gd name="adj" fmla="val 102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14350" y="1711821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6269" y="1708249"/>
            <a:ext cx="0" cy="64941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350" y="2354089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066" y="1708249"/>
            <a:ext cx="0" cy="649412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4359" y="1758113"/>
            <a:ext cx="738664" cy="136017"/>
          </a:xfrm>
          <a:prstGeom prst="roundRect">
            <a:avLst>
              <a:gd name="adj" fmla="val 2801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4381" y="1779687"/>
            <a:ext cx="4857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31"/>
              </a:lnSpc>
              <a:buNone/>
            </a:pPr>
            <a:r>
              <a:rPr lang="en-US" sz="700" kern="0" spc="6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700" kern="0" spc="6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의도 분류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57225" y="178683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67001" y="1775222"/>
            <a:ext cx="4942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 · KEY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7219" y="1922562"/>
            <a:ext cx="792621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00040" y="1922562"/>
            <a:ext cx="394134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58493" y="1922562"/>
            <a:ext cx="588355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7219" y="1908274"/>
            <a:ext cx="3754041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classify_message()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키워드 매칭 아님. 로컬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EXAONE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자연어 전체를 </a:t>
            </a: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r>
              <a:rPr lang="en-US" sz="7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개 라벨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분류 (</a:t>
            </a: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temperature=0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).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는 최우선 규칙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SCHEDULE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은 매일 없어도 시각+알림이면 분류.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17922" y="2411239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70071" y="2457530"/>
            <a:ext cx="868702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50094" y="2479104"/>
            <a:ext cx="61581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31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정각 </a:t>
            </a:r>
            <a:r>
              <a:rPr lang="en-US" sz="700" kern="0" spc="6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분 전 프리페치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42938" y="248624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36566" y="2474640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2931" y="2621979"/>
            <a:ext cx="62920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065227" y="2621979"/>
            <a:ext cx="29211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00088" y="2730698"/>
            <a:ext cx="87432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92931" y="2607692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PREP_MINUTES=3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정각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분 전에 미리 브리핑 생성해 캐시. 정각에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호출(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초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지연을 발송 시점에서 숨기는 전략.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_settings_snapshot()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으로 설정 변경 시 캐시 무효화.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7922" y="3110657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0071" y="3156948"/>
            <a:ext cx="905872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50094" y="3178522"/>
            <a:ext cx="65298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31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버튼 = </a:t>
            </a:r>
            <a:r>
              <a:rPr lang="en-US" sz="700" kern="0" spc="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호출 절약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2938" y="318566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136566" y="3174057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2931" y="3321397"/>
            <a:ext cx="1078706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000375" y="3321397"/>
            <a:ext cx="46579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000125" y="3430116"/>
            <a:ext cx="547501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747651" y="3430116"/>
            <a:ext cx="42494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92931" y="3307110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SettingsView/FeedbackView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선택지 정해진 기능(니치 토글, 피드백)은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discord.ui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버튼으로 딸깍 처리.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분류 호출 안 함.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timeout=None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+고정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custom_id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재시작 후에도 버튼 동작.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17922" y="3810074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70125" y="3856366"/>
            <a:ext cx="615773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50094" y="3877940"/>
            <a:ext cx="36299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31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defer</a:t>
            </a: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패턴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42938" y="388508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⧗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136566" y="3873475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2931" y="4020815"/>
            <a:ext cx="46579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173026" y="4020815"/>
            <a:ext cx="34323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623542" y="4020815"/>
            <a:ext cx="17982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874801" y="4020815"/>
            <a:ext cx="34323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625230" y="4020815"/>
            <a:ext cx="670061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92931" y="4006528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clear_chat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purge()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초 넘게 걸리면 인터랙션 토큰 만료(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404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).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먼저 호출 후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followup.send()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응답 —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긴 작업의 디스코드 표준 패턴.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568428" y="1340793"/>
            <a:ext cx="7144" cy="3115121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707731" y="1344364"/>
            <a:ext cx="3918347" cy="310307"/>
          </a:xfrm>
          <a:prstGeom prst="roundRect">
            <a:avLst>
              <a:gd name="adj" fmla="val 2455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793456" y="1410221"/>
            <a:ext cx="178594" cy="178594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805065" y="1421829"/>
            <a:ext cx="1553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055" dirty="0"/>
          </a:p>
        </p:txBody>
      </p:sp>
      <p:sp>
        <p:nvSpPr>
          <p:cNvPr id="64" name="Text 62"/>
          <p:cNvSpPr/>
          <p:nvPr/>
        </p:nvSpPr>
        <p:spPr>
          <a:xfrm>
            <a:off x="5039916" y="1397943"/>
            <a:ext cx="297868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776"/>
              </a:lnSpc>
              <a:buNone/>
            </a:pPr>
            <a:r>
              <a:rPr lang="en-US" sz="800" kern="0" spc="-6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src/{feedback,traffic}.py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039916" y="1503648"/>
            <a:ext cx="2758046" cy="97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68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체감 학습 + 교통 — 라벨 평균 보정과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geocode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통일, 명시적 실패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7839395" y="1429509"/>
            <a:ext cx="727390" cy="140018"/>
          </a:xfrm>
          <a:prstGeom prst="roundRect">
            <a:avLst>
              <a:gd name="adj" fmla="val 2721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862255" y="1437010"/>
            <a:ext cx="681670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kern="0" spc="3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· DATA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704159" y="1708249"/>
            <a:ext cx="3925491" cy="649412"/>
          </a:xfrm>
          <a:prstGeom prst="roundRect">
            <a:avLst>
              <a:gd name="adj" fmla="val 102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4704159" y="1711821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26078" y="1708249"/>
            <a:ext cx="0" cy="64941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04159" y="2354089"/>
            <a:ext cx="3925491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14875" y="1708249"/>
            <a:ext cx="0" cy="649412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74168" y="1758113"/>
            <a:ext cx="942261" cy="136017"/>
          </a:xfrm>
          <a:prstGeom prst="roundRect">
            <a:avLst>
              <a:gd name="adj" fmla="val 2801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954191" y="1779687"/>
            <a:ext cx="68937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31"/>
              </a:lnSpc>
              <a:buNone/>
            </a:pPr>
            <a:r>
              <a:rPr lang="en-US" sz="700" kern="0" spc="6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라벨 평균 보정 (회귀 </a:t>
            </a:r>
            <a:r>
              <a:rPr lang="en-US" sz="700" kern="0" spc="6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r>
              <a:rPr lang="en-US" sz="700" kern="0" spc="6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847034" y="178683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056811" y="1775222"/>
            <a:ext cx="4942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01 · KEY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797028" y="1922562"/>
            <a:ext cx="915181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5826509" y="1922562"/>
            <a:ext cx="1323826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8121886" y="1922562"/>
            <a:ext cx="220675" cy="78581"/>
          </a:xfrm>
          <a:prstGeom prst="roundRect">
            <a:avLst>
              <a:gd name="adj" fmla="val 36364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4797028" y="1908274"/>
            <a:ext cx="3754041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get_personal_offset()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</a:t>
            </a: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cold=+2.5°C, good=0, hot=-2.5°C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라벨별 평균. 표본 </a:t>
            </a:r>
            <a:r>
              <a:rPr lang="en-US" sz="700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미만이면 </a:t>
            </a:r>
            <a:r>
              <a:rPr lang="en-US" sz="800" dirty="0">
                <a:solidFill>
                  <a:srgbClr val="0E7490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(중립).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회귀 모델 대신 단순 평균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표본 적으면 회귀 과적합으로 신뢰성 저하 (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ponytail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판단).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707731" y="2411239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4759881" y="2457530"/>
            <a:ext cx="986574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4939903" y="2479104"/>
            <a:ext cx="73368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31"/>
              </a:lnSpc>
              <a:buNone/>
            </a:pPr>
            <a:r>
              <a:rPr lang="en-US" sz="800" kern="0" spc="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save_last_weather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832747" y="248624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326375" y="2474640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02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633097" y="2621979"/>
            <a:ext cx="75176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4782741" y="2730698"/>
            <a:ext cx="26152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4782741" y="2607692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피드백 버튼 눌렸을 때 그날 날씨를 알아야 하므로 발송 시점마다 채널별 마지막 날씨 기록. 없으면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record_feedback()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반환 —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발송 이력 없는 채널의 모순 상태 방지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707731" y="3110657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4759881" y="3156948"/>
            <a:ext cx="745808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4939903" y="3178522"/>
            <a:ext cx="49291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31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geocode</a:t>
            </a: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통일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4832747" y="318566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8326375" y="3174057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03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782741" y="3321397"/>
            <a:ext cx="46579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5519998" y="3321397"/>
            <a:ext cx="22067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6076429" y="3321397"/>
            <a:ext cx="26152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6902314" y="3321397"/>
            <a:ext cx="424942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4782741" y="3307110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traffic.py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자차(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TMAP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)·대중교통(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ODsay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모두 좌표 필요해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geocode()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하나로 통일 재사용.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환경변수 없으면 즉시 </a:t>
            </a:r>
            <a:r>
              <a:rPr lang="en-US" sz="7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KeyError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 조용한 실패 방지.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4707731" y="3810074"/>
            <a:ext cx="3918347" cy="642268"/>
          </a:xfrm>
          <a:prstGeom prst="roundRect">
            <a:avLst>
              <a:gd name="adj" fmla="val 103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4760849" y="3856366"/>
            <a:ext cx="591060" cy="136017"/>
          </a:xfrm>
          <a:prstGeom prst="roundRect">
            <a:avLst>
              <a:gd name="adj" fmla="val 280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4939903" y="3877940"/>
            <a:ext cx="34010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31"/>
              </a:lnSpc>
              <a:buNone/>
            </a:pPr>
            <a:r>
              <a:rPr lang="en-US" sz="700" kern="0" spc="6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명시적 실패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4832747" y="388508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8326375" y="3873475"/>
            <a:ext cx="2246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32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CP 04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4782741" y="4020815"/>
            <a:ext cx="261528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5430031" y="4020815"/>
            <a:ext cx="1282750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7934362" y="4020815"/>
            <a:ext cx="220675" cy="78581"/>
          </a:xfrm>
          <a:prstGeom prst="roundRect">
            <a:avLst>
              <a:gd name="adj" fmla="val 3636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4782741" y="4006528"/>
            <a:ext cx="3768328" cy="278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9"/>
              </a:lnSpc>
              <a:buNone/>
            </a:pP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ODsay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경로 없으면 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minutes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None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error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:경로 없음}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반환 — 예외 대신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명시적 실패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 호출부가 </a:t>
            </a:r>
            <a:r>
              <a:rPr lang="en-US" sz="8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을 보고 안내 메시지로 분기.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4350" y="4520208"/>
            <a:ext cx="8115300" cy="223242"/>
          </a:xfrm>
          <a:prstGeom prst="roundRect">
            <a:avLst>
              <a:gd name="adj" fmla="val 256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Shape 107"/>
          <p:cNvSpPr/>
          <p:nvPr/>
        </p:nvSpPr>
        <p:spPr>
          <a:xfrm>
            <a:off x="514350" y="4523780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626078" y="4520208"/>
            <a:ext cx="0" cy="223242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14350" y="4739878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25066" y="4520208"/>
            <a:ext cx="0" cy="223242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21506" y="458182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8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114" name="Text 112"/>
          <p:cNvSpPr/>
          <p:nvPr/>
        </p:nvSpPr>
        <p:spPr>
          <a:xfrm>
            <a:off x="1443038" y="4584502"/>
            <a:ext cx="397594" cy="8572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778669" y="4570214"/>
            <a:ext cx="7758113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메인 앱 = 상시 루프(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700" dirty="0">
                <a:solidFill>
                  <a:srgbClr val="0E7490"/>
                </a:solidFill>
                <a:highlight>
                  <a:srgbClr val="F1F5F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초 주기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+ </a:t>
            </a:r>
            <a:r>
              <a:rPr lang="en-US" sz="700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분류 + 버튼 절약 + 프리페치 캐싱 — </a:t>
            </a:r>
            <a:r>
              <a:rPr lang="en-US" sz="7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사용자 경험 지연 최소화</a:t>
            </a:r>
            <a:r>
              <a:rPr lang="en-US" sz="7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핵심.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kern="0" spc="63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RETROSPECTIVE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/ 24 · Phase 3 LLM/RAG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71538"/>
            <a:ext cx="4418052" cy="2476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41"/>
              </a:lnSpc>
              <a:buNone/>
            </a:pPr>
            <a:r>
              <a:rPr lang="en-US" sz="1688" b="1" kern="0" spc="-17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문제해결 스토리 &amp; 핵심 성과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146572"/>
            <a:ext cx="4207669" cy="14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데이터·임베딩·</a:t>
            </a: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·배포 </a:t>
            </a: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디버깅 사가 모델·시스템 신뢰성을 만들었고, </a:t>
            </a:r>
            <a:r>
              <a:rPr lang="en-US" sz="73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개 지표가 </a:t>
            </a:r>
            <a:r>
              <a:rPr lang="en-US" sz="731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</a:t>
            </a:r>
            <a:r>
              <a:rPr lang="en-US" sz="73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완성을 증명한다.</a:t>
            </a:r>
            <a:endParaRPr lang="en-US" sz="731" dirty="0"/>
          </a:p>
        </p:txBody>
      </p:sp>
      <p:sp>
        <p:nvSpPr>
          <p:cNvPr id="7" name="Text 5"/>
          <p:cNvSpPr/>
          <p:nvPr/>
        </p:nvSpPr>
        <p:spPr>
          <a:xfrm>
            <a:off x="7432536" y="1090976"/>
            <a:ext cx="1219974" cy="196025"/>
          </a:xfrm>
          <a:prstGeom prst="roundRect">
            <a:avLst>
              <a:gd name="adj" fmla="val 485421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62565" y="1137196"/>
            <a:ext cx="89564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DEBUG · 4 METRICS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26834" y="114255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1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10" name="Text 8"/>
          <p:cNvSpPr/>
          <p:nvPr/>
        </p:nvSpPr>
        <p:spPr>
          <a:xfrm>
            <a:off x="514350" y="1390799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60" y="1409908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9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195" dirty="0"/>
          </a:p>
        </p:txBody>
      </p:sp>
      <p:sp>
        <p:nvSpPr>
          <p:cNvPr id="12" name="Text 10"/>
          <p:cNvSpPr/>
          <p:nvPr/>
        </p:nvSpPr>
        <p:spPr>
          <a:xfrm>
            <a:off x="785813" y="1406872"/>
            <a:ext cx="2951262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kern="0" spc="-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문제해결 </a:t>
            </a:r>
            <a:r>
              <a:rPr lang="en-US" sz="956" b="1" kern="0" spc="-1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lang="en-US" sz="956" b="1" kern="0" spc="-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선</a:t>
            </a:r>
            <a:endParaRPr lang="en-US" sz="956" dirty="0"/>
          </a:p>
        </p:txBody>
      </p:sp>
      <p:sp>
        <p:nvSpPr>
          <p:cNvPr id="13" name="Text 11"/>
          <p:cNvSpPr/>
          <p:nvPr/>
        </p:nvSpPr>
        <p:spPr>
          <a:xfrm>
            <a:off x="3765649" y="1441698"/>
            <a:ext cx="7852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3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 STORIES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7922" y="1694408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1506" y="1783705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918789" y="1775240"/>
            <a:ext cx="460142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07281" y="1805136"/>
            <a:ext cx="19745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700" kern="0" spc="1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92981" y="181138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935831" y="1960513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합성 데이터 </a:t>
            </a:r>
            <a:r>
              <a:rPr lang="en-US" sz="800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실데이터 교체 · </a:t>
            </a:r>
            <a:r>
              <a:rPr lang="en-US" sz="703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2.5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확장으로 </a:t>
            </a:r>
            <a:r>
              <a:rPr lang="en-US" sz="70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우위 확인</a:t>
            </a:r>
            <a:endParaRPr lang="en-US" sz="703" dirty="0"/>
          </a:p>
        </p:txBody>
      </p:sp>
      <p:sp>
        <p:nvSpPr>
          <p:cNvPr id="20" name="Text 18"/>
          <p:cNvSpPr/>
          <p:nvPr/>
        </p:nvSpPr>
        <p:spPr>
          <a:xfrm>
            <a:off x="517922" y="2475421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506" y="2564718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918789" y="2556253"/>
            <a:ext cx="460142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07281" y="2586149"/>
            <a:ext cx="19745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700" kern="0" spc="1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임베딩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92981" y="259240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935831" y="2741526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Chroma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ONNX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다운로드 </a:t>
            </a: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timeout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 교체, 문서 수 적어 즉시 처리</a:t>
            </a:r>
            <a:endParaRPr lang="en-US" sz="703" dirty="0"/>
          </a:p>
        </p:txBody>
      </p:sp>
      <p:sp>
        <p:nvSpPr>
          <p:cNvPr id="26" name="Text 24"/>
          <p:cNvSpPr/>
          <p:nvPr/>
        </p:nvSpPr>
        <p:spPr>
          <a:xfrm>
            <a:off x="517922" y="3256434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1506" y="3345731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38" dirty="0"/>
          </a:p>
        </p:txBody>
      </p:sp>
      <p:sp>
        <p:nvSpPr>
          <p:cNvPr id="28" name="Text 26"/>
          <p:cNvSpPr/>
          <p:nvPr/>
        </p:nvSpPr>
        <p:spPr>
          <a:xfrm>
            <a:off x="918731" y="3337265"/>
            <a:ext cx="461709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7281" y="3367162"/>
            <a:ext cx="19890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800" kern="0" spc="12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2981" y="337341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935831" y="3522538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의도 분류 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비결정적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temperature=0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고정으로 완전 일치</a:t>
            </a:r>
            <a:endParaRPr lang="en-US" sz="703" dirty="0"/>
          </a:p>
        </p:txBody>
      </p:sp>
      <p:sp>
        <p:nvSpPr>
          <p:cNvPr id="32" name="Text 30"/>
          <p:cNvSpPr/>
          <p:nvPr/>
        </p:nvSpPr>
        <p:spPr>
          <a:xfrm>
            <a:off x="517922" y="4037447"/>
            <a:ext cx="3889772" cy="702432"/>
          </a:xfrm>
          <a:prstGeom prst="roundRect">
            <a:avLst>
              <a:gd name="adj" fmla="val 1356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1506" y="4126743"/>
            <a:ext cx="297180" cy="185166"/>
          </a:xfrm>
          <a:prstGeom prst="rect">
            <a:avLst/>
          </a:prstGeom>
          <a:noFill/>
          <a:ln/>
        </p:spPr>
        <p:txBody>
          <a:bodyPr wrap="none" lIns="0" tIns="14288" rIns="0" bIns="0" rtlCol="0" anchor="t"/>
          <a:lstStyle/>
          <a:p>
            <a:pPr marL="0" indent="0" algn="ctr">
              <a:lnSpc>
                <a:spcPts val="1238"/>
              </a:lnSpc>
              <a:buNone/>
            </a:pPr>
            <a:r>
              <a:rPr lang="en-US" sz="1238" b="1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921423" y="4118278"/>
            <a:ext cx="389017" cy="158020"/>
          </a:xfrm>
          <a:prstGeom prst="roundRect">
            <a:avLst>
              <a:gd name="adj" fmla="val 241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107281" y="4148175"/>
            <a:ext cx="13160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700" kern="0" spc="1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배포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92981" y="415442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935831" y="4303551"/>
            <a:ext cx="33682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Discord Cloudflare </a:t>
            </a:r>
            <a:r>
              <a:rPr lang="en-US" sz="70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urllib</a:t>
            </a:r>
            <a:r>
              <a:rPr lang="en-US" sz="703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차단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00" b="1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70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User-Agent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헤더 추가로 해결</a:t>
            </a:r>
            <a:endParaRPr lang="en-US" sz="703" dirty="0"/>
          </a:p>
        </p:txBody>
      </p:sp>
      <p:sp>
        <p:nvSpPr>
          <p:cNvPr id="38" name="Text 36"/>
          <p:cNvSpPr/>
          <p:nvPr/>
        </p:nvSpPr>
        <p:spPr>
          <a:xfrm>
            <a:off x="4568428" y="1390799"/>
            <a:ext cx="7144" cy="3352651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32734" y="1390799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51844" y="1409908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9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195" dirty="0"/>
          </a:p>
        </p:txBody>
      </p:sp>
      <p:sp>
        <p:nvSpPr>
          <p:cNvPr id="41" name="Text 39"/>
          <p:cNvSpPr/>
          <p:nvPr/>
        </p:nvSpPr>
        <p:spPr>
          <a:xfrm>
            <a:off x="5004197" y="1406872"/>
            <a:ext cx="3050604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b="1" kern="0" spc="-1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핵심 성과</a:t>
            </a:r>
            <a:endParaRPr lang="en-US" sz="956" dirty="0"/>
          </a:p>
        </p:txBody>
      </p:sp>
      <p:sp>
        <p:nvSpPr>
          <p:cNvPr id="42" name="Text 40"/>
          <p:cNvSpPr/>
          <p:nvPr/>
        </p:nvSpPr>
        <p:spPr>
          <a:xfrm>
            <a:off x="8083376" y="1441698"/>
            <a:ext cx="66443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3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METRICS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32734" y="1690836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732734" y="1694408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26078" y="1690836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32734" y="2396840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43450" y="1690836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68466" y="1938412"/>
            <a:ext cx="112371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2.41</a:t>
            </a:r>
            <a:r>
              <a:rPr lang="en-US" sz="800" b="1" kern="0" spc="-34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°C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5768578" y="1916981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890022" y="1927361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회귀 </a:t>
            </a:r>
            <a:r>
              <a:rPr lang="en-US" sz="703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MAE</a:t>
            </a:r>
            <a:endParaRPr lang="en-US" sz="703" dirty="0"/>
          </a:p>
        </p:txBody>
      </p:sp>
      <p:sp>
        <p:nvSpPr>
          <p:cNvPr id="51" name="Text 49"/>
          <p:cNvSpPr/>
          <p:nvPr/>
        </p:nvSpPr>
        <p:spPr>
          <a:xfrm>
            <a:off x="5890022" y="2057735"/>
            <a:ext cx="2618184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최고 성능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308181" y="1945556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325326" y="1962701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4732734" y="2471849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4732734" y="2475421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626078" y="2471849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32734" y="3177853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43450" y="2471849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68466" y="2719425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r>
              <a:rPr lang="en-US" sz="1688" b="1" kern="0" spc="-34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688" dirty="0"/>
          </a:p>
        </p:txBody>
      </p:sp>
      <p:sp>
        <p:nvSpPr>
          <p:cNvPr id="60" name="Text 58"/>
          <p:cNvSpPr/>
          <p:nvPr/>
        </p:nvSpPr>
        <p:spPr>
          <a:xfrm>
            <a:off x="5768578" y="2697993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890022" y="2708374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인텐트</a:t>
            </a:r>
            <a:endParaRPr lang="en-US" sz="703" dirty="0"/>
          </a:p>
        </p:txBody>
      </p:sp>
      <p:sp>
        <p:nvSpPr>
          <p:cNvPr id="62" name="Text 60"/>
          <p:cNvSpPr/>
          <p:nvPr/>
        </p:nvSpPr>
        <p:spPr>
          <a:xfrm>
            <a:off x="5890022" y="2838748"/>
            <a:ext cx="2618184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로컬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의도 분류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308181" y="2726568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325326" y="2743713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4732734" y="3252862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4732734" y="3256434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26078" y="3252862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32734" y="3958865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43450" y="3252862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68466" y="3529013"/>
            <a:ext cx="1143558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238" b="1" kern="0" spc="-2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end-to-end</a:t>
            </a:r>
            <a:endParaRPr lang="en-US" sz="1238" dirty="0"/>
          </a:p>
        </p:txBody>
      </p:sp>
      <p:sp>
        <p:nvSpPr>
          <p:cNvPr id="71" name="Text 69"/>
          <p:cNvSpPr/>
          <p:nvPr/>
        </p:nvSpPr>
        <p:spPr>
          <a:xfrm>
            <a:off x="5897612" y="3479006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019056" y="3489387"/>
            <a:ext cx="2489150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검증</a:t>
            </a:r>
            <a:endParaRPr lang="en-US" sz="703" dirty="0"/>
          </a:p>
        </p:txBody>
      </p:sp>
      <p:sp>
        <p:nvSpPr>
          <p:cNvPr id="73" name="Text 71"/>
          <p:cNvSpPr/>
          <p:nvPr/>
        </p:nvSpPr>
        <p:spPr>
          <a:xfrm>
            <a:off x="6019056" y="3619760"/>
            <a:ext cx="2283567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7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디스코드 자동 발송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308181" y="3507581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325326" y="352472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76" name="Text 74"/>
          <p:cNvSpPr/>
          <p:nvPr/>
        </p:nvSpPr>
        <p:spPr>
          <a:xfrm>
            <a:off x="4732734" y="4033875"/>
            <a:ext cx="3896916" cy="709575"/>
          </a:xfrm>
          <a:prstGeom prst="roundRect">
            <a:avLst>
              <a:gd name="adj" fmla="val 1342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4732734" y="4037447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26078" y="4033875"/>
            <a:ext cx="0" cy="7095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732734" y="4739878"/>
            <a:ext cx="389691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43450" y="4033875"/>
            <a:ext cx="0" cy="709575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68466" y="4281450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kern="0" spc="-34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lang="en-US" sz="1013" b="1" kern="0" spc="-34" dirty="0">
                <a:solidFill>
                  <a:srgbClr val="3341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/4</a:t>
            </a:r>
            <a:endParaRPr lang="en-US" sz="1688" dirty="0"/>
          </a:p>
        </p:txBody>
      </p:sp>
      <p:sp>
        <p:nvSpPr>
          <p:cNvPr id="82" name="Text 80"/>
          <p:cNvSpPr/>
          <p:nvPr/>
        </p:nvSpPr>
        <p:spPr>
          <a:xfrm>
            <a:off x="5768578" y="4260019"/>
            <a:ext cx="7144" cy="257175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890022" y="4270400"/>
            <a:ext cx="2618184" cy="102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차별화</a:t>
            </a:r>
            <a:endParaRPr lang="en-US" sz="703" dirty="0"/>
          </a:p>
        </p:txBody>
      </p:sp>
      <p:sp>
        <p:nvSpPr>
          <p:cNvPr id="84" name="Text 82"/>
          <p:cNvSpPr/>
          <p:nvPr/>
        </p:nvSpPr>
        <p:spPr>
          <a:xfrm>
            <a:off x="5890022" y="4400773"/>
            <a:ext cx="2419052" cy="129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교통 · 출근지 · 니치 · 피드백 전부 구현 완료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8308181" y="4288594"/>
            <a:ext cx="200025" cy="200025"/>
          </a:xfrm>
          <a:prstGeom prst="roundRect">
            <a:avLst>
              <a:gd name="adj" fmla="val 2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8325326" y="430573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48270"/>
            <a:ext cx="42863" cy="42863"/>
          </a:xfrm>
          <a:prstGeom prst="roundRect">
            <a:avLst>
              <a:gd name="adj" fmla="val 66666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4350" y="400050"/>
            <a:ext cx="73015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32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· WEATHERCHECK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830220" y="400050"/>
            <a:ext cx="9807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44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r>
              <a:rPr lang="en-US" sz="800" kern="0" spc="4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24 · END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74320" y="1209973"/>
            <a:ext cx="8595248" cy="7155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kern="0" spc="-216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감사합니다</a:t>
            </a:r>
            <a:r>
              <a:rPr lang="en-US" sz="5400" b="1" kern="0" spc="-216" dirty="0">
                <a:solidFill>
                  <a:srgbClr val="06B6D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2762399" y="1952923"/>
            <a:ext cx="3908618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kern="0" spc="17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</a:t>
            </a:r>
            <a:r>
              <a:rPr lang="en-US" sz="844" kern="0" spc="1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844" kern="0" spc="17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844" kern="0" spc="1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</a:t>
            </a:r>
            <a:r>
              <a:rPr lang="en-US" sz="844" kern="0" spc="17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</a:t>
            </a:r>
            <a:r>
              <a:rPr lang="en-US" sz="844" kern="0" spc="1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844" kern="0" spc="17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r>
              <a:rPr lang="en-US" sz="844" kern="0" spc="1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844" kern="0" spc="17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</a:t>
            </a:r>
            <a:r>
              <a:rPr lang="en-US" sz="844" kern="0" spc="1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844" kern="0" spc="17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slides</a:t>
            </a:r>
            <a:r>
              <a:rPr lang="en-US" sz="844" kern="0" spc="1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844" kern="0" spc="17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</a:t>
            </a:r>
            <a:r>
              <a:rPr lang="en-US" sz="844" kern="0" spc="1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개인형 출근 비서</a:t>
            </a:r>
            <a:endParaRPr lang="en-US" sz="844" dirty="0"/>
          </a:p>
        </p:txBody>
      </p:sp>
      <p:sp>
        <p:nvSpPr>
          <p:cNvPr id="8" name="Text 5"/>
          <p:cNvSpPr/>
          <p:nvPr/>
        </p:nvSpPr>
        <p:spPr>
          <a:xfrm>
            <a:off x="1075134" y="2317254"/>
            <a:ext cx="2250281" cy="844748"/>
          </a:xfrm>
          <a:prstGeom prst="roundRect">
            <a:avLst>
              <a:gd name="adj" fmla="val 1353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06" y="2320826"/>
            <a:ext cx="2243138" cy="2143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294" y="245119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228368" y="24722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2" name="Text 8"/>
          <p:cNvSpPr/>
          <p:nvPr/>
        </p:nvSpPr>
        <p:spPr>
          <a:xfrm>
            <a:off x="1507331" y="2435126"/>
            <a:ext cx="64735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LESSON 01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507331" y="2552998"/>
            <a:ext cx="76223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kern="0" spc="-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학습 여정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207294" y="2753023"/>
            <a:ext cx="1985963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ML → DL → LLM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을 한 테마로 연결하니 각 단계가 자연스럽게 다음 단계의 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재료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가 됨</a:t>
            </a:r>
            <a:endParaRPr lang="en-US" sz="703" dirty="0"/>
          </a:p>
        </p:txBody>
      </p:sp>
      <p:sp>
        <p:nvSpPr>
          <p:cNvPr id="15" name="Text 11"/>
          <p:cNvSpPr/>
          <p:nvPr/>
        </p:nvSpPr>
        <p:spPr>
          <a:xfrm>
            <a:off x="3446859" y="2317254"/>
            <a:ext cx="2250281" cy="844748"/>
          </a:xfrm>
          <a:prstGeom prst="roundRect">
            <a:avLst>
              <a:gd name="adj" fmla="val 1353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431" y="2320826"/>
            <a:ext cx="2243138" cy="214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79019" y="245119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600093" y="24722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9" name="Text 14"/>
          <p:cNvSpPr/>
          <p:nvPr/>
        </p:nvSpPr>
        <p:spPr>
          <a:xfrm>
            <a:off x="3879056" y="2435126"/>
            <a:ext cx="70022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LESSON 02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879056" y="2552998"/>
            <a:ext cx="667941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kern="0" spc="-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데이터의 힘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579019" y="2753023"/>
            <a:ext cx="1985963" cy="14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DL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은 데이터 충분해야 진가. </a:t>
            </a:r>
            <a:r>
              <a:rPr lang="en-US" sz="703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10.5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년 확장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이 결정적</a:t>
            </a:r>
            <a:endParaRPr lang="en-US" sz="703" dirty="0"/>
          </a:p>
        </p:txBody>
      </p:sp>
      <p:sp>
        <p:nvSpPr>
          <p:cNvPr id="22" name="Text 17"/>
          <p:cNvSpPr/>
          <p:nvPr/>
        </p:nvSpPr>
        <p:spPr>
          <a:xfrm>
            <a:off x="5818584" y="2317254"/>
            <a:ext cx="2250281" cy="844748"/>
          </a:xfrm>
          <a:prstGeom prst="roundRect">
            <a:avLst>
              <a:gd name="adj" fmla="val 1353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156" y="2320826"/>
            <a:ext cx="2243138" cy="2143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950744" y="2451199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5971818" y="247227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0E749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6" name="Text 20"/>
          <p:cNvSpPr/>
          <p:nvPr/>
        </p:nvSpPr>
        <p:spPr>
          <a:xfrm>
            <a:off x="6250781" y="2435126"/>
            <a:ext cx="68914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LESSON 03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6250781" y="2552998"/>
            <a:ext cx="65736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kern="0" spc="-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sLLM</a:t>
            </a:r>
            <a:r>
              <a:rPr lang="en-US" sz="900" b="1" kern="0" spc="-9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운용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950744" y="2753023"/>
            <a:ext cx="1985963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로컬에서 끝까지 돌려보니 </a:t>
            </a:r>
            <a:r>
              <a:rPr lang="en-US" sz="703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비용·지연·프라이버시</a:t>
            </a:r>
            <a:r>
              <a:rPr lang="en-US" sz="703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이점 체감</a:t>
            </a:r>
            <a:endParaRPr lang="en-US" sz="703" dirty="0"/>
          </a:p>
        </p:txBody>
      </p:sp>
      <p:sp>
        <p:nvSpPr>
          <p:cNvPr id="29" name="Text 23"/>
          <p:cNvSpPr/>
          <p:nvPr/>
        </p:nvSpPr>
        <p:spPr>
          <a:xfrm>
            <a:off x="3038103" y="3365599"/>
            <a:ext cx="3067683" cy="314325"/>
          </a:xfrm>
          <a:prstGeom prst="roundRect">
            <a:avLst>
              <a:gd name="adj" fmla="val 3027273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3166690" y="3463826"/>
            <a:ext cx="39344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kern="0" spc="11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3991235" y="3500661"/>
            <a:ext cx="28575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984217" y="3500661"/>
            <a:ext cx="28575" cy="28575"/>
          </a:xfrm>
          <a:prstGeom prst="roundRect">
            <a:avLst>
              <a:gd name="adj" fmla="val 66667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3498317" y="3457798"/>
            <a:ext cx="2307431" cy="140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캘린더 연동  니치 확장(배달 라이더)  옷차림 </a:t>
            </a:r>
            <a:r>
              <a:rPr lang="en-US" sz="700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캐릭터</a:t>
            </a: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ko-KR" alt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추</a:t>
            </a: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천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5848610" y="3422749"/>
            <a:ext cx="200025" cy="200025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5865755" y="343989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0F172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36" name="Text 30"/>
          <p:cNvSpPr/>
          <p:nvPr/>
        </p:nvSpPr>
        <p:spPr>
          <a:xfrm>
            <a:off x="514350" y="4486275"/>
            <a:ext cx="1634789" cy="111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0E749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github.com/50seok/WeatherCheck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514350" y="4625578"/>
            <a:ext cx="16347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25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PROJECT SHOWCASE · 2026-07-07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7456289" y="4354116"/>
            <a:ext cx="1169789" cy="385763"/>
          </a:xfrm>
          <a:prstGeom prst="roundRect">
            <a:avLst>
              <a:gd name="adj" fmla="val 2466663"/>
            </a:avLst>
          </a:prstGeom>
          <a:solidFill>
            <a:srgbClr val="CFFAFE"/>
          </a:solidFill>
          <a:ln w="7144">
            <a:solidFill>
              <a:srgbClr val="06B6D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7559873" y="4446984"/>
            <a:ext cx="200025" cy="200025"/>
          </a:xfrm>
          <a:prstGeom prst="ellipse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7577018" y="4464129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125" dirty="0"/>
          </a:p>
        </p:txBody>
      </p:sp>
      <p:sp>
        <p:nvSpPr>
          <p:cNvPr id="41" name="Text 35"/>
          <p:cNvSpPr/>
          <p:nvPr/>
        </p:nvSpPr>
        <p:spPr>
          <a:xfrm>
            <a:off x="7831336" y="4414838"/>
            <a:ext cx="66258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kern="0" spc="-8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</a:t>
            </a:r>
            <a:r>
              <a:rPr lang="en-US" sz="788" b="1" kern="0" spc="-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&amp;</a:t>
            </a:r>
            <a:r>
              <a:rPr lang="en-US" sz="788" b="1" kern="0" spc="-8" dirty="0">
                <a:solidFill>
                  <a:srgbClr val="0E74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r>
              <a:rPr lang="en-US" sz="788" b="1" kern="0" spc="-8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환영합니다</a:t>
            </a:r>
            <a:endParaRPr lang="en-US" sz="788" dirty="0"/>
          </a:p>
        </p:txBody>
      </p:sp>
      <p:sp>
        <p:nvSpPr>
          <p:cNvPr id="42" name="Text 36"/>
          <p:cNvSpPr/>
          <p:nvPr/>
        </p:nvSpPr>
        <p:spPr>
          <a:xfrm>
            <a:off x="7831336" y="4572000"/>
            <a:ext cx="6625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56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ANYTHING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6056</Words>
  <Application>Microsoft Office PowerPoint</Application>
  <PresentationFormat>화면 슬라이드 쇼(16:9)</PresentationFormat>
  <Paragraphs>730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Carlito</vt:lpstr>
      <vt:lpstr>Liberation Sans Narrow</vt:lpstr>
      <vt:lpstr>Microsoft YaHei</vt:lpstr>
      <vt:lpstr>맑은 고딕</vt:lpstr>
      <vt:lpstr>Arial</vt:lpstr>
      <vt:lpstr>Calibri</vt:lpstr>
      <vt:lpstr>Courier New</vt:lpstr>
      <vt:lpstr>Segoe UI Symbol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YEONGSEOK OH</cp:lastModifiedBy>
  <cp:revision>8</cp:revision>
  <dcterms:created xsi:type="dcterms:W3CDTF">2026-07-04T11:49:02Z</dcterms:created>
  <dcterms:modified xsi:type="dcterms:W3CDTF">2026-07-05T10:13:14Z</dcterms:modified>
</cp:coreProperties>
</file>