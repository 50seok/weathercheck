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출근 비서 — 날씨 예측 + RAG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ML/DL 날씨 예측과 근거 인용 브리핑 자동화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목표: 내일 날씨를 예측하고, 근거 문서를 인용한 자연어 출근 브리핑을 디스코드로 자동 전송</a:t>
            </a:r>
          </a:p>
          <a:p>
            <a:pPr>
              <a:defRPr sz="2000"/>
            </a:pPr>
            <a:r>
              <a:t>3단계 파이프라인</a:t>
            </a:r>
          </a:p>
          <a:p>
            <a:pPr lvl="1">
              <a:defRPr sz="1600"/>
            </a:pPr>
            <a:r>
              <a:t>Phase 1 — ML: LinearRegression/RandomForest/XGBoost 비교</a:t>
            </a:r>
          </a:p>
          <a:p>
            <a:pPr lvl="1">
              <a:defRPr sz="1600"/>
            </a:pPr>
            <a:r>
              <a:t>Phase 2 — DL: LSTM 시계열 예측</a:t>
            </a:r>
          </a:p>
          <a:p>
            <a:pPr lvl="1">
              <a:defRPr sz="1600"/>
            </a:pPr>
            <a:r>
              <a:t>Phase 3 — RAG+LLM: 근거 인용 브리핑 + 디스코드 봇</a:t>
            </a:r>
          </a:p>
          <a:p>
            <a:pPr>
              <a:defRPr sz="2000"/>
            </a:pPr>
            <a:r>
              <a:t>Track A(ML/DL)·Track B(RAG/봇) 병렬 개발 → 워크트리 분리 → PR 병합 통합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1. ML —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내일 최고/최저기온(회귀)과 강수 여부(분류)를 예측</a:t>
            </a:r>
          </a:p>
          <a:p>
            <a:pPr>
              <a:defRPr sz="2000"/>
            </a:pPr>
            <a:r>
              <a:t>입력 피처: 오늘 평균/최고/최저기온, 습도, 기압, 풍속, 어제 강수량</a:t>
            </a:r>
          </a:p>
          <a:p>
            <a:pPr>
              <a:defRPr sz="2000"/>
            </a:pPr>
            <a:r>
              <a:t>출력 스키마(docs/contract.md 고정): date, temp_max, temp_min, rain_prob,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1. ML — 데이터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69280" cy="0"/>
          </a:xfrm>
        </p:spPr>
        <p:txBody>
          <a:bodyPr/>
          <a:lstStyle/>
          <a:p>
            <a:pPr>
              <a:defRPr sz="2000"/>
            </a:pPr>
            <a:r>
              <a:t>기상청 data.kma.go.kr ASOS 서울(108) 일자료</a:t>
            </a:r>
          </a:p>
          <a:p>
            <a:pPr>
              <a:defRPr sz="2000"/>
            </a:pPr>
            <a:r>
              <a:t>2016-01-01 ~ 2026-07-02, 10.5년치 3,836일</a:t>
            </a:r>
          </a:p>
          <a:p>
            <a:pPr>
              <a:defRPr sz="2000"/>
            </a:pPr>
            <a:r>
              <a:t>EUC-KR CSV → src/ml/import_kma.py로 스키마 변환</a:t>
            </a:r>
          </a:p>
          <a:p>
            <a:pPr>
              <a:defRPr sz="2000"/>
            </a:pPr>
            <a:r>
              <a:t>raw CSV 없는 환경(Streamlit Cloud 등)은 합성 데이터로 자동 폴백</a:t>
            </a:r>
          </a:p>
        </p:txBody>
      </p:sp>
      <p:pic>
        <p:nvPicPr>
          <p:cNvPr id="4" name="Picture 3" descr="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1. ML 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회귀 3종 비교: LinearRegression / RandomForest / XGBoost</a:t>
            </a:r>
          </a:p>
          <a:p>
            <a:pPr>
              <a:defRPr sz="2000"/>
            </a:pPr>
            <a:r>
              <a:t>분류 3종 비교: LogisticRegression / RandomForest / XGBoost</a:t>
            </a:r>
          </a:p>
          <a:p>
            <a:pPr>
              <a:defRPr sz="2000"/>
            </a:pPr>
            <a:r>
              <a:t>train_test_split(시계열 순서 유지, shuffle=False)</a:t>
            </a:r>
          </a:p>
          <a:p>
            <a:pPr>
              <a:defRPr sz="2000"/>
            </a:pPr>
            <a:r>
              <a:t>최고 성능 모델 종류로 전체 데이터 재학습 후 배포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1. ML —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69280" cy="0"/>
          </a:xfrm>
        </p:spPr>
        <p:txBody>
          <a:bodyPr/>
          <a:lstStyle/>
          <a:p>
            <a:pPr>
              <a:defRPr sz="2000"/>
            </a:pPr>
            <a:r>
              <a:t>회귀 최고: LinearRegression, MAE ≈ 2.50°C</a:t>
            </a:r>
          </a:p>
          <a:p>
            <a:pPr>
              <a:defRPr sz="2000"/>
            </a:pPr>
            <a:r>
              <a:t>분류 최고: LogisticRegression, Accuracy ≈ 0.71</a:t>
            </a:r>
          </a:p>
          <a:p>
            <a:pPr>
              <a:defRPr sz="2000"/>
            </a:pPr>
            <a:r>
              <a:t>단순 선형 모델이 트리 모델보다 우수 — 온도의 강한 선형 계절성 때문으로 해석</a:t>
            </a:r>
          </a:p>
        </p:txBody>
      </p:sp>
      <p:pic>
        <p:nvPicPr>
          <p:cNvPr id="4" name="Picture 3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47026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1. ML — Streamlit 데모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app.py: 슬라이더로 오늘 날씨 입력 → 내일 예측 즉시 출력</a:t>
            </a:r>
          </a:p>
          <a:p>
            <a:pPr>
              <a:defRPr sz="2000"/>
            </a:pPr>
            <a:r>
              <a:t>모델 3종 MAE/Accuracy 비교 차트 동시 표시</a:t>
            </a:r>
          </a:p>
          <a:p>
            <a:pPr>
              <a:defRPr sz="2000"/>
            </a:pPr>
            <a:r>
              <a:t>Track B가 predict_tomorrow() 함수를 그대로 호출(계약 스키마 재사용)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2. DL —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ML(단일 시점 피처)과 달리, 최근 N일의 시계열 패턴으로 예측</a:t>
            </a:r>
          </a:p>
          <a:p>
            <a:pPr>
              <a:defRPr sz="2000"/>
            </a:pPr>
            <a:r>
              <a:t>동일한 contract.md 스키마 유지 → Track B는 소스만 바꿔 호출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2. DL 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최근 7일 시퀀스(SEQ_LEN=7) + MinMaxScaler 정규화</a:t>
            </a:r>
          </a:p>
          <a:p>
            <a:pPr>
              <a:defRPr sz="2000"/>
            </a:pPr>
            <a:r>
              <a:t>LSTM(32) → Dense(16) → 멀티헤드 출력</a:t>
            </a:r>
          </a:p>
          <a:p>
            <a:pPr lvl="1">
              <a:defRPr sz="1600"/>
            </a:pPr>
            <a:r>
              <a:t>회귀 헤드: 내일 최고/최저기온 2출력</a:t>
            </a:r>
          </a:p>
          <a:p>
            <a:pPr lvl="1">
              <a:defRPr sz="1600"/>
            </a:pPr>
            <a:r>
              <a:t>분류 헤드: 내일 강수 여부(sigmoid) 1출력</a:t>
            </a:r>
          </a:p>
          <a:p>
            <a:pPr>
              <a:defRPr sz="2000"/>
            </a:pPr>
            <a:r>
              <a:t>EarlyStopping(patience=5)으로 과적합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2. DL —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69280" cy="0"/>
          </a:xfrm>
        </p:spPr>
        <p:txBody>
          <a:bodyPr/>
          <a:lstStyle/>
          <a:p>
            <a:pPr>
              <a:defRPr sz="2000"/>
            </a:pPr>
            <a:r>
              <a:t>회귀 MAE: LSTM 2.41°C vs ML(LinearRegression) 2.50°C</a:t>
            </a:r>
          </a:p>
          <a:p>
            <a:pPr>
              <a:defRPr sz="2000"/>
            </a:pPr>
            <a:r>
              <a:t>분류 Accuracy: LSTM 0.706 vs ML(LogisticRegression) 0.714 (거의 동률)</a:t>
            </a:r>
          </a:p>
          <a:p>
            <a:pPr>
              <a:defRPr sz="2000"/>
            </a:pPr>
            <a:r>
              <a:t>데이터 2.5년 → 10.5년 확장 이후 LSTM이 ML을 역전</a:t>
            </a:r>
          </a:p>
        </p:txBody>
      </p:sp>
      <p:pic>
        <p:nvPicPr>
          <p:cNvPr id="4" name="Picture 3" descr="ml_vs_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2. DL — ML vs DL 비교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데이터가 적을 때(2.5년): ML이 우위 — 단순 모델이 적은 데이터에 강함</a:t>
            </a:r>
          </a:p>
          <a:p>
            <a:pPr>
              <a:defRPr sz="2000"/>
            </a:pPr>
            <a:r>
              <a:t>데이터가 충분할 때(10.5년): LSTM이 우위 — 시계열 패턴 학습 여지 확보</a:t>
            </a:r>
          </a:p>
          <a:p>
            <a:pPr>
              <a:defRPr sz="2000"/>
            </a:pPr>
            <a:r>
              <a:t>결론: DL은 데이터가 충분해야 진가를 발휘한다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2. DL — 배포 대비 보완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학습된 모델(.keras)과 그래프(.png)는 git 미추적(용량·재현성 이슈)</a:t>
            </a:r>
          </a:p>
          <a:p>
            <a:pPr>
              <a:defRPr sz="2000"/>
            </a:pPr>
            <a:r>
              <a:t>Streamlit Cloud 등 clone 환경에서 파일이 없으면 자동으로 즉석 재학습하도록 폴백 추가</a:t>
            </a:r>
          </a:p>
          <a:p>
            <a:pPr>
              <a:defRPr sz="2000"/>
            </a:pPr>
            <a:r>
              <a:t>src/dl/predict.py: load_models()가 모델 파일 부재 시 src/dl/train.py 실행 후 로드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3. RAG+LLM —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날씨 예측값을 입력받아 근거 문서를 인용한 자연어 출근 브리핑 생성</a:t>
            </a:r>
          </a:p>
          <a:p>
            <a:pPr>
              <a:defRPr sz="2000"/>
            </a:pPr>
            <a:r>
              <a:t>생성된 브리핑을 디스코드 채널에 자동 전송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3. RAG+LLM —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data/knowledge/*.md 6개: 우산·일교차·폭염·한파·미세먼지·자외선 가이드</a:t>
            </a:r>
          </a:p>
          <a:p>
            <a:pPr>
              <a:defRPr sz="2000"/>
            </a:pPr>
            <a:r>
              <a:t>Chroma 벡터 스토어 + TF-IDF 임베딩으로 인덱싱</a:t>
            </a:r>
          </a:p>
          <a:p>
            <a:pPr>
              <a:defRPr sz="2000"/>
            </a:pPr>
            <a:r>
              <a:t>예측값(강수확률·일교차·기온) 기준으로 검색 쿼리 자동 구성</a:t>
            </a:r>
          </a:p>
          <a:p>
            <a:pPr>
              <a:defRPr sz="2000"/>
            </a:pPr>
            <a:r>
              <a:t>검색된 문서를 근거로 Claude API가 한국어 브리핑 생성</a:t>
            </a:r>
          </a:p>
          <a:p>
            <a:pPr>
              <a:defRPr sz="2000"/>
            </a:pPr>
            <a:r>
              <a:t>디스코드 웹훅으로 채널 전송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3. RAG+LLM — 브리핑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입력: 최고 29.2°C · 최저 21.2°C · 강수확률 43%</a:t>
            </a:r>
          </a:p>
          <a:p>
            <a:pPr>
              <a:defRPr sz="2000"/>
            </a:pPr>
            <a:r>
              <a:t>출력: "최고 29.2°C로 따뜻하겠으니 반팔이 좋습니다. 일교차 8도로 아침저녁</a:t>
            </a:r>
          </a:p>
          <a:p>
            <a:pPr>
              <a:defRPr sz="2000"/>
            </a:pPr>
            <a:r>
              <a:t>쌀쌀하니 얇은 겉옷을, 강수확률 43%로 우산도 챙기세요."</a:t>
            </a:r>
          </a:p>
          <a:p>
            <a:pPr>
              <a:defRPr sz="2000"/>
            </a:pPr>
            <a:r>
              <a:t>[일교차_옷차림지수] [우산지수_강수확률] 형태로 근거 문서 인용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3. RAG+LLM — 트러블슈팅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임베딩: Chroma 기본 ONNX 모델(79MB) 다운로드 반복 timeout → TF-IDF로 대체</a:t>
            </a:r>
          </a:p>
          <a:p>
            <a:pPr>
              <a:defRPr sz="2000"/>
            </a:pPr>
            <a:r>
              <a:t>디스코드 403 Forbidden: Cloudflare가 urllib 기본 User-Agent 차단 → 헤더 추가로 해결</a:t>
            </a:r>
          </a:p>
          <a:p>
            <a:pPr>
              <a:defRPr sz="2000"/>
            </a:pPr>
            <a:r>
              <a:t>모델 선택: 단순 요약·생성 작업에 Sonnet 5는 과함 → Haiku 4.5로 교체(품질 동일, 비용/속도 개선)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— Track A/B 통합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mock 예측으로 먼저 개발 → Track A(LSTM) 완성 후 실제 함수로 교체</a:t>
            </a:r>
          </a:p>
          <a:p>
            <a:pPr>
              <a:defRPr sz="2000"/>
            </a:pPr>
            <a:r>
              <a:t>End-to-end 검증: 실제 LSTM 예측 → RAG 검색 → 브리핑 생성 → 디스코드 발송 전부 통과</a:t>
            </a:r>
          </a:p>
          <a:p>
            <a:pPr>
              <a:defRPr sz="2000"/>
            </a:pPr>
            <a:r>
              <a:t>PR 머지로 main에 통합 완료, 워크트리 정리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배포: Streamlit Cloud 연동 준비 완료(모델/데이터 부재 시 자동 폴백 처리)</a:t>
            </a:r>
          </a:p>
          <a:p>
            <a:pPr>
              <a:defRPr sz="2000"/>
            </a:pPr>
            <a:r>
              <a:t>결과 요약: ML MAE 2.50°C → LSTM 2.41°C, RAG 브리핑+디스코드 자동화까지 end-to-end 검증</a:t>
            </a:r>
          </a:p>
          <a:p>
            <a:pPr>
              <a:defRPr sz="2000"/>
            </a:pPr>
            <a:r>
              <a:t>향후: 실데이터 지속 축적, LSTM 시퀀스 길이/레이어 튜닝, 알림 스케줄러 자동화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